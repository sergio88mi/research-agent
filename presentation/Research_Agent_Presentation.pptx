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and thanks for watching. This is my individual project for the Intelligent Agents module. Earlier in the module our group designed a research agent on paper. My job here was to build it, test it, and then, once that design had been marked, act on the feedback. The system takes a research question and turns it into an evidence brief that a researcher can check line by line. Over the next fifteen minutes I'll cover what the design asked for, how I built it, show it running on a real question, go through the testing, what went wrong along the way, what I changed after the tutor's feedback, and where it still falls short. The code, the tests, the logs and the README are all in the GitHub repository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starting point was our Group D design proposal. A research question goes in, a traceable evidence brief comes out. The design pinned down quite a lot before any code existed: three specialised agents and a coordinator that is deliberately not an agent; two human reviews, first of the plan and then of the evidence; every DOI checked against Crossref before it can be cited; limited autonomy, meaning one automatic retry of a query per sub-question and one scope revision per run; and a brief that has to say what it could not cover.
All of that comes from one fear. Ask a language model for literature and it will give you plausible papers that don't exist. So in this system the model never writes a reference. It breaks questions down, scores relevance and summarises abstracts, and that's all. Anything with an exact answer - de-duplication, DOI checks, the reference list - is plain code.
My task was to build that, test it, and show it working. The design itself was marked at the end of September, with three points of feedback: justify the choice of model, set measurable quality targets, and use more than one literature source with automatic failover. Those three points shaped the last stage of the build, and I'll come back to each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architecture follows the class diagram from our proposal. The researcher talks to one boundary class, which handles both reviews. Behind it, the orchestrator runs the steps in a fixed order, enforces the limits, and does the exact work itself. Under it are the three agents. The Planning Agent uses the language model to turn the question into sub-questions and queries, and to rewrite a query when a search comes up short. The Retrieval Agent has no model at all: it searches two sources, OpenAlex and Semantic Scholar, for every sub-question, merges what comes back, and decides, by counting, whether it got enough usable records. If one source is down or rate-limited it carries on with the other and remembers that for the brief. The Evaluation and Synthesis Agent uses the model for judgement: scoring each paper's relevance with a reason, and later writing notes, themes and gaps from whatever was approved.
What passes between them are the four classes from the diagram, as Pydantic models. Every reply from the model is parsed against a schema; if it doesn't fit, the error goes back once for repair, and if that fails the run stops. I'd rather it stopped than carried on with a broken object. The numbers on the right are the autonomy limits from the design. They live in one configuration file, together with the model name and the list of sources, so none of them is buried in an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one run from start to finish. The question is planned into three to five sub-questions with search queries, and that plan goes to the researcher at Review 1: approve, or say what to change and get a new one. Nothing has been searched yet, so that loop can repeat freely. Each sub-question is then searched on both sources, twenty records from each. The results are merged and de-duplicated by DOI, every DOI is looked up in Crossref, and each paper is scored one to five from its abstract with a one-sentence reason. Review 2 shows every paper above the cut-off and offers three choices: approve, drop papers by number, or reject the scope and go back to planning, which is allowed once. After approval the agent writes a note per paper, then themes and gaps, and the orchestrator adds a limitations section computed from the run and a reference list built from the records.
Two pieces of automatic behaviour sit in the middle. If a search falls short - too few abstracts, or too few relevant papers after scoring - the Planning Agent rewrites the query once and is told why the search fell short. It never gets a second attempt. And if a source fails after its retries, the Retrieval Agent skips it for that query, tries it again on the next one, and the brief records how many searches each source answered. Only if every source fails does the run stop, because then there is nothing honest to continue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review point in a live run, on the question 'What approaches reduce hallucination in LLM-based autonomous agents'. The Planning Agent has returned an interpretation and four sub-questions, each with a query, and the program is waiting for me. The researcher sees exactly what will be searched before it happens. Revising costs nothing here because no quota has been spent; when I tested it, I asked to merge two sub-questions into one about evaluation, and the next plan came back with exactly three, merged as asked. And any constraints the user gives are re-sent with every prompt rather than left to the model's memory, so they can't quietly drop out. The plan you see here is the one the rest of the demo runs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log from the run on the thirtieth of September, after the second source was added. Each sub-question went to both sources. OpenAlex answered all five searches, a hundred records. Semantic Scholar, which I use without a key, refused three of the five with 'too many requests'. Each time, the retry policy tried four times over about forty-five seconds, gave up, and the Retrieval Agent logged the failure and carried on with OpenAlex. It answered the other two searches, forty records. That is the failover the feedback asked for, working for real rather than staged: the run didn't die, and the brief says which sub-questions were covered by one source only.
A hundred and forty records came back; a hundred and seventeen were unique. Seventy-eight DOIs were found in Crossref; the rest are mostly arXiv preprints, which register with DataCite instead, so they're flagged but kept. Then one scoring line per paper: score, keep or drop, DOI, reason. Seventy-seven papers ended up above the cut-off.
The lower panel is the retry doing its job. Sub-question 4, on evaluation, produced eight new records with only two relevant; the query had pulled in general surveys and a conference preface. The orchestrator asked for one reformulation, passing the rejection reasons along. This time both sources answered the new query: thirty-three new records, twenty of them relevant, so that sub-question finished with twenty-two papers instead of two. On the single-source system, the same retry had lifted it from one paper to three. That difference is what a second source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2 lists every paper that passed, grouped and numbered, with score and reason, and notes where a query was reformulated. From here I can approve, drop papers by number, or reject the scope. In the functional tests I did all three: dropping two papers removed and re-numbered them and the brief recorded the removal; rejecting the scope sent the run back to planning with my feedback, and a second reject was refused because that budget was used.
After approval the seventy-seven papers were summarised in ten calls and the themes and gaps took one more. On the right are pieces of the brief. The note for paper seventy-six describes a practitioner audit built on forty-five recorded incidents; I checked, and that figure is in the paper's abstract - and that paper came from Semantic Scholar only, so the single-source system would never have seen it. Each theme cites paper numbers, and the schema rejects a theme that cites a number not in the list. The limitations are computed by the orchestrator, not written by the model, and since this stage they include what each source contributed and where failover was used. The reference list comes straight from the records' metadata. The model never writes a citation.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Testing happened at three levels. Sixty-eight unit tests run without any network, against recorded replies from the four services; they cover the data models, abstract reconstruction, de-duplication and DOI checks, schema validation and repair, both review loops, the threshold and retry caps, the cut-off, batching, the rule that a theme can't cite a paper that isn't there, the retry policies, the brief layout, and, since the last stage, the second source, the merging of results and the failover between sources. Eleven functional tests were run live, each with the command, the expected result and what actually happened: no API key, drop, revise, reject scope and be refused the second time, a full run, the threshold retry, transient errors, the daily quota stop, malformed JSON repair, the two-source run with real failover, and a forced non-transient failure that must not be retried. All eleven pass. And a remediation log with eleven entries records every problem I hit, its cause, the change, and how I checked it. That log is the next slide.
The feedback also asked what the tests measure. Honestly: de-duplication and citation accuracy are measured - structurally, in that a fabricated citation cannot reach the brief - and grounding was spot-checked. Recall and precision are not measured, because there is no labelled dataset for the question, and I'd rather say that than invent a number. The README sets out what a real evaluation would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Nearly every problem came from outside the code, and each one left a mark on it. The very first Gemini call returned a 404: the model I'd set up with had been retired between design and build. The name was already in configuration, so the fix was one line. A few days later a run died on a 503, and the next on a read timeout; that produced the transient-error retry, with 'busy' errors retried and 'wrong' errors failing at once so a bad key can't hide behind retries. Then came 429s. Once I logged the quota name it turned out the free tier for that model allows twenty requests a day, retries included, so the client now stops immediately on a daily quota, and I switched to a Flash-Lite model with five hundred a day - again one line. On the twenty-third OpenAlex started refusing requests: their access model had changed and keyless use is now capped, so a free key went into configuration and the retry logic moved into one shared policy for all the scholarly APIs. And a typo: I typed 'approv' at Review 1 and it was taken as feedback and re-planned. Now a short unrecognised input is simply asked again.
None of this needed a rewrite. One configuration module and one small client per service meant each fix was a line or two, and it is also what made adding a second source a single new client module. The repository's commit history runs from the ninth to the thirtieth of September, roughly one commit per stage, so every one of these changes can be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finish, a fair comparison with the design, and what changed after the feedback. Where it matters, the implementation matches: the three agents, the orchestrator, the four data classes and the decision enum, both review points, both autonomy limits, Crossref checking that flags but never drops, and the brief with notes, themes, gaps, limitations and references. Three small departures: a second retry trigger after scoring, because a search can return twenty perfect abstracts of which only one answers the question; a shared retry policy the design never mentioned, because the services forced it; and the previous query kept on each sub-question so the brief can show both.
The feedback had three points, and each has an answer. The model choice is now justified with the provider's own figures - a million-token context against prompts of twelve thousand, structured output supported, five hundred requests a day on the free tier, thirty cents per million input tokens, and the benchmark scores, with the caveat that none of them measures abstract screening. The test targets are stated honestly, as I said: what is measured, what is not, and what a gold set would have to look like. And the third point was built: two sources for every search, failover between them, seventy-eight papers becoming a hundred and seventeen on the same question.
The limits are real. Abstracts only, twenty per query per source. The Lite model is a more generous judge than the full Flash model, forty-two papers kept against twenty-six on the same question, so the cut-off needs calibrating per model. A paper published under two DOIs is still not merged. And without a key, Semantic Scholar's public pool refuses more than it answers. Next would be a DataCite lookup for the preprints, a labelled set so recall and precision can finally be measured, and full text where it is open. Everything is in the repository, and the README explains how to run it. Thank you for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A3D"/>
        </a:solidFill>
      </p:bgPr>
    </p:bg>
    <p:spTree>
      <p:nvGrpSpPr>
        <p:cNvPr id="1" name=""/>
        <p:cNvGrpSpPr/>
        <p:nvPr/>
      </p:nvGrpSpPr>
      <p:grpSpPr>
        <a:xfrm>
          <a:off x="0" y="0"/>
          <a:ext cx="0" cy="0"/>
          <a:chOff x="0" y="0"/>
          <a:chExt cx="0" cy="0"/>
        </a:xfrm>
      </p:grpSpPr>
      <p:sp>
        <p:nvSpPr>
          <p:cNvPr id="2" name="Text 0"/>
          <p:cNvSpPr txBox="1"/>
          <p:nvPr/>
        </p:nvSpPr>
        <p:spPr>
          <a:xfrm>
            <a:off x="640080" y="1188720"/>
            <a:ext cx="786384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Research Agent</a:t>
            </a:r>
            <a:endParaRPr lang="en-US" sz="4400" dirty="0"/>
          </a:p>
        </p:txBody>
      </p:sp>
      <p:sp>
        <p:nvSpPr>
          <p:cNvPr id="3" name="Text 1"/>
          <p:cNvSpPr txBox="1"/>
          <p:nvPr/>
        </p:nvSpPr>
        <p:spPr>
          <a:xfrm>
            <a:off x="640080" y="1965960"/>
            <a:ext cx="7863840" cy="548640"/>
          </a:xfrm>
          <a:prstGeom prst="rect">
            <a:avLst/>
          </a:prstGeom>
          <a:noFill/>
          <a:ln/>
        </p:spPr>
        <p:txBody>
          <a:bodyPr wrap="square" lIns="0" tIns="0" rIns="0" bIns="0" rtlCol="0" anchor="ctr"/>
          <a:lstStyle/>
          <a:p>
            <a:pPr indent="0" marL="0">
              <a:buNone/>
            </a:pPr>
            <a:r>
              <a:rPr lang="en-US" sz="2000" dirty="0">
                <a:solidFill>
                  <a:srgbClr val="CFE0DD"/>
                </a:solidFill>
                <a:latin typeface="Calibri" pitchFamily="34" charset="0"/>
                <a:ea typeface="Calibri" pitchFamily="34" charset="-122"/>
                <a:cs typeface="Calibri" pitchFamily="34" charset="-120"/>
              </a:rPr>
              <a:t>An LLM-powered planning agent for academic literature search</a:t>
            </a:r>
            <a:endParaRPr lang="en-US" sz="2000" dirty="0"/>
          </a:p>
        </p:txBody>
      </p:sp>
      <p:sp>
        <p:nvSpPr>
          <p:cNvPr id="4" name="Text 2"/>
          <p:cNvSpPr txBox="1"/>
          <p:nvPr/>
        </p:nvSpPr>
        <p:spPr>
          <a:xfrm>
            <a:off x="640080" y="2880360"/>
            <a:ext cx="7863840" cy="320040"/>
          </a:xfrm>
          <a:prstGeom prst="rect">
            <a:avLst/>
          </a:prstGeom>
          <a:noFill/>
          <a:ln/>
        </p:spPr>
        <p:txBody>
          <a:bodyPr wrap="square" lIns="0" tIns="0" rIns="0" bIns="0" rtlCol="0" anchor="ctr"/>
          <a:lstStyle/>
          <a:p>
            <a:pPr indent="0" marL="0">
              <a:buNone/>
            </a:pPr>
            <a:r>
              <a:rPr lang="en-US" sz="1400" dirty="0">
                <a:solidFill>
                  <a:srgbClr val="D9963A"/>
                </a:solidFill>
                <a:latin typeface="Calibri" pitchFamily="34" charset="0"/>
                <a:ea typeface="Calibri" pitchFamily="34" charset="-122"/>
                <a:cs typeface="Calibri" pitchFamily="34" charset="-120"/>
              </a:rPr>
              <a:t>Individual project presentation</a:t>
            </a:r>
            <a:endParaRPr lang="en-US" sz="1400" dirty="0"/>
          </a:p>
        </p:txBody>
      </p:sp>
      <p:sp>
        <p:nvSpPr>
          <p:cNvPr id="5" name="Text 3"/>
          <p:cNvSpPr txBox="1"/>
          <p:nvPr/>
        </p:nvSpPr>
        <p:spPr>
          <a:xfrm>
            <a:off x="640080" y="3200400"/>
            <a:ext cx="7863840" cy="32004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Sergei Misjura  ·  Intelligent Agents (PCOM7E), University of Essex Online  ·  October 2026</a:t>
            </a:r>
            <a:endParaRPr lang="en-US" sz="1300" dirty="0"/>
          </a:p>
        </p:txBody>
      </p:sp>
      <p:sp>
        <p:nvSpPr>
          <p:cNvPr id="6" name="Text 4"/>
          <p:cNvSpPr txBox="1"/>
          <p:nvPr/>
        </p:nvSpPr>
        <p:spPr>
          <a:xfrm>
            <a:off x="640080" y="4114800"/>
            <a:ext cx="7863840" cy="320040"/>
          </a:xfrm>
          <a:prstGeom prst="rect">
            <a:avLst/>
          </a:prstGeom>
          <a:noFill/>
          <a:ln/>
        </p:spPr>
        <p:txBody>
          <a:bodyPr wrap="square" lIns="0" tIns="0" rIns="0" bIns="0" rtlCol="0" anchor="ctr"/>
          <a:lstStyle/>
          <a:p>
            <a:pPr indent="0" marL="0">
              <a:buNone/>
            </a:pPr>
            <a:r>
              <a:rPr lang="en-US" sz="1300" dirty="0">
                <a:solidFill>
                  <a:srgbClr val="CFE0DD"/>
                </a:solidFill>
                <a:latin typeface="Courier New" pitchFamily="34" charset="0"/>
                <a:ea typeface="Courier New" pitchFamily="34" charset="-122"/>
                <a:cs typeface="Courier New" pitchFamily="34" charset="-120"/>
              </a:rPr>
              <a:t>github.com/sergio88mi/research-agent</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3000" b="1" dirty="0">
                <a:solidFill>
                  <a:srgbClr val="1F3A3D"/>
                </a:solidFill>
                <a:latin typeface="Cambria" pitchFamily="34" charset="0"/>
                <a:ea typeface="Cambria" pitchFamily="34" charset="-122"/>
                <a:cs typeface="Cambria" pitchFamily="34" charset="-120"/>
              </a:rPr>
              <a:t>The brief, and the design I was implementing</a:t>
            </a:r>
            <a:endParaRPr lang="en-US" sz="3000" dirty="0"/>
          </a:p>
        </p:txBody>
      </p:sp>
      <p:sp>
        <p:nvSpPr>
          <p:cNvPr id="3" name="Shape 1"/>
          <p:cNvSpPr/>
          <p:nvPr/>
        </p:nvSpPr>
        <p:spPr>
          <a:xfrm>
            <a:off x="457200" y="1234440"/>
            <a:ext cx="2103120" cy="548640"/>
          </a:xfrm>
          <a:prstGeom prst="roundRect">
            <a:avLst>
              <a:gd name="adj" fmla="val 10000"/>
            </a:avLst>
          </a:prstGeom>
          <a:solidFill>
            <a:srgbClr val="1F3A3D"/>
          </a:solidFill>
          <a:ln w="12700">
            <a:solidFill>
              <a:srgbClr val="1F3A3D"/>
            </a:solidFill>
            <a:prstDash val="solid"/>
          </a:ln>
        </p:spPr>
      </p:sp>
      <p:sp>
        <p:nvSpPr>
          <p:cNvPr id="4" name="Text 2"/>
          <p:cNvSpPr txBox="1"/>
          <p:nvPr/>
        </p:nvSpPr>
        <p:spPr>
          <a:xfrm>
            <a:off x="457200" y="1234440"/>
            <a:ext cx="2103120" cy="548640"/>
          </a:xfrm>
          <a:prstGeom prst="rect">
            <a:avLst/>
          </a:prstGeom>
          <a:noFill/>
          <a:ln/>
        </p:spPr>
        <p:txBody>
          <a:bodyPr wrap="square" lIns="508" tIns="508" rIns="508"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 research question</a:t>
            </a:r>
            <a:endParaRPr lang="en-US" sz="1200" dirty="0"/>
          </a:p>
        </p:txBody>
      </p:sp>
      <p:sp>
        <p:nvSpPr>
          <p:cNvPr id="5" name="Shape 3"/>
          <p:cNvSpPr/>
          <p:nvPr/>
        </p:nvSpPr>
        <p:spPr>
          <a:xfrm>
            <a:off x="2651760" y="1408176"/>
            <a:ext cx="457200" cy="201168"/>
          </a:xfrm>
          <a:prstGeom prst="rightArrow">
            <a:avLst/>
          </a:prstGeom>
          <a:solidFill>
            <a:srgbClr val="B7C4C3"/>
          </a:solidFill>
          <a:ln w="12700">
            <a:solidFill>
              <a:srgbClr val="B7C4C3"/>
            </a:solidFill>
            <a:prstDash val="solid"/>
          </a:ln>
        </p:spPr>
      </p:sp>
      <p:sp>
        <p:nvSpPr>
          <p:cNvPr id="6" name="Shape 4"/>
          <p:cNvSpPr/>
          <p:nvPr/>
        </p:nvSpPr>
        <p:spPr>
          <a:xfrm>
            <a:off x="3200400" y="1234440"/>
            <a:ext cx="2103120" cy="548640"/>
          </a:xfrm>
          <a:prstGeom prst="roundRect">
            <a:avLst>
              <a:gd name="adj" fmla="val 10000"/>
            </a:avLst>
          </a:prstGeom>
          <a:solidFill>
            <a:srgbClr val="3E6366"/>
          </a:solidFill>
          <a:ln w="12700">
            <a:solidFill>
              <a:srgbClr val="3E6366"/>
            </a:solidFill>
            <a:prstDash val="solid"/>
          </a:ln>
        </p:spPr>
      </p:sp>
      <p:sp>
        <p:nvSpPr>
          <p:cNvPr id="7" name="Text 5"/>
          <p:cNvSpPr txBox="1"/>
          <p:nvPr/>
        </p:nvSpPr>
        <p:spPr>
          <a:xfrm>
            <a:off x="3200400" y="1234440"/>
            <a:ext cx="2103120" cy="548640"/>
          </a:xfrm>
          <a:prstGeom prst="rect">
            <a:avLst/>
          </a:prstGeom>
          <a:noFill/>
          <a:ln/>
        </p:spPr>
        <p:txBody>
          <a:bodyPr wrap="square" lIns="508" tIns="508" rIns="508"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3-5 sub-questions</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 search queries</a:t>
            </a:r>
            <a:endParaRPr lang="en-US" sz="1200" dirty="0"/>
          </a:p>
        </p:txBody>
      </p:sp>
      <p:sp>
        <p:nvSpPr>
          <p:cNvPr id="8" name="Shape 6"/>
          <p:cNvSpPr/>
          <p:nvPr/>
        </p:nvSpPr>
        <p:spPr>
          <a:xfrm>
            <a:off x="5394960" y="1408176"/>
            <a:ext cx="457200" cy="201168"/>
          </a:xfrm>
          <a:prstGeom prst="rightArrow">
            <a:avLst/>
          </a:prstGeom>
          <a:solidFill>
            <a:srgbClr val="B7C4C3"/>
          </a:solidFill>
          <a:ln w="12700">
            <a:solidFill>
              <a:srgbClr val="B7C4C3"/>
            </a:solidFill>
            <a:prstDash val="solid"/>
          </a:ln>
        </p:spPr>
      </p:sp>
      <p:sp>
        <p:nvSpPr>
          <p:cNvPr id="9" name="Shape 7"/>
          <p:cNvSpPr/>
          <p:nvPr/>
        </p:nvSpPr>
        <p:spPr>
          <a:xfrm>
            <a:off x="5943600" y="1234440"/>
            <a:ext cx="2103120" cy="548640"/>
          </a:xfrm>
          <a:prstGeom prst="roundRect">
            <a:avLst>
              <a:gd name="adj" fmla="val 10000"/>
            </a:avLst>
          </a:prstGeom>
          <a:solidFill>
            <a:srgbClr val="D9963A"/>
          </a:solidFill>
          <a:ln w="12700">
            <a:solidFill>
              <a:srgbClr val="D9963A"/>
            </a:solidFill>
            <a:prstDash val="solid"/>
          </a:ln>
        </p:spPr>
      </p:sp>
      <p:sp>
        <p:nvSpPr>
          <p:cNvPr id="10" name="Text 8"/>
          <p:cNvSpPr txBox="1"/>
          <p:nvPr/>
        </p:nvSpPr>
        <p:spPr>
          <a:xfrm>
            <a:off x="5943600" y="1234440"/>
            <a:ext cx="2103120" cy="548640"/>
          </a:xfrm>
          <a:prstGeom prst="rect">
            <a:avLst/>
          </a:prstGeom>
          <a:noFill/>
          <a:ln/>
        </p:spPr>
        <p:txBody>
          <a:bodyPr wrap="square" lIns="508" tIns="508" rIns="508" bIns="508" rtlCol="0" anchor="ctr"/>
          <a:lstStyle/>
          <a:p>
            <a:pPr algn="ctr" indent="0" marL="0">
              <a:buNone/>
            </a:pPr>
            <a:r>
              <a:rPr lang="en-US" sz="1200" b="1" dirty="0">
                <a:solidFill>
                  <a:srgbClr val="1F3A3D"/>
                </a:solidFill>
                <a:latin typeface="Calibri" pitchFamily="34" charset="0"/>
                <a:ea typeface="Calibri" pitchFamily="34" charset="-122"/>
                <a:cs typeface="Calibri" pitchFamily="34" charset="-120"/>
              </a:rPr>
              <a:t>A traceable</a:t>
            </a:r>
            <a:endParaRPr lang="en-US" sz="1200" dirty="0"/>
          </a:p>
          <a:p>
            <a:pPr algn="ctr" indent="0" marL="0">
              <a:buNone/>
            </a:pPr>
            <a:r>
              <a:rPr lang="en-US" sz="1200" b="1" dirty="0">
                <a:solidFill>
                  <a:srgbClr val="1F3A3D"/>
                </a:solidFill>
                <a:latin typeface="Calibri" pitchFamily="34" charset="0"/>
                <a:ea typeface="Calibri" pitchFamily="34" charset="-122"/>
                <a:cs typeface="Calibri" pitchFamily="34" charset="-120"/>
              </a:rPr>
              <a:t>evidence brief</a:t>
            </a:r>
            <a:endParaRPr lang="en-US" sz="1200" dirty="0"/>
          </a:p>
        </p:txBody>
      </p:sp>
      <p:sp>
        <p:nvSpPr>
          <p:cNvPr id="11" name="Text 9"/>
          <p:cNvSpPr txBox="1"/>
          <p:nvPr/>
        </p:nvSpPr>
        <p:spPr>
          <a:xfrm>
            <a:off x="457200" y="1965960"/>
            <a:ext cx="7772400" cy="274320"/>
          </a:xfrm>
          <a:prstGeom prst="rect">
            <a:avLst/>
          </a:prstGeom>
          <a:noFill/>
          <a:ln/>
        </p:spPr>
        <p:txBody>
          <a:bodyPr wrap="square" lIns="0" tIns="0" rIns="0" bIns="0" rtlCol="0" anchor="t"/>
          <a:lstStyle/>
          <a:p>
            <a:pPr indent="0" marL="0">
              <a:buNone/>
            </a:pPr>
            <a:r>
              <a:rPr lang="en-US" sz="1100" i="1" dirty="0">
                <a:solidFill>
                  <a:srgbClr val="5F6F70"/>
                </a:solidFill>
                <a:latin typeface="Calibri" pitchFamily="34" charset="0"/>
                <a:ea typeface="Calibri" pitchFamily="34" charset="-122"/>
                <a:cs typeface="Calibri" pitchFamily="34" charset="-120"/>
              </a:rPr>
              <a:t>From the Group D design proposal (Assessment 1)</a:t>
            </a:r>
            <a:endParaRPr lang="en-US" sz="1100" dirty="0"/>
          </a:p>
        </p:txBody>
      </p:sp>
      <p:sp>
        <p:nvSpPr>
          <p:cNvPr id="12" name="Shape 10"/>
          <p:cNvSpPr/>
          <p:nvPr/>
        </p:nvSpPr>
        <p:spPr>
          <a:xfrm>
            <a:off x="457200" y="2331720"/>
            <a:ext cx="3749040" cy="2377440"/>
          </a:xfrm>
          <a:prstGeom prst="roundRect">
            <a:avLst>
              <a:gd name="adj" fmla="val 3077"/>
            </a:avLst>
          </a:prstGeom>
          <a:solidFill>
            <a:srgbClr val="F7F9F9"/>
          </a:solidFill>
          <a:ln w="9525">
            <a:solidFill>
              <a:srgbClr val="DDE4E3"/>
            </a:solidFill>
            <a:prstDash val="solid"/>
          </a:ln>
        </p:spPr>
      </p:sp>
      <p:sp>
        <p:nvSpPr>
          <p:cNvPr id="13" name="Text 11"/>
          <p:cNvSpPr txBox="1"/>
          <p:nvPr/>
        </p:nvSpPr>
        <p:spPr>
          <a:xfrm>
            <a:off x="640080" y="2423160"/>
            <a:ext cx="3474720" cy="274320"/>
          </a:xfrm>
          <a:prstGeom prst="rect">
            <a:avLst/>
          </a:prstGeom>
          <a:noFill/>
          <a:ln/>
        </p:spPr>
        <p:txBody>
          <a:bodyPr wrap="square" lIns="0" tIns="0" rIns="0" bIns="0" rtlCol="0" anchor="t"/>
          <a:lstStyle/>
          <a:p>
            <a:pPr indent="0" marL="0">
              <a:buNone/>
            </a:pPr>
            <a:r>
              <a:rPr lang="en-US" sz="1300" b="1" dirty="0">
                <a:solidFill>
                  <a:srgbClr val="1F3A3D"/>
                </a:solidFill>
                <a:latin typeface="Calibri" pitchFamily="34" charset="0"/>
                <a:ea typeface="Calibri" pitchFamily="34" charset="-122"/>
                <a:cs typeface="Calibri" pitchFamily="34" charset="-120"/>
              </a:rPr>
              <a:t>What the design fixed in advance</a:t>
            </a:r>
            <a:endParaRPr lang="en-US" sz="1300" dirty="0"/>
          </a:p>
        </p:txBody>
      </p:sp>
      <p:sp>
        <p:nvSpPr>
          <p:cNvPr id="14" name="Text 12"/>
          <p:cNvSpPr txBox="1"/>
          <p:nvPr/>
        </p:nvSpPr>
        <p:spPr>
          <a:xfrm>
            <a:off x="640080" y="2724912"/>
            <a:ext cx="3474720" cy="192024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1F3A3D"/>
                </a:solidFill>
                <a:latin typeface="Calibri" pitchFamily="34" charset="0"/>
                <a:ea typeface="Calibri" pitchFamily="34" charset="-122"/>
                <a:cs typeface="Calibri" pitchFamily="34" charset="-120"/>
              </a:rPr>
              <a:t>Three specialised agents and a deterministic coordinator</a:t>
            </a:r>
            <a:endParaRPr lang="en-US" sz="1100" dirty="0"/>
          </a:p>
          <a:p>
            <a:pPr marL="342900" indent="-342900">
              <a:spcAft>
                <a:spcPts val="500"/>
              </a:spcAft>
              <a:buSzPct val="100000"/>
              <a:buChar char="•"/>
            </a:pPr>
            <a:r>
              <a:rPr lang="en-US" sz="1100" dirty="0">
                <a:solidFill>
                  <a:srgbClr val="1F3A3D"/>
                </a:solidFill>
                <a:latin typeface="Calibri" pitchFamily="34" charset="0"/>
                <a:ea typeface="Calibri" pitchFamily="34" charset="-122"/>
                <a:cs typeface="Calibri" pitchFamily="34" charset="-120"/>
              </a:rPr>
              <a:t>Two human review points: the plan, then the evidence</a:t>
            </a:r>
            <a:endParaRPr lang="en-US" sz="1100" dirty="0"/>
          </a:p>
          <a:p>
            <a:pPr marL="342900" indent="-342900">
              <a:spcAft>
                <a:spcPts val="500"/>
              </a:spcAft>
              <a:buSzPct val="100000"/>
              <a:buChar char="•"/>
            </a:pPr>
            <a:r>
              <a:rPr lang="en-US" sz="1100" dirty="0">
                <a:solidFill>
                  <a:srgbClr val="1F3A3D"/>
                </a:solidFill>
                <a:latin typeface="Calibri" pitchFamily="34" charset="0"/>
                <a:ea typeface="Calibri" pitchFamily="34" charset="-122"/>
                <a:cs typeface="Calibri" pitchFamily="34" charset="-120"/>
              </a:rPr>
              <a:t>Every DOI checked against Crossref before it can be cited</a:t>
            </a:r>
            <a:endParaRPr lang="en-US" sz="1100" dirty="0"/>
          </a:p>
          <a:p>
            <a:pPr marL="342900" indent="-342900">
              <a:spcAft>
                <a:spcPts val="500"/>
              </a:spcAft>
              <a:buSzPct val="100000"/>
              <a:buChar char="•"/>
            </a:pPr>
            <a:r>
              <a:rPr lang="en-US" sz="1100" dirty="0">
                <a:solidFill>
                  <a:srgbClr val="1F3A3D"/>
                </a:solidFill>
                <a:latin typeface="Calibri" pitchFamily="34" charset="0"/>
                <a:ea typeface="Calibri" pitchFamily="34" charset="-122"/>
                <a:cs typeface="Calibri" pitchFamily="34" charset="-120"/>
              </a:rPr>
              <a:t>Bounded autonomy: one query retry per sub-question, one scope revision per run</a:t>
            </a:r>
            <a:endParaRPr lang="en-US" sz="1100" dirty="0"/>
          </a:p>
          <a:p>
            <a:pPr marL="342900" indent="-342900">
              <a:spcAft>
                <a:spcPts val="500"/>
              </a:spcAft>
              <a:buSzPct val="100000"/>
              <a:buChar char="•"/>
            </a:pPr>
            <a:r>
              <a:rPr lang="en-US" sz="1100" dirty="0">
                <a:solidFill>
                  <a:srgbClr val="1F3A3D"/>
                </a:solidFill>
                <a:latin typeface="Calibri" pitchFamily="34" charset="0"/>
                <a:ea typeface="Calibri" pitchFamily="34" charset="-122"/>
                <a:cs typeface="Calibri" pitchFamily="34" charset="-120"/>
              </a:rPr>
              <a:t>The brief must say what it could not cover</a:t>
            </a:r>
            <a:endParaRPr lang="en-US" sz="1100" dirty="0"/>
          </a:p>
        </p:txBody>
      </p:sp>
      <p:sp>
        <p:nvSpPr>
          <p:cNvPr id="15" name="Shape 13"/>
          <p:cNvSpPr/>
          <p:nvPr/>
        </p:nvSpPr>
        <p:spPr>
          <a:xfrm>
            <a:off x="4480560" y="2331720"/>
            <a:ext cx="4206240" cy="2377440"/>
          </a:xfrm>
          <a:prstGeom prst="roundRect">
            <a:avLst>
              <a:gd name="adj" fmla="val 3077"/>
            </a:avLst>
          </a:prstGeom>
          <a:solidFill>
            <a:srgbClr val="F7F9F9"/>
          </a:solidFill>
          <a:ln w="9525">
            <a:solidFill>
              <a:srgbClr val="DDE4E3"/>
            </a:solidFill>
            <a:prstDash val="solid"/>
          </a:ln>
        </p:spPr>
      </p:sp>
      <p:sp>
        <p:nvSpPr>
          <p:cNvPr id="16" name="Text 14"/>
          <p:cNvSpPr txBox="1"/>
          <p:nvPr/>
        </p:nvSpPr>
        <p:spPr>
          <a:xfrm>
            <a:off x="4663440" y="2423160"/>
            <a:ext cx="3840480" cy="274320"/>
          </a:xfrm>
          <a:prstGeom prst="rect">
            <a:avLst/>
          </a:prstGeom>
          <a:noFill/>
          <a:ln/>
        </p:spPr>
        <p:txBody>
          <a:bodyPr wrap="square" lIns="0" tIns="0" rIns="0" bIns="0" rtlCol="0" anchor="t"/>
          <a:lstStyle/>
          <a:p>
            <a:pPr indent="0" marL="0">
              <a:buNone/>
            </a:pPr>
            <a:r>
              <a:rPr lang="en-US" sz="1300" b="1" dirty="0">
                <a:solidFill>
                  <a:srgbClr val="1F3A3D"/>
                </a:solidFill>
                <a:latin typeface="Calibri" pitchFamily="34" charset="0"/>
                <a:ea typeface="Calibri" pitchFamily="34" charset="-122"/>
                <a:cs typeface="Calibri" pitchFamily="34" charset="-120"/>
              </a:rPr>
              <a:t>The failure it was designed against</a:t>
            </a:r>
            <a:endParaRPr lang="en-US" sz="1300" dirty="0"/>
          </a:p>
        </p:txBody>
      </p:sp>
      <p:sp>
        <p:nvSpPr>
          <p:cNvPr id="17" name="Text 15"/>
          <p:cNvSpPr txBox="1"/>
          <p:nvPr/>
        </p:nvSpPr>
        <p:spPr>
          <a:xfrm>
            <a:off x="4663440" y="2724912"/>
            <a:ext cx="3840480" cy="1188720"/>
          </a:xfrm>
          <a:prstGeom prst="rect">
            <a:avLst/>
          </a:prstGeom>
          <a:noFill/>
          <a:ln/>
        </p:spPr>
        <p:txBody>
          <a:bodyPr wrap="square" lIns="0" tIns="0" rIns="0" bIns="0" rtlCol="0" anchor="t"/>
          <a:lstStyle/>
          <a:p>
            <a:pPr indent="0" marL="0">
              <a:buNone/>
            </a:pPr>
            <a:r>
              <a:rPr lang="en-US" sz="1150" dirty="0">
                <a:solidFill>
                  <a:srgbClr val="1F3A3D"/>
                </a:solidFill>
                <a:latin typeface="Calibri" pitchFamily="34" charset="0"/>
                <a:ea typeface="Calibri" pitchFamily="34" charset="-122"/>
                <a:cs typeface="Calibri" pitchFamily="34" charset="-120"/>
              </a:rPr>
              <a:t>A language model asked for literature will produce plausible papers that do not exist. </a:t>
            </a:r>
            <a:pPr indent="0" marL="0">
              <a:buNone/>
            </a:pPr>
            <a:r>
              <a:rPr lang="en-US" sz="1150" b="1" dirty="0">
                <a:solidFill>
                  <a:srgbClr val="1F3A3D"/>
                </a:solidFill>
                <a:latin typeface="Calibri" pitchFamily="34" charset="0"/>
                <a:ea typeface="Calibri" pitchFamily="34" charset="-122"/>
                <a:cs typeface="Calibri" pitchFamily="34" charset="-120"/>
              </a:rPr>
              <a:t>So the model never writes a reference: </a:t>
            </a:r>
            <a:pPr indent="0" marL="0">
              <a:buNone/>
            </a:pPr>
            <a:r>
              <a:rPr lang="en-US" sz="1150" dirty="0">
                <a:solidFill>
                  <a:srgbClr val="1F3A3D"/>
                </a:solidFill>
                <a:latin typeface="Calibri" pitchFamily="34" charset="0"/>
                <a:ea typeface="Calibri" pitchFamily="34" charset="-122"/>
                <a:cs typeface="Calibri" pitchFamily="34" charset="-120"/>
              </a:rPr>
              <a:t>it only decomposes, scores and summarises. Everything with an exact answer - de-duplication, DOI checks, the reference list - is ordinary code.</a:t>
            </a:r>
            <a:endParaRPr lang="en-US" sz="1150" dirty="0"/>
          </a:p>
        </p:txBody>
      </p:sp>
      <p:sp>
        <p:nvSpPr>
          <p:cNvPr id="18" name="Text 16"/>
          <p:cNvSpPr txBox="1"/>
          <p:nvPr/>
        </p:nvSpPr>
        <p:spPr>
          <a:xfrm>
            <a:off x="4663440" y="3931920"/>
            <a:ext cx="3840480" cy="685800"/>
          </a:xfrm>
          <a:prstGeom prst="rect">
            <a:avLst/>
          </a:prstGeom>
          <a:noFill/>
          <a:ln/>
        </p:spPr>
        <p:txBody>
          <a:bodyPr wrap="square" lIns="0" tIns="0" rIns="0" bIns="0" rtlCol="0" anchor="t"/>
          <a:lstStyle/>
          <a:p>
            <a:pPr indent="0" marL="0">
              <a:buNone/>
            </a:pPr>
            <a:r>
              <a:rPr lang="en-US" sz="1150" i="1" dirty="0">
                <a:solidFill>
                  <a:srgbClr val="8A5A17"/>
                </a:solidFill>
                <a:latin typeface="Calibri" pitchFamily="34" charset="0"/>
                <a:ea typeface="Calibri" pitchFamily="34" charset="-122"/>
                <a:cs typeface="Calibri" pitchFamily="34" charset="-120"/>
              </a:rPr>
              <a:t>My task: build the proposed system on my own, test it, show it running - and, once the design was marked (29 Sept), act on its three points of feedback.</a:t>
            </a:r>
            <a:endParaRPr lang="en-US" sz="1150" dirty="0"/>
          </a:p>
        </p:txBody>
      </p:sp>
      <p:sp>
        <p:nvSpPr>
          <p:cNvPr id="19" name="Text 17"/>
          <p:cNvSpPr txBox="1"/>
          <p:nvPr/>
        </p:nvSpPr>
        <p:spPr>
          <a:xfrm>
            <a:off x="8138160" y="4754880"/>
            <a:ext cx="640080" cy="274320"/>
          </a:xfrm>
          <a:prstGeom prst="rect">
            <a:avLst/>
          </a:prstGeom>
          <a:noFill/>
          <a:ln/>
        </p:spPr>
        <p:txBody>
          <a:bodyPr wrap="square" lIns="0" tIns="0" rIns="0" bIns="0" rtlCol="0" anchor="ctr"/>
          <a:lstStyle/>
          <a:p>
            <a:pPr algn="r" indent="0" marL="0">
              <a:buNone/>
            </a:pPr>
            <a:r>
              <a:rPr lang="en-US" sz="900" dirty="0">
                <a:solidFill>
                  <a:srgbClr val="5F6F70"/>
                </a:solidFill>
                <a:latin typeface="Calibri" pitchFamily="34" charset="0"/>
                <a:ea typeface="Calibri" pitchFamily="34" charset="-122"/>
                <a:cs typeface="Calibri" pitchFamily="34" charset="-120"/>
              </a:rPr>
              <a:t>2 / 10</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3000" b="1" dirty="0">
                <a:solidFill>
                  <a:srgbClr val="1F3A3D"/>
                </a:solidFill>
                <a:latin typeface="Cambria" pitchFamily="34" charset="0"/>
                <a:ea typeface="Cambria" pitchFamily="34" charset="-122"/>
                <a:cs typeface="Cambria" pitchFamily="34" charset="-120"/>
              </a:rPr>
              <a:t>Architecture: three agents, one coordinator</a:t>
            </a:r>
            <a:endParaRPr lang="en-US" sz="3000" dirty="0"/>
          </a:p>
        </p:txBody>
      </p:sp>
      <p:sp>
        <p:nvSpPr>
          <p:cNvPr id="3" name="Shape 1"/>
          <p:cNvSpPr/>
          <p:nvPr/>
        </p:nvSpPr>
        <p:spPr>
          <a:xfrm>
            <a:off x="457200" y="1234440"/>
            <a:ext cx="2011680" cy="685800"/>
          </a:xfrm>
          <a:prstGeom prst="roundRect">
            <a:avLst>
              <a:gd name="adj" fmla="val 8000"/>
            </a:avLst>
          </a:prstGeom>
          <a:solidFill>
            <a:srgbClr val="3E6366"/>
          </a:solidFill>
          <a:ln w="12700">
            <a:solidFill>
              <a:srgbClr val="3E6366"/>
            </a:solidFill>
            <a:prstDash val="solid"/>
          </a:ln>
        </p:spPr>
      </p:sp>
      <p:sp>
        <p:nvSpPr>
          <p:cNvPr id="4" name="Text 2"/>
          <p:cNvSpPr txBox="1"/>
          <p:nvPr/>
        </p:nvSpPr>
        <p:spPr>
          <a:xfrm>
            <a:off x="457200" y="1234440"/>
            <a:ext cx="2011680" cy="685800"/>
          </a:xfrm>
          <a:prstGeom prst="rect">
            <a:avLst/>
          </a:prstGeom>
          <a:noFill/>
          <a:ln/>
        </p:spPr>
        <p:txBody>
          <a:bodyPr wrap="square" lIns="508" tIns="508" rIns="508"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Researcher</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(boundary: the two reviews)</a:t>
            </a:r>
            <a:endParaRPr lang="en-US" sz="1200" dirty="0"/>
          </a:p>
        </p:txBody>
      </p:sp>
      <p:sp>
        <p:nvSpPr>
          <p:cNvPr id="5" name="Shape 3"/>
          <p:cNvSpPr/>
          <p:nvPr/>
        </p:nvSpPr>
        <p:spPr>
          <a:xfrm>
            <a:off x="2560320" y="1463040"/>
            <a:ext cx="365760" cy="201168"/>
          </a:xfrm>
          <a:prstGeom prst="rightArrow">
            <a:avLst/>
          </a:prstGeom>
          <a:solidFill>
            <a:srgbClr val="B7C4C3"/>
          </a:solidFill>
          <a:ln w="12700">
            <a:solidFill>
              <a:srgbClr val="B7C4C3"/>
            </a:solidFill>
            <a:prstDash val="solid"/>
          </a:ln>
        </p:spPr>
      </p:sp>
      <p:sp>
        <p:nvSpPr>
          <p:cNvPr id="6" name="Shape 4"/>
          <p:cNvSpPr/>
          <p:nvPr/>
        </p:nvSpPr>
        <p:spPr>
          <a:xfrm>
            <a:off x="3017520" y="1234440"/>
            <a:ext cx="3108960" cy="685800"/>
          </a:xfrm>
          <a:prstGeom prst="roundRect">
            <a:avLst>
              <a:gd name="adj" fmla="val 8000"/>
            </a:avLst>
          </a:prstGeom>
          <a:solidFill>
            <a:srgbClr val="1F3A3D"/>
          </a:solidFill>
          <a:ln w="12700">
            <a:solidFill>
              <a:srgbClr val="1F3A3D"/>
            </a:solidFill>
            <a:prstDash val="solid"/>
          </a:ln>
        </p:spPr>
      </p:sp>
      <p:sp>
        <p:nvSpPr>
          <p:cNvPr id="7" name="Text 5"/>
          <p:cNvSpPr txBox="1"/>
          <p:nvPr/>
        </p:nvSpPr>
        <p:spPr>
          <a:xfrm>
            <a:off x="3017520" y="1234440"/>
            <a:ext cx="3108960" cy="685800"/>
          </a:xfrm>
          <a:prstGeom prst="rect">
            <a:avLst/>
          </a:prstGeom>
          <a:noFill/>
          <a:ln/>
        </p:spPr>
        <p:txBody>
          <a:bodyPr wrap="square" lIns="508" tIns="508" rIns="508"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Orchestrator</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fixed order, limits, exact work</a:t>
            </a:r>
            <a:endParaRPr lang="en-US" sz="1200" dirty="0"/>
          </a:p>
        </p:txBody>
      </p:sp>
      <p:sp>
        <p:nvSpPr>
          <p:cNvPr id="8" name="Shape 6"/>
          <p:cNvSpPr/>
          <p:nvPr/>
        </p:nvSpPr>
        <p:spPr>
          <a:xfrm>
            <a:off x="457200" y="2377440"/>
            <a:ext cx="1828800" cy="685800"/>
          </a:xfrm>
          <a:prstGeom prst="roundRect">
            <a:avLst>
              <a:gd name="adj" fmla="val 8000"/>
            </a:avLst>
          </a:prstGeom>
          <a:solidFill>
            <a:srgbClr val="D9963A"/>
          </a:solidFill>
          <a:ln w="12700">
            <a:solidFill>
              <a:srgbClr val="D9963A"/>
            </a:solidFill>
            <a:prstDash val="solid"/>
          </a:ln>
        </p:spPr>
      </p:sp>
      <p:sp>
        <p:nvSpPr>
          <p:cNvPr id="9" name="Text 7"/>
          <p:cNvSpPr txBox="1"/>
          <p:nvPr/>
        </p:nvSpPr>
        <p:spPr>
          <a:xfrm>
            <a:off x="457200" y="2377440"/>
            <a:ext cx="1828800" cy="685800"/>
          </a:xfrm>
          <a:prstGeom prst="rect">
            <a:avLst/>
          </a:prstGeom>
          <a:noFill/>
          <a:ln/>
        </p:spPr>
        <p:txBody>
          <a:bodyPr wrap="square" lIns="508" tIns="508" rIns="508" bIns="508" rtlCol="0" anchor="ctr"/>
          <a:lstStyle/>
          <a:p>
            <a:pPr algn="ctr" indent="0" marL="0">
              <a:buNone/>
            </a:pPr>
            <a:r>
              <a:rPr lang="en-US" sz="1200" b="1" dirty="0">
                <a:solidFill>
                  <a:srgbClr val="1F3A3D"/>
                </a:solidFill>
                <a:latin typeface="Calibri" pitchFamily="34" charset="0"/>
                <a:ea typeface="Calibri" pitchFamily="34" charset="-122"/>
                <a:cs typeface="Calibri" pitchFamily="34" charset="-120"/>
              </a:rPr>
              <a:t>Planning Agent</a:t>
            </a:r>
            <a:endParaRPr lang="en-US" sz="1200" dirty="0"/>
          </a:p>
          <a:p>
            <a:pPr algn="ctr" indent="0" marL="0">
              <a:buNone/>
            </a:pPr>
            <a:r>
              <a:rPr lang="en-US" sz="1200" b="1" dirty="0">
                <a:solidFill>
                  <a:srgbClr val="1F3A3D"/>
                </a:solidFill>
                <a:latin typeface="Calibri" pitchFamily="34" charset="0"/>
                <a:ea typeface="Calibri" pitchFamily="34" charset="-122"/>
                <a:cs typeface="Calibri" pitchFamily="34" charset="-120"/>
              </a:rPr>
              <a:t>uses the LLM</a:t>
            </a:r>
            <a:endParaRPr lang="en-US" sz="1200" dirty="0"/>
          </a:p>
        </p:txBody>
      </p:sp>
      <p:sp>
        <p:nvSpPr>
          <p:cNvPr id="10" name="Shape 8"/>
          <p:cNvSpPr/>
          <p:nvPr/>
        </p:nvSpPr>
        <p:spPr>
          <a:xfrm>
            <a:off x="2468880" y="2377440"/>
            <a:ext cx="1828800" cy="685800"/>
          </a:xfrm>
          <a:prstGeom prst="roundRect">
            <a:avLst>
              <a:gd name="adj" fmla="val 8000"/>
            </a:avLst>
          </a:prstGeom>
          <a:solidFill>
            <a:srgbClr val="3E6366"/>
          </a:solidFill>
          <a:ln w="12700">
            <a:solidFill>
              <a:srgbClr val="3E6366"/>
            </a:solidFill>
            <a:prstDash val="solid"/>
          </a:ln>
        </p:spPr>
      </p:sp>
      <p:sp>
        <p:nvSpPr>
          <p:cNvPr id="11" name="Text 9"/>
          <p:cNvSpPr txBox="1"/>
          <p:nvPr/>
        </p:nvSpPr>
        <p:spPr>
          <a:xfrm>
            <a:off x="2468880" y="2377440"/>
            <a:ext cx="1828800" cy="685800"/>
          </a:xfrm>
          <a:prstGeom prst="rect">
            <a:avLst/>
          </a:prstGeom>
          <a:noFill/>
          <a:ln/>
        </p:spPr>
        <p:txBody>
          <a:bodyPr wrap="square" lIns="508" tIns="508" rIns="508" bIns="508"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Retrieval Agent - no LLM</a:t>
            </a:r>
            <a:endParaRPr lang="en-US" sz="1050" dirty="0"/>
          </a:p>
          <a:p>
            <a:pPr algn="ctr" indent="0" marL="0">
              <a:buNone/>
            </a:pPr>
            <a:r>
              <a:rPr lang="en-US" sz="1050" b="1" dirty="0">
                <a:solidFill>
                  <a:srgbClr val="FFFFFF"/>
                </a:solidFill>
                <a:latin typeface="Calibri" pitchFamily="34" charset="0"/>
                <a:ea typeface="Calibri" pitchFamily="34" charset="-122"/>
                <a:cs typeface="Calibri" pitchFamily="34" charset="-120"/>
              </a:rPr>
              <a:t>OpenAlex + Semantic Scholar</a:t>
            </a:r>
            <a:endParaRPr lang="en-US" sz="1050" dirty="0"/>
          </a:p>
        </p:txBody>
      </p:sp>
      <p:sp>
        <p:nvSpPr>
          <p:cNvPr id="12" name="Shape 10"/>
          <p:cNvSpPr/>
          <p:nvPr/>
        </p:nvSpPr>
        <p:spPr>
          <a:xfrm>
            <a:off x="4480560" y="2377440"/>
            <a:ext cx="2377440" cy="685800"/>
          </a:xfrm>
          <a:prstGeom prst="roundRect">
            <a:avLst>
              <a:gd name="adj" fmla="val 8000"/>
            </a:avLst>
          </a:prstGeom>
          <a:solidFill>
            <a:srgbClr val="D9963A"/>
          </a:solidFill>
          <a:ln w="12700">
            <a:solidFill>
              <a:srgbClr val="D9963A"/>
            </a:solidFill>
            <a:prstDash val="solid"/>
          </a:ln>
        </p:spPr>
      </p:sp>
      <p:sp>
        <p:nvSpPr>
          <p:cNvPr id="13" name="Text 11"/>
          <p:cNvSpPr txBox="1"/>
          <p:nvPr/>
        </p:nvSpPr>
        <p:spPr>
          <a:xfrm>
            <a:off x="4480560" y="2377440"/>
            <a:ext cx="2377440" cy="685800"/>
          </a:xfrm>
          <a:prstGeom prst="rect">
            <a:avLst/>
          </a:prstGeom>
          <a:noFill/>
          <a:ln/>
        </p:spPr>
        <p:txBody>
          <a:bodyPr wrap="square" lIns="508" tIns="508" rIns="508" bIns="508" rtlCol="0" anchor="ctr"/>
          <a:lstStyle/>
          <a:p>
            <a:pPr algn="ctr" indent="0" marL="0">
              <a:buNone/>
            </a:pPr>
            <a:r>
              <a:rPr lang="en-US" sz="1200" b="1" dirty="0">
                <a:solidFill>
                  <a:srgbClr val="1F3A3D"/>
                </a:solidFill>
                <a:latin typeface="Calibri" pitchFamily="34" charset="0"/>
                <a:ea typeface="Calibri" pitchFamily="34" charset="-122"/>
                <a:cs typeface="Calibri" pitchFamily="34" charset="-120"/>
              </a:rPr>
              <a:t>Evaluation &amp; Synthesis Agent</a:t>
            </a:r>
            <a:endParaRPr lang="en-US" sz="1200" dirty="0"/>
          </a:p>
          <a:p>
            <a:pPr algn="ctr" indent="0" marL="0">
              <a:buNone/>
            </a:pPr>
            <a:r>
              <a:rPr lang="en-US" sz="1200" b="1" dirty="0">
                <a:solidFill>
                  <a:srgbClr val="1F3A3D"/>
                </a:solidFill>
                <a:latin typeface="Calibri" pitchFamily="34" charset="0"/>
                <a:ea typeface="Calibri" pitchFamily="34" charset="-122"/>
                <a:cs typeface="Calibri" pitchFamily="34" charset="-120"/>
              </a:rPr>
              <a:t>uses the LLM</a:t>
            </a:r>
            <a:endParaRPr lang="en-US" sz="1200" dirty="0"/>
          </a:p>
        </p:txBody>
      </p:sp>
      <p:sp>
        <p:nvSpPr>
          <p:cNvPr id="14" name="Shape 12"/>
          <p:cNvSpPr/>
          <p:nvPr/>
        </p:nvSpPr>
        <p:spPr>
          <a:xfrm>
            <a:off x="4572000" y="1920240"/>
            <a:ext cx="0" cy="228600"/>
          </a:xfrm>
          <a:prstGeom prst="line">
            <a:avLst/>
          </a:prstGeom>
          <a:noFill/>
          <a:ln w="15875">
            <a:solidFill>
              <a:srgbClr val="B7C4C3"/>
            </a:solidFill>
            <a:prstDash val="solid"/>
          </a:ln>
        </p:spPr>
      </p:sp>
      <p:sp>
        <p:nvSpPr>
          <p:cNvPr id="15" name="Shape 13"/>
          <p:cNvSpPr/>
          <p:nvPr/>
        </p:nvSpPr>
        <p:spPr>
          <a:xfrm>
            <a:off x="1371600" y="2148840"/>
            <a:ext cx="4297680" cy="0"/>
          </a:xfrm>
          <a:prstGeom prst="line">
            <a:avLst/>
          </a:prstGeom>
          <a:noFill/>
          <a:ln w="15875">
            <a:solidFill>
              <a:srgbClr val="B7C4C3"/>
            </a:solidFill>
            <a:prstDash val="solid"/>
          </a:ln>
        </p:spPr>
      </p:sp>
      <p:sp>
        <p:nvSpPr>
          <p:cNvPr id="16" name="Shape 14"/>
          <p:cNvSpPr/>
          <p:nvPr/>
        </p:nvSpPr>
        <p:spPr>
          <a:xfrm>
            <a:off x="1371600" y="2148840"/>
            <a:ext cx="0" cy="228600"/>
          </a:xfrm>
          <a:prstGeom prst="line">
            <a:avLst/>
          </a:prstGeom>
          <a:noFill/>
          <a:ln w="15875">
            <a:solidFill>
              <a:srgbClr val="B7C4C3"/>
            </a:solidFill>
            <a:prstDash val="solid"/>
          </a:ln>
        </p:spPr>
      </p:sp>
      <p:sp>
        <p:nvSpPr>
          <p:cNvPr id="17" name="Shape 15"/>
          <p:cNvSpPr/>
          <p:nvPr/>
        </p:nvSpPr>
        <p:spPr>
          <a:xfrm>
            <a:off x="3383280" y="2148840"/>
            <a:ext cx="0" cy="228600"/>
          </a:xfrm>
          <a:prstGeom prst="line">
            <a:avLst/>
          </a:prstGeom>
          <a:noFill/>
          <a:ln w="15875">
            <a:solidFill>
              <a:srgbClr val="B7C4C3"/>
            </a:solidFill>
            <a:prstDash val="solid"/>
          </a:ln>
        </p:spPr>
      </p:sp>
      <p:sp>
        <p:nvSpPr>
          <p:cNvPr id="18" name="Shape 16"/>
          <p:cNvSpPr/>
          <p:nvPr/>
        </p:nvSpPr>
        <p:spPr>
          <a:xfrm>
            <a:off x="5669280" y="2148840"/>
            <a:ext cx="0" cy="228600"/>
          </a:xfrm>
          <a:prstGeom prst="line">
            <a:avLst/>
          </a:prstGeom>
          <a:noFill/>
          <a:ln w="15875">
            <a:solidFill>
              <a:srgbClr val="B7C4C3"/>
            </a:solidFill>
            <a:prstDash val="solid"/>
          </a:ln>
        </p:spPr>
      </p:sp>
      <p:sp>
        <p:nvSpPr>
          <p:cNvPr id="19" name="Text 17"/>
          <p:cNvSpPr txBox="1"/>
          <p:nvPr/>
        </p:nvSpPr>
        <p:spPr>
          <a:xfrm>
            <a:off x="457200" y="3200400"/>
            <a:ext cx="6583680" cy="365760"/>
          </a:xfrm>
          <a:prstGeom prst="rect">
            <a:avLst/>
          </a:prstGeom>
          <a:noFill/>
          <a:ln/>
        </p:spPr>
        <p:txBody>
          <a:bodyPr wrap="square" lIns="0" tIns="0" rIns="0" bIns="0" rtlCol="0" anchor="t"/>
          <a:lstStyle/>
          <a:p>
            <a:pPr indent="0" marL="0">
              <a:buNone/>
            </a:pPr>
            <a:r>
              <a:rPr lang="en-US" sz="1050" dirty="0">
                <a:solidFill>
                  <a:srgbClr val="5F6F70"/>
                </a:solidFill>
                <a:latin typeface="Calibri" pitchFamily="34" charset="0"/>
                <a:ea typeface="Calibri" pitchFamily="34" charset="-122"/>
                <a:cs typeface="Calibri" pitchFamily="34" charset="-120"/>
              </a:rPr>
              <a:t>Data passed between them: SubQuestion · Paper · Assessment · Brief  (the classes from Diagram 1, as Pydantic models)</a:t>
            </a:r>
            <a:endParaRPr lang="en-US" sz="1050" dirty="0"/>
          </a:p>
        </p:txBody>
      </p:sp>
      <p:sp>
        <p:nvSpPr>
          <p:cNvPr id="20" name="Text 18"/>
          <p:cNvSpPr txBox="1"/>
          <p:nvPr/>
        </p:nvSpPr>
        <p:spPr>
          <a:xfrm>
            <a:off x="457200" y="3611880"/>
            <a:ext cx="6583680" cy="114300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1F3A3D"/>
                </a:solidFill>
                <a:latin typeface="Calibri" pitchFamily="34" charset="0"/>
                <a:ea typeface="Calibri" pitchFamily="34" charset="-122"/>
                <a:cs typeface="Calibri" pitchFamily="34" charset="-120"/>
              </a:rPr>
              <a:t>Decomposing, scoring and summarising are judgement tasks - the model does those</a:t>
            </a:r>
            <a:endParaRPr lang="en-US" sz="1100" dirty="0"/>
          </a:p>
          <a:p>
            <a:pPr marL="342900" indent="-342900">
              <a:spcAft>
                <a:spcPts val="500"/>
              </a:spcAft>
              <a:buSzPct val="100000"/>
              <a:buChar char="•"/>
            </a:pPr>
            <a:r>
              <a:rPr lang="en-US" sz="1100" dirty="0">
                <a:solidFill>
                  <a:srgbClr val="1F3A3D"/>
                </a:solidFill>
                <a:latin typeface="Calibri" pitchFamily="34" charset="0"/>
                <a:ea typeface="Calibri" pitchFamily="34" charset="-122"/>
                <a:cs typeface="Calibri" pitchFamily="34" charset="-120"/>
              </a:rPr>
              <a:t>Counting, de-duplicating, verifying DOIs, applying cut-offs - plain code does those</a:t>
            </a:r>
            <a:endParaRPr lang="en-US" sz="1100" dirty="0"/>
          </a:p>
          <a:p>
            <a:pPr marL="342900" indent="-342900">
              <a:spcAft>
                <a:spcPts val="500"/>
              </a:spcAft>
              <a:buSzPct val="100000"/>
              <a:buChar char="•"/>
            </a:pPr>
            <a:r>
              <a:rPr lang="en-US" sz="1100" dirty="0">
                <a:solidFill>
                  <a:srgbClr val="1F3A3D"/>
                </a:solidFill>
                <a:latin typeface="Calibri" pitchFamily="34" charset="0"/>
                <a:ea typeface="Calibri" pitchFamily="34" charset="-122"/>
                <a:cs typeface="Calibri" pitchFamily="34" charset="-120"/>
              </a:rPr>
              <a:t>Every model reply is validated against a schema; one repair retry, then the run stops</a:t>
            </a:r>
            <a:endParaRPr lang="en-US" sz="1100" dirty="0"/>
          </a:p>
          <a:p>
            <a:pPr marL="342900" indent="-342900">
              <a:spcAft>
                <a:spcPts val="500"/>
              </a:spcAft>
              <a:buSzPct val="100000"/>
              <a:buChar char="•"/>
            </a:pPr>
            <a:r>
              <a:rPr lang="en-US" sz="1100" dirty="0">
                <a:solidFill>
                  <a:srgbClr val="1F3A3D"/>
                </a:solidFill>
                <a:latin typeface="Calibri" pitchFamily="34" charset="0"/>
                <a:ea typeface="Calibri" pitchFamily="34" charset="-122"/>
                <a:cs typeface="Calibri" pitchFamily="34" charset="-120"/>
              </a:rPr>
              <a:t>Limits, model name and the list of sources live in one configuration file</a:t>
            </a:r>
            <a:endParaRPr lang="en-US" sz="1100" dirty="0"/>
          </a:p>
        </p:txBody>
      </p:sp>
      <p:sp>
        <p:nvSpPr>
          <p:cNvPr id="21" name="Shape 19"/>
          <p:cNvSpPr/>
          <p:nvPr/>
        </p:nvSpPr>
        <p:spPr>
          <a:xfrm>
            <a:off x="7223760" y="1234440"/>
            <a:ext cx="1463040" cy="3474720"/>
          </a:xfrm>
          <a:prstGeom prst="roundRect">
            <a:avLst>
              <a:gd name="adj" fmla="val 5000"/>
            </a:avLst>
          </a:prstGeom>
          <a:solidFill>
            <a:srgbClr val="EEF3F2"/>
          </a:solidFill>
          <a:ln w="9525">
            <a:solidFill>
              <a:srgbClr val="DDE4E3"/>
            </a:solidFill>
            <a:prstDash val="solid"/>
          </a:ln>
        </p:spPr>
      </p:sp>
      <p:sp>
        <p:nvSpPr>
          <p:cNvPr id="22" name="Text 20"/>
          <p:cNvSpPr txBox="1"/>
          <p:nvPr/>
        </p:nvSpPr>
        <p:spPr>
          <a:xfrm>
            <a:off x="7269480" y="1325880"/>
            <a:ext cx="1371600" cy="411480"/>
          </a:xfrm>
          <a:prstGeom prst="rect">
            <a:avLst/>
          </a:prstGeom>
          <a:noFill/>
          <a:ln/>
        </p:spPr>
        <p:txBody>
          <a:bodyPr wrap="square" lIns="0" tIns="0" rIns="0" bIns="0" rtlCol="0" anchor="ctr"/>
          <a:lstStyle/>
          <a:p>
            <a:pPr algn="ctr" indent="0" marL="0">
              <a:buNone/>
            </a:pPr>
            <a:r>
              <a:rPr lang="en-US" sz="2200" b="1" dirty="0">
                <a:solidFill>
                  <a:srgbClr val="1F3A3D"/>
                </a:solidFill>
                <a:latin typeface="Cambria" pitchFamily="34" charset="0"/>
                <a:ea typeface="Cambria" pitchFamily="34" charset="-122"/>
                <a:cs typeface="Cambria" pitchFamily="34" charset="-120"/>
              </a:rPr>
              <a:t>3-5</a:t>
            </a:r>
            <a:endParaRPr lang="en-US" sz="2200" dirty="0"/>
          </a:p>
        </p:txBody>
      </p:sp>
      <p:sp>
        <p:nvSpPr>
          <p:cNvPr id="23" name="Text 21"/>
          <p:cNvSpPr txBox="1"/>
          <p:nvPr/>
        </p:nvSpPr>
        <p:spPr>
          <a:xfrm>
            <a:off x="7269480" y="1719072"/>
            <a:ext cx="1371600" cy="365760"/>
          </a:xfrm>
          <a:prstGeom prst="rect">
            <a:avLst/>
          </a:prstGeom>
          <a:noFill/>
          <a:ln/>
        </p:spPr>
        <p:txBody>
          <a:bodyPr wrap="square" lIns="0" tIns="0" rIns="0" bIns="0" rtlCol="0" anchor="t"/>
          <a:lstStyle/>
          <a:p>
            <a:pPr algn="ctr" indent="0" marL="0">
              <a:buNone/>
            </a:pPr>
            <a:r>
              <a:rPr lang="en-US" sz="950" dirty="0">
                <a:solidFill>
                  <a:srgbClr val="5F6F70"/>
                </a:solidFill>
                <a:latin typeface="Calibri" pitchFamily="34" charset="0"/>
                <a:ea typeface="Calibri" pitchFamily="34" charset="-122"/>
                <a:cs typeface="Calibri" pitchFamily="34" charset="-120"/>
              </a:rPr>
              <a:t>sub-questions</a:t>
            </a:r>
            <a:endParaRPr lang="en-US" sz="950" dirty="0"/>
          </a:p>
        </p:txBody>
      </p:sp>
      <p:sp>
        <p:nvSpPr>
          <p:cNvPr id="24" name="Text 22"/>
          <p:cNvSpPr txBox="1"/>
          <p:nvPr/>
        </p:nvSpPr>
        <p:spPr>
          <a:xfrm>
            <a:off x="7269480" y="2176272"/>
            <a:ext cx="1371600" cy="411480"/>
          </a:xfrm>
          <a:prstGeom prst="rect">
            <a:avLst/>
          </a:prstGeom>
          <a:noFill/>
          <a:ln/>
        </p:spPr>
        <p:txBody>
          <a:bodyPr wrap="square" lIns="0" tIns="0" rIns="0" bIns="0" rtlCol="0" anchor="ctr"/>
          <a:lstStyle/>
          <a:p>
            <a:pPr algn="ctr" indent="0" marL="0">
              <a:buNone/>
            </a:pPr>
            <a:r>
              <a:rPr lang="en-US" sz="2200" b="1" dirty="0">
                <a:solidFill>
                  <a:srgbClr val="1F3A3D"/>
                </a:solidFill>
                <a:latin typeface="Cambria" pitchFamily="34" charset="0"/>
                <a:ea typeface="Cambria" pitchFamily="34" charset="-122"/>
                <a:cs typeface="Cambria" pitchFamily="34" charset="-120"/>
              </a:rPr>
              <a:t>1</a:t>
            </a:r>
            <a:endParaRPr lang="en-US" sz="2200" dirty="0"/>
          </a:p>
        </p:txBody>
      </p:sp>
      <p:sp>
        <p:nvSpPr>
          <p:cNvPr id="25" name="Text 23"/>
          <p:cNvSpPr txBox="1"/>
          <p:nvPr/>
        </p:nvSpPr>
        <p:spPr>
          <a:xfrm>
            <a:off x="7269480" y="2569464"/>
            <a:ext cx="1371600" cy="365760"/>
          </a:xfrm>
          <a:prstGeom prst="rect">
            <a:avLst/>
          </a:prstGeom>
          <a:noFill/>
          <a:ln/>
        </p:spPr>
        <p:txBody>
          <a:bodyPr wrap="square" lIns="0" tIns="0" rIns="0" bIns="0" rtlCol="0" anchor="t"/>
          <a:lstStyle/>
          <a:p>
            <a:pPr algn="ctr" indent="0" marL="0">
              <a:buNone/>
            </a:pPr>
            <a:r>
              <a:rPr lang="en-US" sz="950" dirty="0">
                <a:solidFill>
                  <a:srgbClr val="5F6F70"/>
                </a:solidFill>
                <a:latin typeface="Calibri" pitchFamily="34" charset="0"/>
                <a:ea typeface="Calibri" pitchFamily="34" charset="-122"/>
                <a:cs typeface="Calibri" pitchFamily="34" charset="-120"/>
              </a:rPr>
              <a:t>query retry per sub-question</a:t>
            </a:r>
            <a:endParaRPr lang="en-US" sz="950" dirty="0"/>
          </a:p>
        </p:txBody>
      </p:sp>
      <p:sp>
        <p:nvSpPr>
          <p:cNvPr id="26" name="Text 24"/>
          <p:cNvSpPr txBox="1"/>
          <p:nvPr/>
        </p:nvSpPr>
        <p:spPr>
          <a:xfrm>
            <a:off x="7269480" y="3026664"/>
            <a:ext cx="1371600" cy="411480"/>
          </a:xfrm>
          <a:prstGeom prst="rect">
            <a:avLst/>
          </a:prstGeom>
          <a:noFill/>
          <a:ln/>
        </p:spPr>
        <p:txBody>
          <a:bodyPr wrap="square" lIns="0" tIns="0" rIns="0" bIns="0" rtlCol="0" anchor="ctr"/>
          <a:lstStyle/>
          <a:p>
            <a:pPr algn="ctr" indent="0" marL="0">
              <a:buNone/>
            </a:pPr>
            <a:r>
              <a:rPr lang="en-US" sz="2200" b="1" dirty="0">
                <a:solidFill>
                  <a:srgbClr val="1F3A3D"/>
                </a:solidFill>
                <a:latin typeface="Cambria" pitchFamily="34" charset="0"/>
                <a:ea typeface="Cambria" pitchFamily="34" charset="-122"/>
                <a:cs typeface="Cambria" pitchFamily="34" charset="-120"/>
              </a:rPr>
              <a:t>1</a:t>
            </a:r>
            <a:endParaRPr lang="en-US" sz="2200" dirty="0"/>
          </a:p>
        </p:txBody>
      </p:sp>
      <p:sp>
        <p:nvSpPr>
          <p:cNvPr id="27" name="Text 25"/>
          <p:cNvSpPr txBox="1"/>
          <p:nvPr/>
        </p:nvSpPr>
        <p:spPr>
          <a:xfrm>
            <a:off x="7269480" y="3419856"/>
            <a:ext cx="1371600" cy="365760"/>
          </a:xfrm>
          <a:prstGeom prst="rect">
            <a:avLst/>
          </a:prstGeom>
          <a:noFill/>
          <a:ln/>
        </p:spPr>
        <p:txBody>
          <a:bodyPr wrap="square" lIns="0" tIns="0" rIns="0" bIns="0" rtlCol="0" anchor="t"/>
          <a:lstStyle/>
          <a:p>
            <a:pPr algn="ctr" indent="0" marL="0">
              <a:buNone/>
            </a:pPr>
            <a:r>
              <a:rPr lang="en-US" sz="950" dirty="0">
                <a:solidFill>
                  <a:srgbClr val="5F6F70"/>
                </a:solidFill>
                <a:latin typeface="Calibri" pitchFamily="34" charset="0"/>
                <a:ea typeface="Calibri" pitchFamily="34" charset="-122"/>
                <a:cs typeface="Calibri" pitchFamily="34" charset="-120"/>
              </a:rPr>
              <a:t>scope revision per run</a:t>
            </a:r>
            <a:endParaRPr lang="en-US" sz="950" dirty="0"/>
          </a:p>
        </p:txBody>
      </p:sp>
      <p:sp>
        <p:nvSpPr>
          <p:cNvPr id="28" name="Text 26"/>
          <p:cNvSpPr txBox="1"/>
          <p:nvPr/>
        </p:nvSpPr>
        <p:spPr>
          <a:xfrm>
            <a:off x="7269480" y="3877056"/>
            <a:ext cx="1371600" cy="411480"/>
          </a:xfrm>
          <a:prstGeom prst="rect">
            <a:avLst/>
          </a:prstGeom>
          <a:noFill/>
          <a:ln/>
        </p:spPr>
        <p:txBody>
          <a:bodyPr wrap="square" lIns="0" tIns="0" rIns="0" bIns="0" rtlCol="0" anchor="ctr"/>
          <a:lstStyle/>
          <a:p>
            <a:pPr algn="ctr" indent="0" marL="0">
              <a:buNone/>
            </a:pPr>
            <a:r>
              <a:rPr lang="en-US" sz="2200" b="1" dirty="0">
                <a:solidFill>
                  <a:srgbClr val="1F3A3D"/>
                </a:solidFill>
                <a:latin typeface="Cambria" pitchFamily="34" charset="0"/>
                <a:ea typeface="Cambria" pitchFamily="34" charset="-122"/>
                <a:cs typeface="Cambria" pitchFamily="34" charset="-120"/>
              </a:rPr>
              <a:t>3 / 5</a:t>
            </a:r>
            <a:endParaRPr lang="en-US" sz="2200" dirty="0"/>
          </a:p>
        </p:txBody>
      </p:sp>
      <p:sp>
        <p:nvSpPr>
          <p:cNvPr id="29" name="Text 27"/>
          <p:cNvSpPr txBox="1"/>
          <p:nvPr/>
        </p:nvSpPr>
        <p:spPr>
          <a:xfrm>
            <a:off x="7269480" y="4270248"/>
            <a:ext cx="1371600" cy="365760"/>
          </a:xfrm>
          <a:prstGeom prst="rect">
            <a:avLst/>
          </a:prstGeom>
          <a:noFill/>
          <a:ln/>
        </p:spPr>
        <p:txBody>
          <a:bodyPr wrap="square" lIns="0" tIns="0" rIns="0" bIns="0" rtlCol="0" anchor="t"/>
          <a:lstStyle/>
          <a:p>
            <a:pPr algn="ctr" indent="0" marL="0">
              <a:buNone/>
            </a:pPr>
            <a:r>
              <a:rPr lang="en-US" sz="950" dirty="0">
                <a:solidFill>
                  <a:srgbClr val="5F6F70"/>
                </a:solidFill>
                <a:latin typeface="Calibri" pitchFamily="34" charset="0"/>
                <a:ea typeface="Calibri" pitchFamily="34" charset="-122"/>
                <a:cs typeface="Calibri" pitchFamily="34" charset="-120"/>
              </a:rPr>
              <a:t>relevance cut-off</a:t>
            </a:r>
            <a:endParaRPr lang="en-US" sz="950" dirty="0"/>
          </a:p>
        </p:txBody>
      </p:sp>
      <p:sp>
        <p:nvSpPr>
          <p:cNvPr id="30" name="Text 28"/>
          <p:cNvSpPr txBox="1"/>
          <p:nvPr/>
        </p:nvSpPr>
        <p:spPr>
          <a:xfrm>
            <a:off x="8138160" y="4754880"/>
            <a:ext cx="640080" cy="274320"/>
          </a:xfrm>
          <a:prstGeom prst="rect">
            <a:avLst/>
          </a:prstGeom>
          <a:noFill/>
          <a:ln/>
        </p:spPr>
        <p:txBody>
          <a:bodyPr wrap="square" lIns="0" tIns="0" rIns="0" bIns="0" rtlCol="0" anchor="ctr"/>
          <a:lstStyle/>
          <a:p>
            <a:pPr algn="r" indent="0" marL="0">
              <a:buNone/>
            </a:pPr>
            <a:r>
              <a:rPr lang="en-US" sz="900" dirty="0">
                <a:solidFill>
                  <a:srgbClr val="5F6F70"/>
                </a:solidFill>
                <a:latin typeface="Calibri" pitchFamily="34" charset="0"/>
                <a:ea typeface="Calibri" pitchFamily="34" charset="-122"/>
                <a:cs typeface="Calibri" pitchFamily="34" charset="-120"/>
              </a:rPr>
              <a:t>3 / 10</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3000" b="1" dirty="0">
                <a:solidFill>
                  <a:srgbClr val="1F3A3D"/>
                </a:solidFill>
                <a:latin typeface="Cambria" pitchFamily="34" charset="0"/>
                <a:ea typeface="Cambria" pitchFamily="34" charset="-122"/>
                <a:cs typeface="Cambria" pitchFamily="34" charset="-120"/>
              </a:rPr>
              <a:t>How one run flows</a:t>
            </a:r>
            <a:endParaRPr lang="en-US" sz="3000" dirty="0"/>
          </a:p>
        </p:txBody>
      </p:sp>
      <p:sp>
        <p:nvSpPr>
          <p:cNvPr id="3" name="Shape 1"/>
          <p:cNvSpPr/>
          <p:nvPr/>
        </p:nvSpPr>
        <p:spPr>
          <a:xfrm>
            <a:off x="457200" y="1371600"/>
            <a:ext cx="1115568" cy="457200"/>
          </a:xfrm>
          <a:prstGeom prst="roundRect">
            <a:avLst>
              <a:gd name="adj" fmla="val 12000"/>
            </a:avLst>
          </a:prstGeom>
          <a:solidFill>
            <a:srgbClr val="1F3A3D"/>
          </a:solidFill>
          <a:ln w="12700">
            <a:solidFill>
              <a:srgbClr val="1F3A3D"/>
            </a:solidFill>
            <a:prstDash val="solid"/>
          </a:ln>
        </p:spPr>
      </p:sp>
      <p:sp>
        <p:nvSpPr>
          <p:cNvPr id="4" name="Text 2"/>
          <p:cNvSpPr txBox="1"/>
          <p:nvPr/>
        </p:nvSpPr>
        <p:spPr>
          <a:xfrm>
            <a:off x="457200" y="1371600"/>
            <a:ext cx="1115568" cy="457200"/>
          </a:xfrm>
          <a:prstGeom prst="rect">
            <a:avLst/>
          </a:prstGeom>
          <a:noFill/>
          <a:ln/>
        </p:spPr>
        <p:txBody>
          <a:bodyPr wrap="square" lIns="508" tIns="508" rIns="508" bIns="508"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  Plan</a:t>
            </a:r>
            <a:endParaRPr lang="en-US" sz="1150" dirty="0"/>
          </a:p>
        </p:txBody>
      </p:sp>
      <p:sp>
        <p:nvSpPr>
          <p:cNvPr id="5" name="Text 3"/>
          <p:cNvSpPr txBox="1"/>
          <p:nvPr/>
        </p:nvSpPr>
        <p:spPr>
          <a:xfrm>
            <a:off x="457200" y="1920240"/>
            <a:ext cx="1115568" cy="1005840"/>
          </a:xfrm>
          <a:prstGeom prst="rect">
            <a:avLst/>
          </a:prstGeom>
          <a:noFill/>
          <a:ln/>
        </p:spPr>
        <p:txBody>
          <a:bodyPr wrap="square" lIns="0" tIns="0" rIns="0" bIns="0" rtlCol="0" anchor="t"/>
          <a:lstStyle/>
          <a:p>
            <a:pPr indent="0" marL="0">
              <a:buNone/>
            </a:pPr>
            <a:r>
              <a:rPr lang="en-US" sz="950" dirty="0">
                <a:solidFill>
                  <a:srgbClr val="5F6F70"/>
                </a:solidFill>
                <a:latin typeface="Calibri" pitchFamily="34" charset="0"/>
                <a:ea typeface="Calibri" pitchFamily="34" charset="-122"/>
                <a:cs typeface="Calibri" pitchFamily="34" charset="-120"/>
              </a:rPr>
              <a:t>question → 3-5 sub-questions with search queries</a:t>
            </a:r>
            <a:endParaRPr lang="en-US" sz="950" dirty="0"/>
          </a:p>
        </p:txBody>
      </p:sp>
      <p:sp>
        <p:nvSpPr>
          <p:cNvPr id="6" name="Shape 4"/>
          <p:cNvSpPr/>
          <p:nvPr/>
        </p:nvSpPr>
        <p:spPr>
          <a:xfrm>
            <a:off x="1645920" y="1371600"/>
            <a:ext cx="1115568" cy="457200"/>
          </a:xfrm>
          <a:prstGeom prst="roundRect">
            <a:avLst>
              <a:gd name="adj" fmla="val 12000"/>
            </a:avLst>
          </a:prstGeom>
          <a:solidFill>
            <a:srgbClr val="D9963A"/>
          </a:solidFill>
          <a:ln w="12700">
            <a:solidFill>
              <a:srgbClr val="D9963A"/>
            </a:solidFill>
            <a:prstDash val="solid"/>
          </a:ln>
        </p:spPr>
      </p:sp>
      <p:sp>
        <p:nvSpPr>
          <p:cNvPr id="7" name="Text 5"/>
          <p:cNvSpPr txBox="1"/>
          <p:nvPr/>
        </p:nvSpPr>
        <p:spPr>
          <a:xfrm>
            <a:off x="1645920" y="1371600"/>
            <a:ext cx="1115568" cy="457200"/>
          </a:xfrm>
          <a:prstGeom prst="rect">
            <a:avLst/>
          </a:prstGeom>
          <a:noFill/>
          <a:ln/>
        </p:spPr>
        <p:txBody>
          <a:bodyPr wrap="square" lIns="508" tIns="508" rIns="508" bIns="508" rtlCol="0" anchor="ctr"/>
          <a:lstStyle/>
          <a:p>
            <a:pPr algn="ctr" indent="0" marL="0">
              <a:buNone/>
            </a:pPr>
            <a:r>
              <a:rPr lang="en-US" sz="1150" b="1" dirty="0">
                <a:solidFill>
                  <a:srgbClr val="1F3A3D"/>
                </a:solidFill>
                <a:latin typeface="Calibri" pitchFamily="34" charset="0"/>
                <a:ea typeface="Calibri" pitchFamily="34" charset="-122"/>
                <a:cs typeface="Calibri" pitchFamily="34" charset="-120"/>
              </a:rPr>
              <a:t>Review 1</a:t>
            </a:r>
            <a:endParaRPr lang="en-US" sz="1150" dirty="0"/>
          </a:p>
        </p:txBody>
      </p:sp>
      <p:sp>
        <p:nvSpPr>
          <p:cNvPr id="8" name="Text 6"/>
          <p:cNvSpPr txBox="1"/>
          <p:nvPr/>
        </p:nvSpPr>
        <p:spPr>
          <a:xfrm>
            <a:off x="1645920" y="1920240"/>
            <a:ext cx="1115568" cy="1005840"/>
          </a:xfrm>
          <a:prstGeom prst="rect">
            <a:avLst/>
          </a:prstGeom>
          <a:noFill/>
          <a:ln/>
        </p:spPr>
        <p:txBody>
          <a:bodyPr wrap="square" lIns="0" tIns="0" rIns="0" bIns="0" rtlCol="0" anchor="t"/>
          <a:lstStyle/>
          <a:p>
            <a:pPr indent="0" marL="0">
              <a:buNone/>
            </a:pPr>
            <a:r>
              <a:rPr lang="en-US" sz="950" dirty="0">
                <a:solidFill>
                  <a:srgbClr val="5F6F70"/>
                </a:solidFill>
                <a:latin typeface="Calibri" pitchFamily="34" charset="0"/>
                <a:ea typeface="Calibri" pitchFamily="34" charset="-122"/>
                <a:cs typeface="Calibri" pitchFamily="34" charset="-120"/>
              </a:rPr>
              <a:t>approve, or describe the change → re-plan</a:t>
            </a:r>
            <a:endParaRPr lang="en-US" sz="950" dirty="0"/>
          </a:p>
        </p:txBody>
      </p:sp>
      <p:sp>
        <p:nvSpPr>
          <p:cNvPr id="9" name="Shape 7"/>
          <p:cNvSpPr/>
          <p:nvPr/>
        </p:nvSpPr>
        <p:spPr>
          <a:xfrm>
            <a:off x="2834640" y="1371600"/>
            <a:ext cx="1115568" cy="457200"/>
          </a:xfrm>
          <a:prstGeom prst="roundRect">
            <a:avLst>
              <a:gd name="adj" fmla="val 12000"/>
            </a:avLst>
          </a:prstGeom>
          <a:solidFill>
            <a:srgbClr val="1F3A3D"/>
          </a:solidFill>
          <a:ln w="12700">
            <a:solidFill>
              <a:srgbClr val="1F3A3D"/>
            </a:solidFill>
            <a:prstDash val="solid"/>
          </a:ln>
        </p:spPr>
      </p:sp>
      <p:sp>
        <p:nvSpPr>
          <p:cNvPr id="10" name="Text 8"/>
          <p:cNvSpPr txBox="1"/>
          <p:nvPr/>
        </p:nvSpPr>
        <p:spPr>
          <a:xfrm>
            <a:off x="2834640" y="1371600"/>
            <a:ext cx="1115568" cy="457200"/>
          </a:xfrm>
          <a:prstGeom prst="rect">
            <a:avLst/>
          </a:prstGeom>
          <a:noFill/>
          <a:ln/>
        </p:spPr>
        <p:txBody>
          <a:bodyPr wrap="square" lIns="508" tIns="508" rIns="508" bIns="508"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  Retrieve</a:t>
            </a:r>
            <a:endParaRPr lang="en-US" sz="1150" dirty="0"/>
          </a:p>
        </p:txBody>
      </p:sp>
      <p:sp>
        <p:nvSpPr>
          <p:cNvPr id="11" name="Text 9"/>
          <p:cNvSpPr txBox="1"/>
          <p:nvPr/>
        </p:nvSpPr>
        <p:spPr>
          <a:xfrm>
            <a:off x="2834640" y="1920240"/>
            <a:ext cx="1115568" cy="1005840"/>
          </a:xfrm>
          <a:prstGeom prst="rect">
            <a:avLst/>
          </a:prstGeom>
          <a:noFill/>
          <a:ln/>
        </p:spPr>
        <p:txBody>
          <a:bodyPr wrap="square" lIns="0" tIns="0" rIns="0" bIns="0" rtlCol="0" anchor="t"/>
          <a:lstStyle/>
          <a:p>
            <a:pPr indent="0" marL="0">
              <a:buNone/>
            </a:pPr>
            <a:r>
              <a:rPr lang="en-US" sz="950" dirty="0">
                <a:solidFill>
                  <a:srgbClr val="5F6F70"/>
                </a:solidFill>
                <a:latin typeface="Calibri" pitchFamily="34" charset="0"/>
                <a:ea typeface="Calibri" pitchFamily="34" charset="-122"/>
                <a:cs typeface="Calibri" pitchFamily="34" charset="-120"/>
              </a:rPr>
              <a:t>OpenAlex + Semantic Scholar, 20 records each; failover</a:t>
            </a:r>
            <a:endParaRPr lang="en-US" sz="950" dirty="0"/>
          </a:p>
        </p:txBody>
      </p:sp>
      <p:sp>
        <p:nvSpPr>
          <p:cNvPr id="12" name="Shape 10"/>
          <p:cNvSpPr/>
          <p:nvPr/>
        </p:nvSpPr>
        <p:spPr>
          <a:xfrm>
            <a:off x="4023360" y="1371600"/>
            <a:ext cx="1115568" cy="457200"/>
          </a:xfrm>
          <a:prstGeom prst="roundRect">
            <a:avLst>
              <a:gd name="adj" fmla="val 12000"/>
            </a:avLst>
          </a:prstGeom>
          <a:solidFill>
            <a:srgbClr val="1F3A3D"/>
          </a:solidFill>
          <a:ln w="12700">
            <a:solidFill>
              <a:srgbClr val="1F3A3D"/>
            </a:solidFill>
            <a:prstDash val="solid"/>
          </a:ln>
        </p:spPr>
      </p:sp>
      <p:sp>
        <p:nvSpPr>
          <p:cNvPr id="13" name="Text 11"/>
          <p:cNvSpPr txBox="1"/>
          <p:nvPr/>
        </p:nvSpPr>
        <p:spPr>
          <a:xfrm>
            <a:off x="4023360" y="1371600"/>
            <a:ext cx="1115568" cy="457200"/>
          </a:xfrm>
          <a:prstGeom prst="rect">
            <a:avLst/>
          </a:prstGeom>
          <a:noFill/>
          <a:ln/>
        </p:spPr>
        <p:txBody>
          <a:bodyPr wrap="square" lIns="508" tIns="508" rIns="508" bIns="508"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  Verify</a:t>
            </a:r>
            <a:endParaRPr lang="en-US" sz="1150" dirty="0"/>
          </a:p>
        </p:txBody>
      </p:sp>
      <p:sp>
        <p:nvSpPr>
          <p:cNvPr id="14" name="Text 12"/>
          <p:cNvSpPr txBox="1"/>
          <p:nvPr/>
        </p:nvSpPr>
        <p:spPr>
          <a:xfrm>
            <a:off x="4023360" y="1920240"/>
            <a:ext cx="1115568" cy="1005840"/>
          </a:xfrm>
          <a:prstGeom prst="rect">
            <a:avLst/>
          </a:prstGeom>
          <a:noFill/>
          <a:ln/>
        </p:spPr>
        <p:txBody>
          <a:bodyPr wrap="square" lIns="0" tIns="0" rIns="0" bIns="0" rtlCol="0" anchor="t"/>
          <a:lstStyle/>
          <a:p>
            <a:pPr indent="0" marL="0">
              <a:buNone/>
            </a:pPr>
            <a:r>
              <a:rPr lang="en-US" sz="950" dirty="0">
                <a:solidFill>
                  <a:srgbClr val="5F6F70"/>
                </a:solidFill>
                <a:latin typeface="Calibri" pitchFamily="34" charset="0"/>
                <a:ea typeface="Calibri" pitchFamily="34" charset="-122"/>
                <a:cs typeface="Calibri" pitchFamily="34" charset="-120"/>
              </a:rPr>
              <a:t>de-duplicate by DOI; check each DOI in Crossref</a:t>
            </a:r>
            <a:endParaRPr lang="en-US" sz="950" dirty="0"/>
          </a:p>
        </p:txBody>
      </p:sp>
      <p:sp>
        <p:nvSpPr>
          <p:cNvPr id="15" name="Shape 13"/>
          <p:cNvSpPr/>
          <p:nvPr/>
        </p:nvSpPr>
        <p:spPr>
          <a:xfrm>
            <a:off x="5212080" y="1371600"/>
            <a:ext cx="1115568" cy="457200"/>
          </a:xfrm>
          <a:prstGeom prst="roundRect">
            <a:avLst>
              <a:gd name="adj" fmla="val 12000"/>
            </a:avLst>
          </a:prstGeom>
          <a:solidFill>
            <a:srgbClr val="1F3A3D"/>
          </a:solidFill>
          <a:ln w="12700">
            <a:solidFill>
              <a:srgbClr val="1F3A3D"/>
            </a:solidFill>
            <a:prstDash val="solid"/>
          </a:ln>
        </p:spPr>
      </p:sp>
      <p:sp>
        <p:nvSpPr>
          <p:cNvPr id="16" name="Text 14"/>
          <p:cNvSpPr txBox="1"/>
          <p:nvPr/>
        </p:nvSpPr>
        <p:spPr>
          <a:xfrm>
            <a:off x="5212080" y="1371600"/>
            <a:ext cx="1115568" cy="457200"/>
          </a:xfrm>
          <a:prstGeom prst="rect">
            <a:avLst/>
          </a:prstGeom>
          <a:noFill/>
          <a:ln/>
        </p:spPr>
        <p:txBody>
          <a:bodyPr wrap="square" lIns="508" tIns="508" rIns="508" bIns="508"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  Score</a:t>
            </a:r>
            <a:endParaRPr lang="en-US" sz="1150" dirty="0"/>
          </a:p>
        </p:txBody>
      </p:sp>
      <p:sp>
        <p:nvSpPr>
          <p:cNvPr id="17" name="Text 15"/>
          <p:cNvSpPr txBox="1"/>
          <p:nvPr/>
        </p:nvSpPr>
        <p:spPr>
          <a:xfrm>
            <a:off x="5212080" y="1920240"/>
            <a:ext cx="1115568" cy="1005840"/>
          </a:xfrm>
          <a:prstGeom prst="rect">
            <a:avLst/>
          </a:prstGeom>
          <a:noFill/>
          <a:ln/>
        </p:spPr>
        <p:txBody>
          <a:bodyPr wrap="square" lIns="0" tIns="0" rIns="0" bIns="0" rtlCol="0" anchor="t"/>
          <a:lstStyle/>
          <a:p>
            <a:pPr indent="0" marL="0">
              <a:buNone/>
            </a:pPr>
            <a:r>
              <a:rPr lang="en-US" sz="950" dirty="0">
                <a:solidFill>
                  <a:srgbClr val="5F6F70"/>
                </a:solidFill>
                <a:latin typeface="Calibri" pitchFamily="34" charset="0"/>
                <a:ea typeface="Calibri" pitchFamily="34" charset="-122"/>
                <a:cs typeface="Calibri" pitchFamily="34" charset="-120"/>
              </a:rPr>
              <a:t>relevance 1-5 with a reason, from the abstract</a:t>
            </a:r>
            <a:endParaRPr lang="en-US" sz="950" dirty="0"/>
          </a:p>
        </p:txBody>
      </p:sp>
      <p:sp>
        <p:nvSpPr>
          <p:cNvPr id="18" name="Shape 16"/>
          <p:cNvSpPr/>
          <p:nvPr/>
        </p:nvSpPr>
        <p:spPr>
          <a:xfrm>
            <a:off x="6400800" y="1371600"/>
            <a:ext cx="1115568" cy="457200"/>
          </a:xfrm>
          <a:prstGeom prst="roundRect">
            <a:avLst>
              <a:gd name="adj" fmla="val 12000"/>
            </a:avLst>
          </a:prstGeom>
          <a:solidFill>
            <a:srgbClr val="D9963A"/>
          </a:solidFill>
          <a:ln w="12700">
            <a:solidFill>
              <a:srgbClr val="D9963A"/>
            </a:solidFill>
            <a:prstDash val="solid"/>
          </a:ln>
        </p:spPr>
      </p:sp>
      <p:sp>
        <p:nvSpPr>
          <p:cNvPr id="19" name="Text 17"/>
          <p:cNvSpPr txBox="1"/>
          <p:nvPr/>
        </p:nvSpPr>
        <p:spPr>
          <a:xfrm>
            <a:off x="6400800" y="1371600"/>
            <a:ext cx="1115568" cy="457200"/>
          </a:xfrm>
          <a:prstGeom prst="rect">
            <a:avLst/>
          </a:prstGeom>
          <a:noFill/>
          <a:ln/>
        </p:spPr>
        <p:txBody>
          <a:bodyPr wrap="square" lIns="508" tIns="508" rIns="508" bIns="508" rtlCol="0" anchor="ctr"/>
          <a:lstStyle/>
          <a:p>
            <a:pPr algn="ctr" indent="0" marL="0">
              <a:buNone/>
            </a:pPr>
            <a:r>
              <a:rPr lang="en-US" sz="1150" b="1" dirty="0">
                <a:solidFill>
                  <a:srgbClr val="1F3A3D"/>
                </a:solidFill>
                <a:latin typeface="Calibri" pitchFamily="34" charset="0"/>
                <a:ea typeface="Calibri" pitchFamily="34" charset="-122"/>
                <a:cs typeface="Calibri" pitchFamily="34" charset="-120"/>
              </a:rPr>
              <a:t>Review 2</a:t>
            </a:r>
            <a:endParaRPr lang="en-US" sz="1150" dirty="0"/>
          </a:p>
        </p:txBody>
      </p:sp>
      <p:sp>
        <p:nvSpPr>
          <p:cNvPr id="20" name="Text 18"/>
          <p:cNvSpPr txBox="1"/>
          <p:nvPr/>
        </p:nvSpPr>
        <p:spPr>
          <a:xfrm>
            <a:off x="6400800" y="1920240"/>
            <a:ext cx="1115568" cy="1005840"/>
          </a:xfrm>
          <a:prstGeom prst="rect">
            <a:avLst/>
          </a:prstGeom>
          <a:noFill/>
          <a:ln/>
        </p:spPr>
        <p:txBody>
          <a:bodyPr wrap="square" lIns="0" tIns="0" rIns="0" bIns="0" rtlCol="0" anchor="t"/>
          <a:lstStyle/>
          <a:p>
            <a:pPr indent="0" marL="0">
              <a:buNone/>
            </a:pPr>
            <a:r>
              <a:rPr lang="en-US" sz="950" dirty="0">
                <a:solidFill>
                  <a:srgbClr val="5F6F70"/>
                </a:solidFill>
                <a:latin typeface="Calibri" pitchFamily="34" charset="0"/>
                <a:ea typeface="Calibri" pitchFamily="34" charset="-122"/>
                <a:cs typeface="Calibri" pitchFamily="34" charset="-120"/>
              </a:rPr>
              <a:t>approve · drop papers · reject scope (once)</a:t>
            </a:r>
            <a:endParaRPr lang="en-US" sz="950" dirty="0"/>
          </a:p>
        </p:txBody>
      </p:sp>
      <p:sp>
        <p:nvSpPr>
          <p:cNvPr id="21" name="Shape 19"/>
          <p:cNvSpPr/>
          <p:nvPr/>
        </p:nvSpPr>
        <p:spPr>
          <a:xfrm>
            <a:off x="7589520" y="1371600"/>
            <a:ext cx="1115568" cy="457200"/>
          </a:xfrm>
          <a:prstGeom prst="roundRect">
            <a:avLst>
              <a:gd name="adj" fmla="val 12000"/>
            </a:avLst>
          </a:prstGeom>
          <a:solidFill>
            <a:srgbClr val="1F3A3D"/>
          </a:solidFill>
          <a:ln w="12700">
            <a:solidFill>
              <a:srgbClr val="1F3A3D"/>
            </a:solidFill>
            <a:prstDash val="solid"/>
          </a:ln>
        </p:spPr>
      </p:sp>
      <p:sp>
        <p:nvSpPr>
          <p:cNvPr id="22" name="Text 20"/>
          <p:cNvSpPr txBox="1"/>
          <p:nvPr/>
        </p:nvSpPr>
        <p:spPr>
          <a:xfrm>
            <a:off x="7589520" y="1371600"/>
            <a:ext cx="1115568" cy="457200"/>
          </a:xfrm>
          <a:prstGeom prst="rect">
            <a:avLst/>
          </a:prstGeom>
          <a:noFill/>
          <a:ln/>
        </p:spPr>
        <p:txBody>
          <a:bodyPr wrap="square" lIns="508" tIns="508" rIns="508" bIns="508"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  Synthesise</a:t>
            </a:r>
            <a:endParaRPr lang="en-US" sz="1150" dirty="0"/>
          </a:p>
        </p:txBody>
      </p:sp>
      <p:sp>
        <p:nvSpPr>
          <p:cNvPr id="23" name="Text 21"/>
          <p:cNvSpPr txBox="1"/>
          <p:nvPr/>
        </p:nvSpPr>
        <p:spPr>
          <a:xfrm>
            <a:off x="7589520" y="1920240"/>
            <a:ext cx="1115568" cy="1005840"/>
          </a:xfrm>
          <a:prstGeom prst="rect">
            <a:avLst/>
          </a:prstGeom>
          <a:noFill/>
          <a:ln/>
        </p:spPr>
        <p:txBody>
          <a:bodyPr wrap="square" lIns="0" tIns="0" rIns="0" bIns="0" rtlCol="0" anchor="t"/>
          <a:lstStyle/>
          <a:p>
            <a:pPr indent="0" marL="0">
              <a:buNone/>
            </a:pPr>
            <a:r>
              <a:rPr lang="en-US" sz="950" dirty="0">
                <a:solidFill>
                  <a:srgbClr val="5F6F70"/>
                </a:solidFill>
                <a:latin typeface="Calibri" pitchFamily="34" charset="0"/>
                <a:ea typeface="Calibri" pitchFamily="34" charset="-122"/>
                <a:cs typeface="Calibri" pitchFamily="34" charset="-120"/>
              </a:rPr>
              <a:t>notes, themes with citations, gaps, limitations</a:t>
            </a:r>
            <a:endParaRPr lang="en-US" sz="950" dirty="0"/>
          </a:p>
        </p:txBody>
      </p:sp>
      <p:sp>
        <p:nvSpPr>
          <p:cNvPr id="24" name="Shape 22"/>
          <p:cNvSpPr/>
          <p:nvPr/>
        </p:nvSpPr>
        <p:spPr>
          <a:xfrm>
            <a:off x="457200" y="3063240"/>
            <a:ext cx="3931920" cy="1554480"/>
          </a:xfrm>
          <a:prstGeom prst="roundRect">
            <a:avLst>
              <a:gd name="adj" fmla="val 4706"/>
            </a:avLst>
          </a:prstGeom>
          <a:solidFill>
            <a:srgbClr val="F7F9F9"/>
          </a:solidFill>
          <a:ln w="9525">
            <a:solidFill>
              <a:srgbClr val="DDE4E3"/>
            </a:solidFill>
            <a:prstDash val="solid"/>
          </a:ln>
        </p:spPr>
      </p:sp>
      <p:sp>
        <p:nvSpPr>
          <p:cNvPr id="25" name="Text 23"/>
          <p:cNvSpPr txBox="1"/>
          <p:nvPr/>
        </p:nvSpPr>
        <p:spPr>
          <a:xfrm>
            <a:off x="640080" y="3154680"/>
            <a:ext cx="3657600" cy="274320"/>
          </a:xfrm>
          <a:prstGeom prst="rect">
            <a:avLst/>
          </a:prstGeom>
          <a:noFill/>
          <a:ln/>
        </p:spPr>
        <p:txBody>
          <a:bodyPr wrap="square" lIns="0" tIns="0" rIns="0" bIns="0" rtlCol="0" anchor="t"/>
          <a:lstStyle/>
          <a:p>
            <a:pPr indent="0" marL="0">
              <a:buNone/>
            </a:pPr>
            <a:r>
              <a:rPr lang="en-US" sz="1250" b="1" dirty="0">
                <a:solidFill>
                  <a:srgbClr val="1F3A3D"/>
                </a:solidFill>
                <a:latin typeface="Calibri" pitchFamily="34" charset="0"/>
                <a:ea typeface="Calibri" pitchFamily="34" charset="-122"/>
                <a:cs typeface="Calibri" pitchFamily="34" charset="-120"/>
              </a:rPr>
              <a:t>If a search falls short - or a source fails</a:t>
            </a:r>
            <a:endParaRPr lang="en-US" sz="1250" dirty="0"/>
          </a:p>
        </p:txBody>
      </p:sp>
      <p:sp>
        <p:nvSpPr>
          <p:cNvPr id="26" name="Text 24"/>
          <p:cNvSpPr txBox="1"/>
          <p:nvPr/>
        </p:nvSpPr>
        <p:spPr>
          <a:xfrm>
            <a:off x="640080" y="3456432"/>
            <a:ext cx="3657600" cy="1143000"/>
          </a:xfrm>
          <a:prstGeom prst="rect">
            <a:avLst/>
          </a:prstGeom>
          <a:noFill/>
          <a:ln/>
        </p:spPr>
        <p:txBody>
          <a:bodyPr wrap="square" lIns="0" tIns="0" rIns="0" bIns="0" rtlCol="0" anchor="t"/>
          <a:lstStyle/>
          <a:p>
            <a:pPr marL="342900" indent="-342900">
              <a:spcAft>
                <a:spcPts val="500"/>
              </a:spcAft>
              <a:buSzPct val="100000"/>
              <a:buChar char="•"/>
            </a:pPr>
            <a:r>
              <a:rPr lang="en-US" sz="1000" dirty="0">
                <a:solidFill>
                  <a:srgbClr val="1F3A3D"/>
                </a:solidFill>
                <a:latin typeface="Calibri" pitchFamily="34" charset="0"/>
                <a:ea typeface="Calibri" pitchFamily="34" charset="-122"/>
                <a:cs typeface="Calibri" pitchFamily="34" charset="-120"/>
              </a:rPr>
              <a:t>Fewer than 5 usable records, or fewer than 5 relevant after scoring: the Planning Agent rewrites the query once, with the rejection reasons - never twice</a:t>
            </a:r>
            <a:endParaRPr lang="en-US" sz="1000" dirty="0"/>
          </a:p>
          <a:p>
            <a:pPr marL="342900" indent="-342900">
              <a:spcAft>
                <a:spcPts val="500"/>
              </a:spcAft>
              <a:buSzPct val="100000"/>
              <a:buChar char="•"/>
            </a:pPr>
            <a:r>
              <a:rPr lang="en-US" sz="1000" dirty="0">
                <a:solidFill>
                  <a:srgbClr val="1F3A3D"/>
                </a:solidFill>
                <a:latin typeface="Calibri" pitchFamily="34" charset="0"/>
                <a:ea typeface="Calibri" pitchFamily="34" charset="-122"/>
                <a:cs typeface="Calibri" pitchFamily="34" charset="-120"/>
              </a:rPr>
              <a:t>A source that fails after its retries is skipped for that query and tried again on the next; the brief records it</a:t>
            </a:r>
            <a:endParaRPr lang="en-US" sz="1000" dirty="0"/>
          </a:p>
        </p:txBody>
      </p:sp>
      <p:sp>
        <p:nvSpPr>
          <p:cNvPr id="27" name="Shape 25"/>
          <p:cNvSpPr/>
          <p:nvPr/>
        </p:nvSpPr>
        <p:spPr>
          <a:xfrm>
            <a:off x="4663440" y="3063240"/>
            <a:ext cx="4023360" cy="1554480"/>
          </a:xfrm>
          <a:prstGeom prst="roundRect">
            <a:avLst>
              <a:gd name="adj" fmla="val 4706"/>
            </a:avLst>
          </a:prstGeom>
          <a:solidFill>
            <a:srgbClr val="F7F9F9"/>
          </a:solidFill>
          <a:ln w="9525">
            <a:solidFill>
              <a:srgbClr val="DDE4E3"/>
            </a:solidFill>
            <a:prstDash val="solid"/>
          </a:ln>
        </p:spPr>
      </p:sp>
      <p:sp>
        <p:nvSpPr>
          <p:cNvPr id="28" name="Text 26"/>
          <p:cNvSpPr txBox="1"/>
          <p:nvPr/>
        </p:nvSpPr>
        <p:spPr>
          <a:xfrm>
            <a:off x="4846320" y="3154680"/>
            <a:ext cx="3657600" cy="274320"/>
          </a:xfrm>
          <a:prstGeom prst="rect">
            <a:avLst/>
          </a:prstGeom>
          <a:noFill/>
          <a:ln/>
        </p:spPr>
        <p:txBody>
          <a:bodyPr wrap="square" lIns="0" tIns="0" rIns="0" bIns="0" rtlCol="0" anchor="t"/>
          <a:lstStyle/>
          <a:p>
            <a:pPr indent="0" marL="0">
              <a:buNone/>
            </a:pPr>
            <a:r>
              <a:rPr lang="en-US" sz="1250" b="1" dirty="0">
                <a:solidFill>
                  <a:srgbClr val="1F3A3D"/>
                </a:solidFill>
                <a:latin typeface="Calibri" pitchFamily="34" charset="0"/>
                <a:ea typeface="Calibri" pitchFamily="34" charset="-122"/>
                <a:cs typeface="Calibri" pitchFamily="34" charset="-120"/>
              </a:rPr>
              <a:t>Output</a:t>
            </a:r>
            <a:endParaRPr lang="en-US" sz="1250" dirty="0"/>
          </a:p>
        </p:txBody>
      </p:sp>
      <p:sp>
        <p:nvSpPr>
          <p:cNvPr id="29" name="Text 27"/>
          <p:cNvSpPr txBox="1"/>
          <p:nvPr/>
        </p:nvSpPr>
        <p:spPr>
          <a:xfrm>
            <a:off x="4846320" y="3456432"/>
            <a:ext cx="3657600" cy="109728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rgbClr val="1F3A3D"/>
                </a:solidFill>
                <a:latin typeface="Calibri" pitchFamily="34" charset="0"/>
                <a:ea typeface="Calibri" pitchFamily="34" charset="-122"/>
                <a:cs typeface="Calibri" pitchFamily="34" charset="-120"/>
              </a:rPr>
              <a:t>brief.md for reading, brief.json for machines</a:t>
            </a:r>
            <a:endParaRPr lang="en-US" sz="1050" dirty="0"/>
          </a:p>
          <a:p>
            <a:pPr marL="342900" indent="-342900">
              <a:spcAft>
                <a:spcPts val="500"/>
              </a:spcAft>
              <a:buSzPct val="100000"/>
              <a:buChar char="•"/>
            </a:pPr>
            <a:r>
              <a:rPr lang="en-US" sz="1050" dirty="0">
                <a:solidFill>
                  <a:srgbClr val="1F3A3D"/>
                </a:solidFill>
                <a:latin typeface="Calibri" pitchFamily="34" charset="0"/>
                <a:ea typeface="Calibri" pitchFamily="34" charset="-122"/>
                <a:cs typeface="Calibri" pitchFamily="34" charset="-120"/>
              </a:rPr>
              <a:t>Numbered papers; notes, themes and references share the numbering</a:t>
            </a:r>
            <a:endParaRPr lang="en-US" sz="1050" dirty="0"/>
          </a:p>
          <a:p>
            <a:pPr marL="342900" indent="-342900">
              <a:spcAft>
                <a:spcPts val="500"/>
              </a:spcAft>
              <a:buSzPct val="100000"/>
              <a:buChar char="•"/>
            </a:pPr>
            <a:r>
              <a:rPr lang="en-US" sz="1050" dirty="0">
                <a:solidFill>
                  <a:srgbClr val="1F3A3D"/>
                </a:solidFill>
                <a:latin typeface="Calibri" pitchFamily="34" charset="0"/>
                <a:ea typeface="Calibri" pitchFamily="34" charset="-122"/>
                <a:cs typeface="Calibri" pitchFamily="34" charset="-120"/>
              </a:rPr>
              <a:t>run.log records every decision the agents made</a:t>
            </a:r>
            <a:endParaRPr lang="en-US" sz="1050" dirty="0"/>
          </a:p>
        </p:txBody>
      </p:sp>
      <p:sp>
        <p:nvSpPr>
          <p:cNvPr id="30" name="Text 28"/>
          <p:cNvSpPr txBox="1"/>
          <p:nvPr/>
        </p:nvSpPr>
        <p:spPr>
          <a:xfrm>
            <a:off x="8138160" y="4754880"/>
            <a:ext cx="640080" cy="274320"/>
          </a:xfrm>
          <a:prstGeom prst="rect">
            <a:avLst/>
          </a:prstGeom>
          <a:noFill/>
          <a:ln/>
        </p:spPr>
        <p:txBody>
          <a:bodyPr wrap="square" lIns="0" tIns="0" rIns="0" bIns="0" rtlCol="0" anchor="ctr"/>
          <a:lstStyle/>
          <a:p>
            <a:pPr algn="r" indent="0" marL="0">
              <a:buNone/>
            </a:pPr>
            <a:r>
              <a:rPr lang="en-US" sz="900" dirty="0">
                <a:solidFill>
                  <a:srgbClr val="5F6F70"/>
                </a:solidFill>
                <a:latin typeface="Calibri" pitchFamily="34" charset="0"/>
                <a:ea typeface="Calibri" pitchFamily="34" charset="-122"/>
                <a:cs typeface="Calibri" pitchFamily="34" charset="-120"/>
              </a:rPr>
              <a:t>4 / 10</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3000" b="1" dirty="0">
                <a:solidFill>
                  <a:srgbClr val="1F3A3D"/>
                </a:solidFill>
                <a:latin typeface="Cambria" pitchFamily="34" charset="0"/>
                <a:ea typeface="Cambria" pitchFamily="34" charset="-122"/>
                <a:cs typeface="Cambria" pitchFamily="34" charset="-120"/>
              </a:rPr>
              <a:t>Demo 1 - planning and the first review</a:t>
            </a:r>
            <a:endParaRPr lang="en-US" sz="3000" dirty="0"/>
          </a:p>
        </p:txBody>
      </p:sp>
      <p:pic>
        <p:nvPicPr>
          <p:cNvPr id="3" name="Image 0" descr="/sessions/kind-adoring-hypatia/mnt/outputs/deck/demo1_review1.png">    </p:cNvPr>
          <p:cNvPicPr>
            <a:picLocks noChangeAspect="1"/>
          </p:cNvPicPr>
          <p:nvPr/>
        </p:nvPicPr>
        <p:blipFill>
          <a:blip r:embed="rId1"/>
          <a:stretch>
            <a:fillRect/>
          </a:stretch>
        </p:blipFill>
        <p:spPr>
          <a:xfrm>
            <a:off x="457200" y="1097280"/>
            <a:ext cx="8229600" cy="1805940"/>
          </a:xfrm>
          <a:prstGeom prst="rect">
            <a:avLst/>
          </a:prstGeom>
        </p:spPr>
      </p:pic>
      <p:sp>
        <p:nvSpPr>
          <p:cNvPr id="4" name="Shape 1"/>
          <p:cNvSpPr/>
          <p:nvPr/>
        </p:nvSpPr>
        <p:spPr>
          <a:xfrm>
            <a:off x="457200" y="3017520"/>
            <a:ext cx="2560320" cy="1600200"/>
          </a:xfrm>
          <a:prstGeom prst="roundRect">
            <a:avLst>
              <a:gd name="adj" fmla="val 4571"/>
            </a:avLst>
          </a:prstGeom>
          <a:solidFill>
            <a:srgbClr val="F7F9F9"/>
          </a:solidFill>
          <a:ln w="9525">
            <a:solidFill>
              <a:srgbClr val="DDE4E3"/>
            </a:solidFill>
            <a:prstDash val="solid"/>
          </a:ln>
        </p:spPr>
      </p:sp>
      <p:sp>
        <p:nvSpPr>
          <p:cNvPr id="5" name="Text 2"/>
          <p:cNvSpPr txBox="1"/>
          <p:nvPr/>
        </p:nvSpPr>
        <p:spPr>
          <a:xfrm>
            <a:off x="594360" y="3108960"/>
            <a:ext cx="2286000" cy="457200"/>
          </a:xfrm>
          <a:prstGeom prst="rect">
            <a:avLst/>
          </a:prstGeom>
          <a:noFill/>
          <a:ln/>
        </p:spPr>
        <p:txBody>
          <a:bodyPr wrap="square" lIns="0" tIns="0" rIns="0" bIns="0" rtlCol="0" anchor="t"/>
          <a:lstStyle/>
          <a:p>
            <a:pPr indent="0" marL="0">
              <a:buNone/>
            </a:pPr>
            <a:r>
              <a:rPr lang="en-US" sz="1150" b="1" dirty="0">
                <a:solidFill>
                  <a:srgbClr val="1F3A3D"/>
                </a:solidFill>
                <a:latin typeface="Calibri" pitchFamily="34" charset="0"/>
                <a:ea typeface="Calibri" pitchFamily="34" charset="-122"/>
                <a:cs typeface="Calibri" pitchFamily="34" charset="-120"/>
              </a:rPr>
              <a:t>The plan is shown before anything is searched</a:t>
            </a:r>
            <a:endParaRPr lang="en-US" sz="1150" dirty="0"/>
          </a:p>
        </p:txBody>
      </p:sp>
      <p:sp>
        <p:nvSpPr>
          <p:cNvPr id="6" name="Text 3"/>
          <p:cNvSpPr txBox="1"/>
          <p:nvPr/>
        </p:nvSpPr>
        <p:spPr>
          <a:xfrm>
            <a:off x="594360" y="3566160"/>
            <a:ext cx="2286000" cy="1005840"/>
          </a:xfrm>
          <a:prstGeom prst="rect">
            <a:avLst/>
          </a:prstGeom>
          <a:noFill/>
          <a:ln/>
        </p:spPr>
        <p:txBody>
          <a:bodyPr wrap="square" lIns="0" tIns="0" rIns="0" bIns="0" rtlCol="0" anchor="t"/>
          <a:lstStyle/>
          <a:p>
            <a:pPr indent="0" marL="0">
              <a:buNone/>
            </a:pPr>
            <a:r>
              <a:rPr lang="en-US" sz="1000" dirty="0">
                <a:solidFill>
                  <a:srgbClr val="5F6F70"/>
                </a:solidFill>
                <a:latin typeface="Calibri" pitchFamily="34" charset="0"/>
                <a:ea typeface="Calibri" pitchFamily="34" charset="-122"/>
                <a:cs typeface="Calibri" pitchFamily="34" charset="-120"/>
              </a:rPr>
              <a:t>Interpretation, four sub-questions, one query each - the researcher sees exactly what will be searched.</a:t>
            </a:r>
            <a:endParaRPr lang="en-US" sz="1000" dirty="0"/>
          </a:p>
        </p:txBody>
      </p:sp>
      <p:sp>
        <p:nvSpPr>
          <p:cNvPr id="7" name="Shape 4"/>
          <p:cNvSpPr/>
          <p:nvPr/>
        </p:nvSpPr>
        <p:spPr>
          <a:xfrm>
            <a:off x="3291840" y="3017520"/>
            <a:ext cx="2560320" cy="1600200"/>
          </a:xfrm>
          <a:prstGeom prst="roundRect">
            <a:avLst>
              <a:gd name="adj" fmla="val 4571"/>
            </a:avLst>
          </a:prstGeom>
          <a:solidFill>
            <a:srgbClr val="F7F9F9"/>
          </a:solidFill>
          <a:ln w="9525">
            <a:solidFill>
              <a:srgbClr val="DDE4E3"/>
            </a:solidFill>
            <a:prstDash val="solid"/>
          </a:ln>
        </p:spPr>
      </p:sp>
      <p:sp>
        <p:nvSpPr>
          <p:cNvPr id="8" name="Text 5"/>
          <p:cNvSpPr txBox="1"/>
          <p:nvPr/>
        </p:nvSpPr>
        <p:spPr>
          <a:xfrm>
            <a:off x="3429000" y="3108960"/>
            <a:ext cx="2286000" cy="457200"/>
          </a:xfrm>
          <a:prstGeom prst="rect">
            <a:avLst/>
          </a:prstGeom>
          <a:noFill/>
          <a:ln/>
        </p:spPr>
        <p:txBody>
          <a:bodyPr wrap="square" lIns="0" tIns="0" rIns="0" bIns="0" rtlCol="0" anchor="t"/>
          <a:lstStyle/>
          <a:p>
            <a:pPr indent="0" marL="0">
              <a:buNone/>
            </a:pPr>
            <a:r>
              <a:rPr lang="en-US" sz="1150" b="1" dirty="0">
                <a:solidFill>
                  <a:srgbClr val="1F3A3D"/>
                </a:solidFill>
                <a:latin typeface="Calibri" pitchFamily="34" charset="0"/>
                <a:ea typeface="Calibri" pitchFamily="34" charset="-122"/>
                <a:cs typeface="Calibri" pitchFamily="34" charset="-120"/>
              </a:rPr>
              <a:t>Revision costs nothing</a:t>
            </a:r>
            <a:endParaRPr lang="en-US" sz="1150" dirty="0"/>
          </a:p>
        </p:txBody>
      </p:sp>
      <p:sp>
        <p:nvSpPr>
          <p:cNvPr id="9" name="Text 6"/>
          <p:cNvSpPr txBox="1"/>
          <p:nvPr/>
        </p:nvSpPr>
        <p:spPr>
          <a:xfrm>
            <a:off x="3429000" y="3566160"/>
            <a:ext cx="2286000" cy="1005840"/>
          </a:xfrm>
          <a:prstGeom prst="rect">
            <a:avLst/>
          </a:prstGeom>
          <a:noFill/>
          <a:ln/>
        </p:spPr>
        <p:txBody>
          <a:bodyPr wrap="square" lIns="0" tIns="0" rIns="0" bIns="0" rtlCol="0" anchor="t"/>
          <a:lstStyle/>
          <a:p>
            <a:pPr indent="0" marL="0">
              <a:buNone/>
            </a:pPr>
            <a:r>
              <a:rPr lang="en-US" sz="1000" dirty="0">
                <a:solidFill>
                  <a:srgbClr val="5F6F70"/>
                </a:solidFill>
                <a:latin typeface="Calibri" pitchFamily="34" charset="0"/>
                <a:ea typeface="Calibri" pitchFamily="34" charset="-122"/>
                <a:cs typeface="Calibri" pitchFamily="34" charset="-120"/>
              </a:rPr>
              <a:t>At this point no quota has been spent, so the review loop is unlimited. Feedback in a sentence produces a new plan.</a:t>
            </a:r>
            <a:endParaRPr lang="en-US" sz="1000" dirty="0"/>
          </a:p>
        </p:txBody>
      </p:sp>
      <p:sp>
        <p:nvSpPr>
          <p:cNvPr id="10" name="Shape 7"/>
          <p:cNvSpPr/>
          <p:nvPr/>
        </p:nvSpPr>
        <p:spPr>
          <a:xfrm>
            <a:off x="6126480" y="3017520"/>
            <a:ext cx="2560320" cy="1600200"/>
          </a:xfrm>
          <a:prstGeom prst="roundRect">
            <a:avLst>
              <a:gd name="adj" fmla="val 4571"/>
            </a:avLst>
          </a:prstGeom>
          <a:solidFill>
            <a:srgbClr val="F7F9F9"/>
          </a:solidFill>
          <a:ln w="9525">
            <a:solidFill>
              <a:srgbClr val="DDE4E3"/>
            </a:solidFill>
            <a:prstDash val="solid"/>
          </a:ln>
        </p:spPr>
      </p:sp>
      <p:sp>
        <p:nvSpPr>
          <p:cNvPr id="11" name="Text 8"/>
          <p:cNvSpPr txBox="1"/>
          <p:nvPr/>
        </p:nvSpPr>
        <p:spPr>
          <a:xfrm>
            <a:off x="6263640" y="3108960"/>
            <a:ext cx="2286000" cy="457200"/>
          </a:xfrm>
          <a:prstGeom prst="rect">
            <a:avLst/>
          </a:prstGeom>
          <a:noFill/>
          <a:ln/>
        </p:spPr>
        <p:txBody>
          <a:bodyPr wrap="square" lIns="0" tIns="0" rIns="0" bIns="0" rtlCol="0" anchor="t"/>
          <a:lstStyle/>
          <a:p>
            <a:pPr indent="0" marL="0">
              <a:buNone/>
            </a:pPr>
            <a:r>
              <a:rPr lang="en-US" sz="1150" b="1" dirty="0">
                <a:solidFill>
                  <a:srgbClr val="1F3A3D"/>
                </a:solidFill>
                <a:latin typeface="Calibri" pitchFamily="34" charset="0"/>
                <a:ea typeface="Calibri" pitchFamily="34" charset="-122"/>
                <a:cs typeface="Calibri" pitchFamily="34" charset="-120"/>
              </a:rPr>
              <a:t>Constraints travel with every prompt</a:t>
            </a:r>
            <a:endParaRPr lang="en-US" sz="1150" dirty="0"/>
          </a:p>
        </p:txBody>
      </p:sp>
      <p:sp>
        <p:nvSpPr>
          <p:cNvPr id="12" name="Text 9"/>
          <p:cNvSpPr txBox="1"/>
          <p:nvPr/>
        </p:nvSpPr>
        <p:spPr>
          <a:xfrm>
            <a:off x="6263640" y="3566160"/>
            <a:ext cx="2286000" cy="1005840"/>
          </a:xfrm>
          <a:prstGeom prst="rect">
            <a:avLst/>
          </a:prstGeom>
          <a:noFill/>
          <a:ln/>
        </p:spPr>
        <p:txBody>
          <a:bodyPr wrap="square" lIns="0" tIns="0" rIns="0" bIns="0" rtlCol="0" anchor="t"/>
          <a:lstStyle/>
          <a:p>
            <a:pPr indent="0" marL="0">
              <a:buNone/>
            </a:pPr>
            <a:r>
              <a:rPr lang="en-US" sz="1000" dirty="0">
                <a:solidFill>
                  <a:srgbClr val="5F6F70"/>
                </a:solidFill>
                <a:latin typeface="Calibri" pitchFamily="34" charset="0"/>
                <a:ea typeface="Calibri" pitchFamily="34" charset="-122"/>
                <a:cs typeface="Calibri" pitchFamily="34" charset="-120"/>
              </a:rPr>
              <a:t>User constraints are re-applied on each call, not left in the model's memory - so they cannot be forgotten.</a:t>
            </a:r>
            <a:endParaRPr lang="en-US" sz="1000" dirty="0"/>
          </a:p>
        </p:txBody>
      </p:sp>
      <p:sp>
        <p:nvSpPr>
          <p:cNvPr id="13" name="Text 10"/>
          <p:cNvSpPr txBox="1"/>
          <p:nvPr/>
        </p:nvSpPr>
        <p:spPr>
          <a:xfrm>
            <a:off x="8138160" y="4754880"/>
            <a:ext cx="640080" cy="274320"/>
          </a:xfrm>
          <a:prstGeom prst="rect">
            <a:avLst/>
          </a:prstGeom>
          <a:noFill/>
          <a:ln/>
        </p:spPr>
        <p:txBody>
          <a:bodyPr wrap="square" lIns="0" tIns="0" rIns="0" bIns="0" rtlCol="0" anchor="ctr"/>
          <a:lstStyle/>
          <a:p>
            <a:pPr algn="r" indent="0" marL="0">
              <a:buNone/>
            </a:pPr>
            <a:r>
              <a:rPr lang="en-US" sz="900" dirty="0">
                <a:solidFill>
                  <a:srgbClr val="5F6F70"/>
                </a:solidFill>
                <a:latin typeface="Calibri" pitchFamily="34" charset="0"/>
                <a:ea typeface="Calibri" pitchFamily="34" charset="-122"/>
                <a:cs typeface="Calibri" pitchFamily="34" charset="-120"/>
              </a:rPr>
              <a:t>5 / 10</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3000" b="1" dirty="0">
                <a:solidFill>
                  <a:srgbClr val="1F3A3D"/>
                </a:solidFill>
                <a:latin typeface="Cambria" pitchFamily="34" charset="0"/>
                <a:ea typeface="Cambria" pitchFamily="34" charset="-122"/>
                <a:cs typeface="Cambria" pitchFamily="34" charset="-120"/>
              </a:rPr>
              <a:t>Demo 2 - two sources, verify, score, retry once</a:t>
            </a:r>
            <a:endParaRPr lang="en-US" sz="3000" dirty="0"/>
          </a:p>
        </p:txBody>
      </p:sp>
      <p:pic>
        <p:nvPicPr>
          <p:cNvPr id="3" name="Image 0" descr="/sessions/kind-adoring-hypatia/mnt/outputs/deck/demo2_scoring.png">    </p:cNvPr>
          <p:cNvPicPr>
            <a:picLocks noChangeAspect="1"/>
          </p:cNvPicPr>
          <p:nvPr/>
        </p:nvPicPr>
        <p:blipFill>
          <a:blip r:embed="rId1"/>
          <a:stretch>
            <a:fillRect/>
          </a:stretch>
        </p:blipFill>
        <p:spPr>
          <a:xfrm>
            <a:off x="457200" y="1097280"/>
            <a:ext cx="5669280" cy="1616659"/>
          </a:xfrm>
          <a:prstGeom prst="rect">
            <a:avLst/>
          </a:prstGeom>
        </p:spPr>
      </p:pic>
      <p:sp>
        <p:nvSpPr>
          <p:cNvPr id="4" name="Shape 1"/>
          <p:cNvSpPr/>
          <p:nvPr/>
        </p:nvSpPr>
        <p:spPr>
          <a:xfrm>
            <a:off x="457200" y="2788920"/>
            <a:ext cx="5669280" cy="1481328"/>
          </a:xfrm>
          <a:prstGeom prst="roundRect">
            <a:avLst>
              <a:gd name="adj" fmla="val 3704"/>
            </a:avLst>
          </a:prstGeom>
          <a:solidFill>
            <a:srgbClr val="17292B"/>
          </a:solidFill>
          <a:ln w="12700">
            <a:solidFill>
              <a:srgbClr val="17292B"/>
            </a:solidFill>
            <a:prstDash val="solid"/>
          </a:ln>
        </p:spPr>
      </p:sp>
      <p:sp>
        <p:nvSpPr>
          <p:cNvPr id="5" name="Text 2"/>
          <p:cNvSpPr txBox="1"/>
          <p:nvPr/>
        </p:nvSpPr>
        <p:spPr>
          <a:xfrm>
            <a:off x="566928" y="2862072"/>
            <a:ext cx="5449824" cy="1335024"/>
          </a:xfrm>
          <a:prstGeom prst="rect">
            <a:avLst/>
          </a:prstGeom>
          <a:noFill/>
          <a:ln/>
        </p:spPr>
        <p:txBody>
          <a:bodyPr wrap="square" lIns="0" tIns="0" rIns="0" bIns="0" rtlCol="0" anchor="t"/>
          <a:lstStyle/>
          <a:p>
            <a:pPr indent="0" marL="0">
              <a:buNone/>
            </a:pPr>
            <a:r>
              <a:rPr lang="en-US" sz="720" dirty="0">
                <a:solidFill>
                  <a:srgbClr val="8FB3AE"/>
                </a:solidFill>
                <a:latin typeface="Courier New" pitchFamily="34" charset="0"/>
                <a:ea typeface="Courier New" pitchFamily="34" charset="-122"/>
                <a:cs typeface="Courier New" pitchFamily="34" charset="-120"/>
              </a:rPr>
              <a:t># run.log, 30 Sept 10:11-10:15 (abridged)</a:t>
            </a:r>
            <a:endParaRPr lang="en-US" sz="720" dirty="0"/>
          </a:p>
          <a:p>
            <a:pPr indent="0" marL="0">
              <a:buNone/>
            </a:pPr>
            <a:r>
              <a:rPr lang="en-US" sz="720" dirty="0">
                <a:solidFill>
                  <a:srgbClr val="E6EFEE"/>
                </a:solidFill>
                <a:latin typeface="Courier New" pitchFamily="34" charset="0"/>
                <a:ea typeface="Courier New" pitchFamily="34" charset="-122"/>
                <a:cs typeface="Courier New" pitchFamily="34" charset="-120"/>
              </a:rPr>
              <a:t>retrieval | retrieving | subquestion=1 | sources=openalex,semanticscholar</a:t>
            </a:r>
            <a:endParaRPr lang="en-US" sz="720" dirty="0"/>
          </a:p>
          <a:p>
            <a:pPr indent="0" marL="0">
              <a:buNone/>
            </a:pPr>
            <a:r>
              <a:rPr lang="en-US" sz="720" dirty="0">
                <a:solidFill>
                  <a:srgbClr val="E6EFEE"/>
                </a:solidFill>
                <a:latin typeface="Courier New" pitchFamily="34" charset="0"/>
                <a:ea typeface="Courier New" pitchFamily="34" charset="-122"/>
                <a:cs typeface="Courier New" pitchFamily="34" charset="-120"/>
              </a:rPr>
              <a:t>retrieval | retrieved  | subquestion=1 | source=openalex | records=20 | with_abstract=20</a:t>
            </a:r>
            <a:endParaRPr lang="en-US" sz="720" dirty="0"/>
          </a:p>
          <a:p>
            <a:pPr indent="0" marL="0">
              <a:buNone/>
            </a:pPr>
            <a:r>
              <a:rPr lang="en-US" sz="720" dirty="0">
                <a:solidFill>
                  <a:srgbClr val="E6EFEE"/>
                </a:solidFill>
                <a:latin typeface="Courier New" pitchFamily="34" charset="0"/>
                <a:ea typeface="Courier New" pitchFamily="34" charset="-122"/>
                <a:cs typeface="Courier New" pitchFamily="34" charset="-120"/>
              </a:rPr>
              <a:t>http      | semanticscholar | HTTP 429 (transient) - retry 4/4 in 24s</a:t>
            </a:r>
            <a:endParaRPr lang="en-US" sz="720" dirty="0"/>
          </a:p>
          <a:p>
            <a:pPr indent="0" marL="0">
              <a:buNone/>
            </a:pPr>
            <a:r>
              <a:rPr lang="en-US" sz="720" dirty="0">
                <a:solidFill>
                  <a:srgbClr val="E6EFEE"/>
                </a:solidFill>
                <a:latin typeface="Courier New" pitchFamily="34" charset="0"/>
                <a:ea typeface="Courier New" pitchFamily="34" charset="-122"/>
                <a:cs typeface="Courier New" pitchFamily="34" charset="-120"/>
              </a:rPr>
              <a:t>retrieval | subquestion=1 | source=semanticscholar failed (... after 4 retries</a:t>
            </a:r>
            <a:endParaRPr lang="en-US" sz="720" dirty="0"/>
          </a:p>
          <a:p>
            <a:pPr indent="0" marL="0">
              <a:buNone/>
            </a:pPr>
            <a:r>
              <a:rPr lang="en-US" sz="720" dirty="0">
                <a:solidFill>
                  <a:srgbClr val="E6EFEE"/>
                </a:solidFill>
                <a:latin typeface="Courier New" pitchFamily="34" charset="0"/>
                <a:ea typeface="Courier New" pitchFamily="34" charset="-122"/>
                <a:cs typeface="Courier New" pitchFamily="34" charset="-120"/>
              </a:rPr>
              <a:t>            (last problem: HTTP 429)) - continuing with remaining sources</a:t>
            </a:r>
            <a:endParaRPr lang="en-US" sz="720" dirty="0"/>
          </a:p>
          <a:p>
            <a:pPr indent="0" marL="0">
              <a:buNone/>
            </a:pPr>
            <a:r>
              <a:rPr lang="en-US" sz="720" dirty="0">
                <a:solidFill>
                  <a:srgbClr val="E6EFEE"/>
                </a:solidFill>
                <a:latin typeface="Courier New" pitchFamily="34" charset="0"/>
                <a:ea typeface="Courier New" pitchFamily="34" charset="-122"/>
                <a:cs typeface="Courier New" pitchFamily="34" charset="-120"/>
              </a:rPr>
              <a:t>orchestr. | threshold | subquestion=4 | returned 8 records but only 2 were relevant</a:t>
            </a:r>
            <a:endParaRPr lang="en-US" sz="720" dirty="0"/>
          </a:p>
          <a:p>
            <a:pPr indent="0" marL="0">
              <a:buNone/>
            </a:pPr>
            <a:r>
              <a:rPr lang="en-US" sz="720" dirty="0">
                <a:solidFill>
                  <a:srgbClr val="E6EFEE"/>
                </a:solidFill>
                <a:latin typeface="Courier New" pitchFamily="34" charset="0"/>
                <a:ea typeface="Courier New" pitchFamily="34" charset="-122"/>
                <a:cs typeface="Courier New" pitchFamily="34" charset="-120"/>
              </a:rPr>
              <a:t>            (minimum 5) | reformulating (1 of 1 allowed)</a:t>
            </a:r>
            <a:endParaRPr lang="en-US" sz="720" dirty="0"/>
          </a:p>
          <a:p>
            <a:pPr indent="0" marL="0">
              <a:buNone/>
            </a:pPr>
            <a:r>
              <a:rPr lang="en-US" sz="720" dirty="0">
                <a:solidFill>
                  <a:srgbClr val="E6EFEE"/>
                </a:solidFill>
                <a:latin typeface="Courier New" pitchFamily="34" charset="0"/>
                <a:ea typeface="Courier New" pitchFamily="34" charset="-122"/>
                <a:cs typeface="Courier New" pitchFamily="34" charset="-120"/>
              </a:rPr>
              <a:t>retrieval | retrieved | subquestion=4 | sources_answered=openalex,semanticscholar | records=40</a:t>
            </a:r>
            <a:endParaRPr lang="en-US" sz="720" dirty="0"/>
          </a:p>
          <a:p>
            <a:pPr indent="0" marL="0">
              <a:buNone/>
            </a:pPr>
            <a:r>
              <a:rPr lang="en-US" sz="720" dirty="0">
                <a:solidFill>
                  <a:srgbClr val="E6EFEE"/>
                </a:solidFill>
                <a:latin typeface="Courier New" pitchFamily="34" charset="0"/>
                <a:ea typeface="Courier New" pitchFamily="34" charset="-122"/>
                <a:cs typeface="Courier New" pitchFamily="34" charset="-120"/>
              </a:rPr>
              <a:t>orchestr. | threshold | subquestion=4 | after reformulation: 33 new records, 20 relevant</a:t>
            </a:r>
            <a:endParaRPr lang="en-US" sz="720" dirty="0"/>
          </a:p>
        </p:txBody>
      </p:sp>
      <p:sp>
        <p:nvSpPr>
          <p:cNvPr id="6" name="Text 3"/>
          <p:cNvSpPr txBox="1"/>
          <p:nvPr/>
        </p:nvSpPr>
        <p:spPr>
          <a:xfrm>
            <a:off x="457200" y="4315968"/>
            <a:ext cx="5669280" cy="365760"/>
          </a:xfrm>
          <a:prstGeom prst="rect">
            <a:avLst/>
          </a:prstGeom>
          <a:noFill/>
          <a:ln/>
        </p:spPr>
        <p:txBody>
          <a:bodyPr wrap="square" lIns="0" tIns="0" rIns="0" bIns="0" rtlCol="0" anchor="t"/>
          <a:lstStyle/>
          <a:p>
            <a:pPr indent="0" marL="0">
              <a:buNone/>
            </a:pPr>
            <a:r>
              <a:rPr lang="en-US" sz="950" i="1" dirty="0">
                <a:solidFill>
                  <a:srgbClr val="5F6F70"/>
                </a:solidFill>
                <a:latin typeface="Calibri" pitchFamily="34" charset="0"/>
                <a:ea typeface="Calibri" pitchFamily="34" charset="-122"/>
                <a:cs typeface="Calibri" pitchFamily="34" charset="-120"/>
              </a:rPr>
              <a:t>Above: one score per paper with its reason.  Below: a source failing over, and the single automatic retry with both sources answering.</a:t>
            </a:r>
            <a:endParaRPr lang="en-US" sz="950" dirty="0"/>
          </a:p>
        </p:txBody>
      </p:sp>
      <p:sp>
        <p:nvSpPr>
          <p:cNvPr id="7" name="Shape 4"/>
          <p:cNvSpPr/>
          <p:nvPr/>
        </p:nvSpPr>
        <p:spPr>
          <a:xfrm>
            <a:off x="6400800" y="1097280"/>
            <a:ext cx="2286000" cy="3520440"/>
          </a:xfrm>
          <a:prstGeom prst="roundRect">
            <a:avLst>
              <a:gd name="adj" fmla="val 3200"/>
            </a:avLst>
          </a:prstGeom>
          <a:solidFill>
            <a:srgbClr val="EEF3F2"/>
          </a:solidFill>
          <a:ln w="9525">
            <a:solidFill>
              <a:srgbClr val="DDE4E3"/>
            </a:solidFill>
            <a:prstDash val="solid"/>
          </a:ln>
        </p:spPr>
      </p:sp>
      <p:sp>
        <p:nvSpPr>
          <p:cNvPr id="8" name="Text 5"/>
          <p:cNvSpPr txBox="1"/>
          <p:nvPr/>
        </p:nvSpPr>
        <p:spPr>
          <a:xfrm>
            <a:off x="6492240" y="1188720"/>
            <a:ext cx="2103120" cy="365760"/>
          </a:xfrm>
          <a:prstGeom prst="rect">
            <a:avLst/>
          </a:prstGeom>
          <a:noFill/>
          <a:ln/>
        </p:spPr>
        <p:txBody>
          <a:bodyPr wrap="square" lIns="0" tIns="0" rIns="0" bIns="0" rtlCol="0" anchor="ctr"/>
          <a:lstStyle/>
          <a:p>
            <a:pPr indent="0" marL="0">
              <a:buNone/>
            </a:pPr>
            <a:r>
              <a:rPr lang="en-US" sz="1900" b="1" dirty="0">
                <a:solidFill>
                  <a:srgbClr val="1F3A3D"/>
                </a:solidFill>
                <a:latin typeface="Cambria" pitchFamily="34" charset="0"/>
                <a:ea typeface="Cambria" pitchFamily="34" charset="-122"/>
                <a:cs typeface="Cambria" pitchFamily="34" charset="-120"/>
              </a:rPr>
              <a:t>140 → 117</a:t>
            </a:r>
            <a:endParaRPr lang="en-US" sz="1900" dirty="0"/>
          </a:p>
        </p:txBody>
      </p:sp>
      <p:sp>
        <p:nvSpPr>
          <p:cNvPr id="9" name="Text 6"/>
          <p:cNvSpPr txBox="1"/>
          <p:nvPr/>
        </p:nvSpPr>
        <p:spPr>
          <a:xfrm>
            <a:off x="6492240" y="1554480"/>
            <a:ext cx="2103120" cy="502920"/>
          </a:xfrm>
          <a:prstGeom prst="rect">
            <a:avLst/>
          </a:prstGeom>
          <a:noFill/>
          <a:ln/>
        </p:spPr>
        <p:txBody>
          <a:bodyPr wrap="square" lIns="0" tIns="0" rIns="0" bIns="0" rtlCol="0" anchor="t"/>
          <a:lstStyle/>
          <a:p>
            <a:pPr indent="0" marL="0">
              <a:buNone/>
            </a:pPr>
            <a:r>
              <a:rPr lang="en-US" sz="950" dirty="0">
                <a:solidFill>
                  <a:srgbClr val="5F6F70"/>
                </a:solidFill>
                <a:latin typeface="Calibri" pitchFamily="34" charset="0"/>
                <a:ea typeface="Calibri" pitchFamily="34" charset="-122"/>
                <a:cs typeface="Calibri" pitchFamily="34" charset="-120"/>
              </a:rPr>
              <a:t>records from 2 sources → unique papers</a:t>
            </a:r>
            <a:endParaRPr lang="en-US" sz="950" dirty="0"/>
          </a:p>
        </p:txBody>
      </p:sp>
      <p:sp>
        <p:nvSpPr>
          <p:cNvPr id="10" name="Text 7"/>
          <p:cNvSpPr txBox="1"/>
          <p:nvPr/>
        </p:nvSpPr>
        <p:spPr>
          <a:xfrm>
            <a:off x="6492240" y="2057400"/>
            <a:ext cx="2103120" cy="365760"/>
          </a:xfrm>
          <a:prstGeom prst="rect">
            <a:avLst/>
          </a:prstGeom>
          <a:noFill/>
          <a:ln/>
        </p:spPr>
        <p:txBody>
          <a:bodyPr wrap="square" lIns="0" tIns="0" rIns="0" bIns="0" rtlCol="0" anchor="ctr"/>
          <a:lstStyle/>
          <a:p>
            <a:pPr indent="0" marL="0">
              <a:buNone/>
            </a:pPr>
            <a:r>
              <a:rPr lang="en-US" sz="1900" b="1" dirty="0">
                <a:solidFill>
                  <a:srgbClr val="1F3A3D"/>
                </a:solidFill>
                <a:latin typeface="Cambria" pitchFamily="34" charset="0"/>
                <a:ea typeface="Cambria" pitchFamily="34" charset="-122"/>
                <a:cs typeface="Cambria" pitchFamily="34" charset="-120"/>
              </a:rPr>
              <a:t>78 / 117</a:t>
            </a:r>
            <a:endParaRPr lang="en-US" sz="1900" dirty="0"/>
          </a:p>
        </p:txBody>
      </p:sp>
      <p:sp>
        <p:nvSpPr>
          <p:cNvPr id="11" name="Text 8"/>
          <p:cNvSpPr txBox="1"/>
          <p:nvPr/>
        </p:nvSpPr>
        <p:spPr>
          <a:xfrm>
            <a:off x="6492240" y="2423160"/>
            <a:ext cx="2103120" cy="502920"/>
          </a:xfrm>
          <a:prstGeom prst="rect">
            <a:avLst/>
          </a:prstGeom>
          <a:noFill/>
          <a:ln/>
        </p:spPr>
        <p:txBody>
          <a:bodyPr wrap="square" lIns="0" tIns="0" rIns="0" bIns="0" rtlCol="0" anchor="t"/>
          <a:lstStyle/>
          <a:p>
            <a:pPr indent="0" marL="0">
              <a:buNone/>
            </a:pPr>
            <a:r>
              <a:rPr lang="en-US" sz="950" dirty="0">
                <a:solidFill>
                  <a:srgbClr val="5F6F70"/>
                </a:solidFill>
                <a:latin typeface="Calibri" pitchFamily="34" charset="0"/>
                <a:ea typeface="Calibri" pitchFamily="34" charset="-122"/>
                <a:cs typeface="Calibri" pitchFamily="34" charset="-120"/>
              </a:rPr>
              <a:t>DOIs registered in Crossref; the rest flagged, never dropped</a:t>
            </a:r>
            <a:endParaRPr lang="en-US" sz="950" dirty="0"/>
          </a:p>
        </p:txBody>
      </p:sp>
      <p:sp>
        <p:nvSpPr>
          <p:cNvPr id="12" name="Text 9"/>
          <p:cNvSpPr txBox="1"/>
          <p:nvPr/>
        </p:nvSpPr>
        <p:spPr>
          <a:xfrm>
            <a:off x="6492240" y="2926080"/>
            <a:ext cx="2103120" cy="365760"/>
          </a:xfrm>
          <a:prstGeom prst="rect">
            <a:avLst/>
          </a:prstGeom>
          <a:noFill/>
          <a:ln/>
        </p:spPr>
        <p:txBody>
          <a:bodyPr wrap="square" lIns="0" tIns="0" rIns="0" bIns="0" rtlCol="0" anchor="ctr"/>
          <a:lstStyle/>
          <a:p>
            <a:pPr indent="0" marL="0">
              <a:buNone/>
            </a:pPr>
            <a:r>
              <a:rPr lang="en-US" sz="1900" b="1" dirty="0">
                <a:solidFill>
                  <a:srgbClr val="1F3A3D"/>
                </a:solidFill>
                <a:latin typeface="Cambria" pitchFamily="34" charset="0"/>
                <a:ea typeface="Cambria" pitchFamily="34" charset="-122"/>
                <a:cs typeface="Cambria" pitchFamily="34" charset="-120"/>
              </a:rPr>
              <a:t>77 kept</a:t>
            </a:r>
            <a:endParaRPr lang="en-US" sz="1900" dirty="0"/>
          </a:p>
        </p:txBody>
      </p:sp>
      <p:sp>
        <p:nvSpPr>
          <p:cNvPr id="13" name="Text 10"/>
          <p:cNvSpPr txBox="1"/>
          <p:nvPr/>
        </p:nvSpPr>
        <p:spPr>
          <a:xfrm>
            <a:off x="6492240" y="3291840"/>
            <a:ext cx="2103120" cy="502920"/>
          </a:xfrm>
          <a:prstGeom prst="rect">
            <a:avLst/>
          </a:prstGeom>
          <a:noFill/>
          <a:ln/>
        </p:spPr>
        <p:txBody>
          <a:bodyPr wrap="square" lIns="0" tIns="0" rIns="0" bIns="0" rtlCol="0" anchor="t"/>
          <a:lstStyle/>
          <a:p>
            <a:pPr indent="0" marL="0">
              <a:buNone/>
            </a:pPr>
            <a:r>
              <a:rPr lang="en-US" sz="950" dirty="0">
                <a:solidFill>
                  <a:srgbClr val="5F6F70"/>
                </a:solidFill>
                <a:latin typeface="Calibri" pitchFamily="34" charset="0"/>
                <a:ea typeface="Calibri" pitchFamily="34" charset="-122"/>
                <a:cs typeface="Calibri" pitchFamily="34" charset="-120"/>
              </a:rPr>
              <a:t>of 117 at cut-off 3/5, each with a reason</a:t>
            </a:r>
            <a:endParaRPr lang="en-US" sz="950" dirty="0"/>
          </a:p>
        </p:txBody>
      </p:sp>
      <p:sp>
        <p:nvSpPr>
          <p:cNvPr id="14" name="Text 11"/>
          <p:cNvSpPr txBox="1"/>
          <p:nvPr/>
        </p:nvSpPr>
        <p:spPr>
          <a:xfrm>
            <a:off x="6492240" y="3794760"/>
            <a:ext cx="2103120" cy="365760"/>
          </a:xfrm>
          <a:prstGeom prst="rect">
            <a:avLst/>
          </a:prstGeom>
          <a:noFill/>
          <a:ln/>
        </p:spPr>
        <p:txBody>
          <a:bodyPr wrap="square" lIns="0" tIns="0" rIns="0" bIns="0" rtlCol="0" anchor="ctr"/>
          <a:lstStyle/>
          <a:p>
            <a:pPr indent="0" marL="0">
              <a:buNone/>
            </a:pPr>
            <a:r>
              <a:rPr lang="en-US" sz="1900" b="1" dirty="0">
                <a:solidFill>
                  <a:srgbClr val="1F3A3D"/>
                </a:solidFill>
                <a:latin typeface="Cambria" pitchFamily="34" charset="0"/>
                <a:ea typeface="Cambria" pitchFamily="34" charset="-122"/>
                <a:cs typeface="Cambria" pitchFamily="34" charset="-120"/>
              </a:rPr>
              <a:t>2 → 22</a:t>
            </a:r>
            <a:endParaRPr lang="en-US" sz="1900" dirty="0"/>
          </a:p>
        </p:txBody>
      </p:sp>
      <p:sp>
        <p:nvSpPr>
          <p:cNvPr id="15" name="Text 12"/>
          <p:cNvSpPr txBox="1"/>
          <p:nvPr/>
        </p:nvSpPr>
        <p:spPr>
          <a:xfrm>
            <a:off x="6492240" y="4160520"/>
            <a:ext cx="2103120" cy="502920"/>
          </a:xfrm>
          <a:prstGeom prst="rect">
            <a:avLst/>
          </a:prstGeom>
          <a:noFill/>
          <a:ln/>
        </p:spPr>
        <p:txBody>
          <a:bodyPr wrap="square" lIns="0" tIns="0" rIns="0" bIns="0" rtlCol="0" anchor="t"/>
          <a:lstStyle/>
          <a:p>
            <a:pPr indent="0" marL="0">
              <a:buNone/>
            </a:pPr>
            <a:r>
              <a:rPr lang="en-US" sz="950" dirty="0">
                <a:solidFill>
                  <a:srgbClr val="5F6F70"/>
                </a:solidFill>
                <a:latin typeface="Calibri" pitchFamily="34" charset="0"/>
                <a:ea typeface="Calibri" pitchFamily="34" charset="-122"/>
                <a:cs typeface="Calibri" pitchFamily="34" charset="-120"/>
              </a:rPr>
              <a:t>relevant papers for sub-question 4 after the single retry (1 → 3 with one source)</a:t>
            </a:r>
            <a:endParaRPr lang="en-US" sz="950" dirty="0"/>
          </a:p>
        </p:txBody>
      </p:sp>
      <p:sp>
        <p:nvSpPr>
          <p:cNvPr id="16" name="Text 13"/>
          <p:cNvSpPr txBox="1"/>
          <p:nvPr/>
        </p:nvSpPr>
        <p:spPr>
          <a:xfrm>
            <a:off x="8138160" y="4754880"/>
            <a:ext cx="640080" cy="274320"/>
          </a:xfrm>
          <a:prstGeom prst="rect">
            <a:avLst/>
          </a:prstGeom>
          <a:noFill/>
          <a:ln/>
        </p:spPr>
        <p:txBody>
          <a:bodyPr wrap="square" lIns="0" tIns="0" rIns="0" bIns="0" rtlCol="0" anchor="ctr"/>
          <a:lstStyle/>
          <a:p>
            <a:pPr algn="r" indent="0" marL="0">
              <a:buNone/>
            </a:pPr>
            <a:r>
              <a:rPr lang="en-US" sz="900" dirty="0">
                <a:solidFill>
                  <a:srgbClr val="5F6F70"/>
                </a:solidFill>
                <a:latin typeface="Calibri" pitchFamily="34" charset="0"/>
                <a:ea typeface="Calibri" pitchFamily="34" charset="-122"/>
                <a:cs typeface="Calibri" pitchFamily="34" charset="-120"/>
              </a:rPr>
              <a:t>6 / 10</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3000" b="1" dirty="0">
                <a:solidFill>
                  <a:srgbClr val="1F3A3D"/>
                </a:solidFill>
                <a:latin typeface="Cambria" pitchFamily="34" charset="0"/>
                <a:ea typeface="Cambria" pitchFamily="34" charset="-122"/>
                <a:cs typeface="Cambria" pitchFamily="34" charset="-120"/>
              </a:rPr>
              <a:t>Demo 3 - the second review and the brief</a:t>
            </a:r>
            <a:endParaRPr lang="en-US" sz="3000" dirty="0"/>
          </a:p>
        </p:txBody>
      </p:sp>
      <p:sp>
        <p:nvSpPr>
          <p:cNvPr id="3" name="Shape 1"/>
          <p:cNvSpPr/>
          <p:nvPr/>
        </p:nvSpPr>
        <p:spPr>
          <a:xfrm>
            <a:off x="457200" y="1097280"/>
            <a:ext cx="4937760" cy="2286000"/>
          </a:xfrm>
          <a:prstGeom prst="roundRect">
            <a:avLst>
              <a:gd name="adj" fmla="val 2400"/>
            </a:avLst>
          </a:prstGeom>
          <a:solidFill>
            <a:srgbClr val="17292B"/>
          </a:solidFill>
          <a:ln w="12700">
            <a:solidFill>
              <a:srgbClr val="17292B"/>
            </a:solidFill>
            <a:prstDash val="solid"/>
          </a:ln>
        </p:spPr>
      </p:sp>
      <p:sp>
        <p:nvSpPr>
          <p:cNvPr id="4" name="Text 2"/>
          <p:cNvSpPr txBox="1"/>
          <p:nvPr/>
        </p:nvSpPr>
        <p:spPr>
          <a:xfrm>
            <a:off x="566928" y="1170432"/>
            <a:ext cx="4718304" cy="2139696"/>
          </a:xfrm>
          <a:prstGeom prst="rect">
            <a:avLst/>
          </a:prstGeom>
          <a:noFill/>
          <a:ln/>
        </p:spPr>
        <p:txBody>
          <a:bodyPr wrap="square" lIns="0" tIns="0" rIns="0" bIns="0" rtlCol="0" anchor="t"/>
          <a:lstStyle/>
          <a:p>
            <a:pPr indent="0" marL="0">
              <a:buNone/>
            </a:pPr>
            <a:r>
              <a:rPr lang="en-US" sz="700" dirty="0">
                <a:solidFill>
                  <a:srgbClr val="E6EFEE"/>
                </a:solidFill>
                <a:latin typeface="Courier New" pitchFamily="34" charset="0"/>
                <a:ea typeface="Courier New" pitchFamily="34" charset="-122"/>
                <a:cs typeface="Courier New" pitchFamily="34" charset="-120"/>
              </a:rPr>
              <a:t>=== Review 2: selected evidence ===</a:t>
            </a:r>
            <a:endParaRPr lang="en-US" sz="700" dirty="0"/>
          </a:p>
          <a:p>
            <a:pPr indent="0" marL="0">
              <a:buNone/>
            </a:pPr>
            <a:r>
              <a:rPr lang="en-US" sz="700" dirty="0">
                <a:solidFill>
                  <a:srgbClr val="E6EFEE"/>
                </a:solidFill>
                <a:latin typeface="Courier New" pitchFamily="34" charset="0"/>
                <a:ea typeface="Courier New" pitchFamily="34" charset="-122"/>
                <a:cs typeface="Courier New" pitchFamily="34" charset="-120"/>
              </a:rPr>
              <a:t>Sub-question 4: How are hallucination rates and factual accuracy evaluated</a:t>
            </a:r>
            <a:endParaRPr lang="en-US" sz="700" dirty="0"/>
          </a:p>
          <a:p>
            <a:pPr indent="0" marL="0">
              <a:buNone/>
            </a:pPr>
            <a:r>
              <a:rPr lang="en-US" sz="700" dirty="0">
                <a:solidFill>
                  <a:srgbClr val="E6EFEE"/>
                </a:solidFill>
                <a:latin typeface="Courier New" pitchFamily="34" charset="0"/>
                <a:ea typeface="Courier New" pitchFamily="34" charset="-122"/>
                <a:cs typeface="Courier New" pitchFamily="34" charset="-120"/>
              </a:rPr>
              <a:t>  in multi-step agent workflows? (query reformulated once: ... )</a:t>
            </a:r>
            <a:endParaRPr lang="en-US" sz="700" dirty="0"/>
          </a:p>
          <a:p>
            <a:pPr indent="0" marL="0">
              <a:buNone/>
            </a:pPr>
            <a:r>
              <a:rPr lang="en-US" sz="700" dirty="0">
                <a:solidFill>
                  <a:srgbClr val="E6EFEE"/>
                </a:solidFill>
                <a:latin typeface="Courier New" pitchFamily="34" charset="0"/>
                <a:ea typeface="Courier New" pitchFamily="34" charset="-122"/>
                <a:cs typeface="Courier New" pitchFamily="34" charset="-120"/>
              </a:rPr>
              <a:t>  65. [5/5] AgentHallu: Benchmarking Automated Hallucination Attribution of</a:t>
            </a:r>
            <a:endParaRPr lang="en-US" sz="700" dirty="0"/>
          </a:p>
          <a:p>
            <a:pPr indent="0" marL="0">
              <a:buNone/>
            </a:pPr>
            <a:r>
              <a:rPr lang="en-US" sz="700" dirty="0">
                <a:solidFill>
                  <a:srgbClr val="E6EFEE"/>
                </a:solidFill>
                <a:latin typeface="Courier New" pitchFamily="34" charset="0"/>
                <a:ea typeface="Courier New" pitchFamily="34" charset="-122"/>
                <a:cs typeface="Courier New" pitchFamily="34" charset="-120"/>
              </a:rPr>
              <a:t>            LLM-based Agents (2026) - DOI UNVERIFIED</a:t>
            </a:r>
            <a:endParaRPr lang="en-US" sz="700" dirty="0"/>
          </a:p>
          <a:p>
            <a:pPr indent="0" marL="0">
              <a:buNone/>
            </a:pPr>
            <a:r>
              <a:rPr lang="en-US" sz="700" dirty="0">
                <a:solidFill>
                  <a:srgbClr val="E6EFEE"/>
                </a:solidFill>
                <a:latin typeface="Courier New" pitchFamily="34" charset="0"/>
                <a:ea typeface="Courier New" pitchFamily="34" charset="-122"/>
                <a:cs typeface="Courier New" pitchFamily="34" charset="-120"/>
              </a:rPr>
              <a:t>  76. [5/5] From Output Errors to Workflow Harm: A Practitioner-Audit Method</a:t>
            </a:r>
            <a:endParaRPr lang="en-US" sz="700" dirty="0"/>
          </a:p>
          <a:p>
            <a:pPr indent="0" marL="0">
              <a:buNone/>
            </a:pPr>
            <a:r>
              <a:rPr lang="en-US" sz="700" dirty="0">
                <a:solidFill>
                  <a:srgbClr val="E6EFEE"/>
                </a:solidFill>
                <a:latin typeface="Courier New" pitchFamily="34" charset="0"/>
                <a:ea typeface="Courier New" pitchFamily="34" charset="-122"/>
                <a:cs typeface="Courier New" pitchFamily="34" charset="-120"/>
              </a:rPr>
              <a:t>            for LLM-Mediated Research (2026) - DOI verified</a:t>
            </a:r>
            <a:endParaRPr lang="en-US" sz="700" dirty="0"/>
          </a:p>
          <a:p>
            <a:pPr indent="0" marL="0">
              <a:buNone/>
            </a:pPr>
            <a:r>
              <a:rPr lang="en-US" sz="700" dirty="0">
                <a:solidFill>
                  <a:srgbClr val="E6EFEE"/>
                </a:solidFill>
                <a:latin typeface="Courier New" pitchFamily="34" charset="0"/>
                <a:ea typeface="Courier New" pitchFamily="34" charset="-122"/>
                <a:cs typeface="Courier New" pitchFamily="34" charset="-120"/>
              </a:rPr>
              <a:t>77 papers selected; 40 screened out (reasons are recorded in the brief).</a:t>
            </a:r>
            <a:endParaRPr lang="en-US" sz="700" dirty="0"/>
          </a:p>
          <a:p>
            <a:pPr indent="0" marL="0">
              <a:buNone/>
            </a:pPr>
            <a:r>
              <a:rPr lang="en-US" sz="700" dirty="0">
                <a:solidFill>
                  <a:srgbClr val="E6EFEE"/>
                </a:solidFill>
                <a:latin typeface="Courier New" pitchFamily="34" charset="0"/>
                <a:ea typeface="Courier New" pitchFamily="34" charset="-122"/>
                <a:cs typeface="Courier New" pitchFamily="34" charset="-120"/>
              </a:rPr>
              <a:t>Type 'approve' to write the brief, or 'drop 3, 7' ..., or 'reject' ...</a:t>
            </a:r>
            <a:endParaRPr lang="en-US" sz="700" dirty="0"/>
          </a:p>
          <a:p>
            <a:pPr indent="0" marL="0">
              <a:buNone/>
            </a:pPr>
            <a:r>
              <a:rPr lang="en-US" sz="700" dirty="0">
                <a:solidFill>
                  <a:srgbClr val="F2C572"/>
                </a:solidFill>
                <a:latin typeface="Courier New" pitchFamily="34" charset="0"/>
                <a:ea typeface="Courier New" pitchFamily="34" charset="-122"/>
                <a:cs typeface="Courier New" pitchFamily="34" charset="-120"/>
              </a:rPr>
              <a:t>&gt; approve</a:t>
            </a:r>
            <a:endParaRPr lang="en-US" sz="700" dirty="0"/>
          </a:p>
          <a:p>
            <a:pPr indent="0" marL="0">
              <a:buNone/>
            </a:pPr>
            <a:r>
              <a:rPr lang="en-US" sz="700" dirty="0">
                <a:solidFill>
                  <a:srgbClr val="E6EFEE"/>
                </a:solidFill>
                <a:latin typeface="Courier New" pitchFamily="34" charset="0"/>
                <a:ea typeface="Courier New" pitchFamily="34" charset="-122"/>
                <a:cs typeface="Courier New" pitchFamily="34" charset="-120"/>
              </a:rPr>
              <a:t>evaluation   | summarising | subquestion=4 | batch=1/3 | papers=10</a:t>
            </a:r>
            <a:endParaRPr lang="en-US" sz="700" dirty="0"/>
          </a:p>
          <a:p>
            <a:pPr indent="0" marL="0">
              <a:buNone/>
            </a:pPr>
            <a:r>
              <a:rPr lang="en-US" sz="700" dirty="0">
                <a:solidFill>
                  <a:srgbClr val="E6EFEE"/>
                </a:solidFill>
                <a:latin typeface="Courier New" pitchFamily="34" charset="0"/>
                <a:ea typeface="Courier New" pitchFamily="34" charset="-122"/>
                <a:cs typeface="Courier New" pitchFamily="34" charset="-120"/>
              </a:rPr>
              <a:t>evaluation   | summarised | papers=77</a:t>
            </a:r>
            <a:endParaRPr lang="en-US" sz="700" dirty="0"/>
          </a:p>
          <a:p>
            <a:pPr indent="0" marL="0">
              <a:buNone/>
            </a:pPr>
            <a:r>
              <a:rPr lang="en-US" sz="700" dirty="0">
                <a:solidFill>
                  <a:srgbClr val="E6EFEE"/>
                </a:solidFill>
                <a:latin typeface="Courier New" pitchFamily="34" charset="0"/>
                <a:ea typeface="Courier New" pitchFamily="34" charset="-122"/>
                <a:cs typeface="Courier New" pitchFamily="34" charset="-120"/>
              </a:rPr>
              <a:t>evaluation   | synthesised | themes=4 | gaps=3</a:t>
            </a:r>
            <a:endParaRPr lang="en-US" sz="700" dirty="0"/>
          </a:p>
          <a:p>
            <a:pPr indent="0" marL="0">
              <a:buNone/>
            </a:pPr>
            <a:r>
              <a:rPr lang="en-US" sz="700" dirty="0">
                <a:solidFill>
                  <a:srgbClr val="E6EFEE"/>
                </a:solidFill>
                <a:latin typeface="Courier New" pitchFamily="34" charset="0"/>
                <a:ea typeface="Courier New" pitchFamily="34" charset="-122"/>
                <a:cs typeface="Courier New" pitchFamily="34" charset="-120"/>
              </a:rPr>
              <a:t>117 unique papers across 4 sub-questions | 78 DOIs verified</a:t>
            </a:r>
            <a:endParaRPr lang="en-US" sz="700" dirty="0"/>
          </a:p>
          <a:p>
            <a:pPr indent="0" marL="0">
              <a:buNone/>
            </a:pPr>
            <a:r>
              <a:rPr lang="en-US" sz="700" dirty="0">
                <a:solidFill>
                  <a:srgbClr val="E6EFEE"/>
                </a:solidFill>
                <a:latin typeface="Courier New" pitchFamily="34" charset="0"/>
                <a:ea typeface="Courier New" pitchFamily="34" charset="-122"/>
                <a:cs typeface="Courier New" pitchFamily="34" charset="-120"/>
              </a:rPr>
              <a:t>  | 77 approved, 40 excluded | 4 themes, 3 gaps | reformulations: 1</a:t>
            </a:r>
            <a:endParaRPr lang="en-US" sz="700" dirty="0"/>
          </a:p>
          <a:p>
            <a:pPr indent="0" marL="0">
              <a:buNone/>
            </a:pPr>
            <a:r>
              <a:rPr lang="en-US" sz="700" dirty="0">
                <a:solidFill>
                  <a:srgbClr val="E6EFEE"/>
                </a:solidFill>
                <a:latin typeface="Courier New" pitchFamily="34" charset="0"/>
                <a:ea typeface="Courier New" pitchFamily="34" charset="-122"/>
                <a:cs typeface="Courier New" pitchFamily="34" charset="-120"/>
              </a:rPr>
              <a:t>Run complete - brief written.</a:t>
            </a:r>
            <a:endParaRPr lang="en-US" sz="700" dirty="0"/>
          </a:p>
        </p:txBody>
      </p:sp>
      <p:sp>
        <p:nvSpPr>
          <p:cNvPr id="5" name="Shape 3"/>
          <p:cNvSpPr/>
          <p:nvPr/>
        </p:nvSpPr>
        <p:spPr>
          <a:xfrm>
            <a:off x="5669280" y="1097280"/>
            <a:ext cx="3017520" cy="3520440"/>
          </a:xfrm>
          <a:prstGeom prst="roundRect">
            <a:avLst>
              <a:gd name="adj" fmla="val 2424"/>
            </a:avLst>
          </a:prstGeom>
          <a:solidFill>
            <a:srgbClr val="F7F9F9"/>
          </a:solidFill>
          <a:ln w="9525">
            <a:solidFill>
              <a:srgbClr val="DDE4E3"/>
            </a:solidFill>
            <a:prstDash val="solid"/>
          </a:ln>
        </p:spPr>
      </p:sp>
      <p:sp>
        <p:nvSpPr>
          <p:cNvPr id="6" name="Text 4"/>
          <p:cNvSpPr txBox="1"/>
          <p:nvPr/>
        </p:nvSpPr>
        <p:spPr>
          <a:xfrm>
            <a:off x="5806440" y="1170432"/>
            <a:ext cx="2743200" cy="274320"/>
          </a:xfrm>
          <a:prstGeom prst="rect">
            <a:avLst/>
          </a:prstGeom>
          <a:noFill/>
          <a:ln/>
        </p:spPr>
        <p:txBody>
          <a:bodyPr wrap="square" lIns="0" tIns="0" rIns="0" bIns="0" rtlCol="0" anchor="t"/>
          <a:lstStyle/>
          <a:p>
            <a:pPr indent="0" marL="0">
              <a:buNone/>
            </a:pPr>
            <a:r>
              <a:rPr lang="en-US" sz="1150" b="1" dirty="0">
                <a:solidFill>
                  <a:srgbClr val="1F3A3D"/>
                </a:solidFill>
                <a:latin typeface="Calibri" pitchFamily="34" charset="0"/>
                <a:ea typeface="Calibri" pitchFamily="34" charset="-122"/>
                <a:cs typeface="Calibri" pitchFamily="34" charset="-120"/>
              </a:rPr>
              <a:t>From the brief (30 Sept run, abridged)</a:t>
            </a:r>
            <a:endParaRPr lang="en-US" sz="1150" dirty="0"/>
          </a:p>
        </p:txBody>
      </p:sp>
      <p:sp>
        <p:nvSpPr>
          <p:cNvPr id="7" name="Text 5"/>
          <p:cNvSpPr txBox="1"/>
          <p:nvPr/>
        </p:nvSpPr>
        <p:spPr>
          <a:xfrm>
            <a:off x="5806440" y="1463040"/>
            <a:ext cx="2743200" cy="3108960"/>
          </a:xfrm>
          <a:prstGeom prst="rect">
            <a:avLst/>
          </a:prstGeom>
          <a:noFill/>
          <a:ln/>
        </p:spPr>
        <p:txBody>
          <a:bodyPr wrap="square" lIns="0" tIns="0" rIns="0" bIns="0" rtlCol="0" anchor="t"/>
          <a:lstStyle/>
          <a:p>
            <a:pPr indent="0" marL="0">
              <a:buNone/>
            </a:pPr>
            <a:r>
              <a:rPr lang="en-US" sz="900" b="1" dirty="0">
                <a:solidFill>
                  <a:srgbClr val="8A5A17"/>
                </a:solidFill>
                <a:latin typeface="Calibri" pitchFamily="34" charset="0"/>
                <a:ea typeface="Calibri" pitchFamily="34" charset="-122"/>
                <a:cs typeface="Calibri" pitchFamily="34" charset="-120"/>
              </a:rPr>
              <a:t>Evidence note [76]  </a:t>
            </a:r>
            <a:pPr indent="0" marL="0">
              <a:buNone/>
            </a:pPr>
            <a:r>
              <a:rPr lang="en-US" sz="900" dirty="0">
                <a:solidFill>
                  <a:srgbClr val="1F3A3D"/>
                </a:solidFill>
                <a:latin typeface="Calibri" pitchFamily="34" charset="0"/>
                <a:ea typeface="Calibri" pitchFamily="34" charset="-122"/>
                <a:cs typeface="Calibri" pitchFamily="34" charset="-120"/>
              </a:rPr>
              <a:t>TRACE, a practitioner-audit framework, demonstrated on 45 documentation-positive incidents recorded by a clinician-informatician - the figure is in the paper's abstract. Found by Semantic Scholar only.</a:t>
            </a:r>
            <a:pPr indent="0" marL="0">
              <a:buNone/>
            </a:pPr>
            <a:endParaRPr lang="en-US" sz="900" dirty="0"/>
          </a:p>
          <a:p>
            <a:pPr indent="0" marL="0">
              <a:buNone/>
            </a:pPr>
            <a:endParaRPr lang="en-US" sz="900" dirty="0"/>
          </a:p>
          <a:p>
            <a:pPr indent="0" marL="0">
              <a:buNone/>
            </a:pPr>
            <a:r>
              <a:rPr lang="en-US" sz="900" b="1" dirty="0">
                <a:solidFill>
                  <a:srgbClr val="8A5A17"/>
                </a:solidFill>
                <a:latin typeface="Calibri" pitchFamily="34" charset="0"/>
                <a:ea typeface="Calibri" pitchFamily="34" charset="-122"/>
                <a:cs typeface="Calibri" pitchFamily="34" charset="-120"/>
              </a:rPr>
              <a:t>Theme  </a:t>
            </a:r>
            <a:endParaRPr lang="en-US" sz="900" dirty="0"/>
          </a:p>
          <a:p>
            <a:pPr indent="0" marL="0">
              <a:buNone/>
            </a:pPr>
            <a:r>
              <a:rPr lang="en-US" sz="900" dirty="0">
                <a:solidFill>
                  <a:srgbClr val="1F3A3D"/>
                </a:solidFill>
                <a:latin typeface="Calibri" pitchFamily="34" charset="0"/>
                <a:ea typeface="Calibri" pitchFamily="34" charset="-122"/>
                <a:cs typeface="Calibri" pitchFamily="34" charset="-120"/>
              </a:rPr>
              <a:t>Evaluation of multi-step agent workflows involves specialised benchmarks, automated hallucination attribution frameworks, multi-agent audits and domain-aware metrics. [63, 64, 65, 67, 73, 74, 76, 77]</a:t>
            </a:r>
            <a:pPr indent="0" marL="0">
              <a:buNone/>
            </a:pPr>
            <a:endParaRPr lang="en-US" sz="900" dirty="0"/>
          </a:p>
          <a:p>
            <a:pPr indent="0" marL="0">
              <a:buNone/>
            </a:pPr>
            <a:endParaRPr lang="en-US" sz="900" dirty="0"/>
          </a:p>
          <a:p>
            <a:pPr indent="0" marL="0">
              <a:buNone/>
            </a:pPr>
            <a:r>
              <a:rPr lang="en-US" sz="900" b="1" dirty="0">
                <a:solidFill>
                  <a:srgbClr val="8A5A17"/>
                </a:solidFill>
                <a:latin typeface="Calibri" pitchFamily="34" charset="0"/>
                <a:ea typeface="Calibri" pitchFamily="34" charset="-122"/>
                <a:cs typeface="Calibri" pitchFamily="34" charset="-120"/>
              </a:rPr>
              <a:t>Gap  </a:t>
            </a:r>
            <a:endParaRPr lang="en-US" sz="900" dirty="0"/>
          </a:p>
          <a:p>
            <a:pPr indent="0" marL="0">
              <a:buNone/>
            </a:pPr>
            <a:r>
              <a:rPr lang="en-US" sz="900" dirty="0">
                <a:solidFill>
                  <a:srgbClr val="1F3A3D"/>
                </a:solidFill>
                <a:latin typeface="Calibri" pitchFamily="34" charset="0"/>
                <a:ea typeface="Calibri" pitchFamily="34" charset="-122"/>
                <a:cs typeface="Calibri" pitchFamily="34" charset="-120"/>
              </a:rPr>
              <a:t>Few papers address the computational overhead and latency of continuous self-correction loops.</a:t>
            </a:r>
            <a:pPr indent="0" marL="0">
              <a:buNone/>
            </a:pPr>
            <a:endParaRPr lang="en-US" sz="900" dirty="0"/>
          </a:p>
          <a:p>
            <a:pPr indent="0" marL="0">
              <a:buNone/>
            </a:pPr>
            <a:endParaRPr lang="en-US" sz="900" dirty="0"/>
          </a:p>
          <a:p>
            <a:pPr indent="0" marL="0">
              <a:buNone/>
            </a:pPr>
            <a:r>
              <a:rPr lang="en-US" sz="900" b="1" dirty="0">
                <a:solidFill>
                  <a:srgbClr val="8A5A17"/>
                </a:solidFill>
                <a:latin typeface="Calibri" pitchFamily="34" charset="0"/>
                <a:ea typeface="Calibri" pitchFamily="34" charset="-122"/>
                <a:cs typeface="Calibri" pitchFamily="34" charset="-120"/>
              </a:rPr>
              <a:t>Limitation  </a:t>
            </a:r>
            <a:endParaRPr lang="en-US" sz="900" dirty="0"/>
          </a:p>
          <a:p>
            <a:pPr indent="0" marL="0">
              <a:buNone/>
            </a:pPr>
            <a:r>
              <a:rPr lang="en-US" sz="900" dirty="0">
                <a:solidFill>
                  <a:srgbClr val="1F3A3D"/>
                </a:solidFill>
                <a:latin typeface="Calibri" pitchFamily="34" charset="0"/>
                <a:ea typeface="Calibri" pitchFamily="34" charset="-122"/>
                <a:cs typeface="Calibri" pitchFamily="34" charset="-120"/>
              </a:rPr>
              <a:t>openalex: 5 of 5 searches answered, 100 records; semanticscholar: 2 of 5, 40 records. Automatic failover was used: semanticscholar failed for 3 search(es).</a:t>
            </a:r>
            <a:endParaRPr lang="en-US" sz="900" dirty="0"/>
          </a:p>
        </p:txBody>
      </p:sp>
      <p:sp>
        <p:nvSpPr>
          <p:cNvPr id="8" name="Text 6"/>
          <p:cNvSpPr txBox="1"/>
          <p:nvPr/>
        </p:nvSpPr>
        <p:spPr>
          <a:xfrm>
            <a:off x="457200" y="3566160"/>
            <a:ext cx="4937760" cy="640080"/>
          </a:xfrm>
          <a:prstGeom prst="rect">
            <a:avLst/>
          </a:prstGeom>
          <a:noFill/>
          <a:ln/>
        </p:spPr>
        <p:txBody>
          <a:bodyPr wrap="square" lIns="0" tIns="0" rIns="0" bIns="0" rtlCol="0" anchor="t"/>
          <a:lstStyle/>
          <a:p>
            <a:pPr indent="0" marL="0">
              <a:buNone/>
            </a:pPr>
            <a:r>
              <a:rPr lang="en-US" sz="1100" b="1" dirty="0">
                <a:solidFill>
                  <a:srgbClr val="1F3A3D"/>
                </a:solidFill>
                <a:latin typeface="Calibri" pitchFamily="34" charset="0"/>
                <a:ea typeface="Calibri" pitchFamily="34" charset="-122"/>
                <a:cs typeface="Calibri" pitchFamily="34" charset="-120"/>
              </a:rPr>
              <a:t>The reference list is built from the records' own metadata - the model never writes a citation.</a:t>
            </a:r>
            <a:endParaRPr lang="en-US" sz="1100" dirty="0"/>
          </a:p>
        </p:txBody>
      </p:sp>
      <p:sp>
        <p:nvSpPr>
          <p:cNvPr id="9" name="Text 7"/>
          <p:cNvSpPr txBox="1"/>
          <p:nvPr/>
        </p:nvSpPr>
        <p:spPr>
          <a:xfrm>
            <a:off x="8138160" y="4754880"/>
            <a:ext cx="640080" cy="274320"/>
          </a:xfrm>
          <a:prstGeom prst="rect">
            <a:avLst/>
          </a:prstGeom>
          <a:noFill/>
          <a:ln/>
        </p:spPr>
        <p:txBody>
          <a:bodyPr wrap="square" lIns="0" tIns="0" rIns="0" bIns="0" rtlCol="0" anchor="ctr"/>
          <a:lstStyle/>
          <a:p>
            <a:pPr algn="r" indent="0" marL="0">
              <a:buNone/>
            </a:pPr>
            <a:r>
              <a:rPr lang="en-US" sz="900" dirty="0">
                <a:solidFill>
                  <a:srgbClr val="5F6F70"/>
                </a:solidFill>
                <a:latin typeface="Calibri" pitchFamily="34" charset="0"/>
                <a:ea typeface="Calibri" pitchFamily="34" charset="-122"/>
                <a:cs typeface="Calibri" pitchFamily="34" charset="-120"/>
              </a:rPr>
              <a:t>7 / 10</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3000" b="1" dirty="0">
                <a:solidFill>
                  <a:srgbClr val="1F3A3D"/>
                </a:solidFill>
                <a:latin typeface="Cambria" pitchFamily="34" charset="0"/>
                <a:ea typeface="Cambria" pitchFamily="34" charset="-122"/>
                <a:cs typeface="Cambria" pitchFamily="34" charset="-120"/>
              </a:rPr>
              <a:t>Testing: three layers of evidence</a:t>
            </a:r>
            <a:endParaRPr lang="en-US" sz="3000" dirty="0"/>
          </a:p>
        </p:txBody>
      </p:sp>
      <p:sp>
        <p:nvSpPr>
          <p:cNvPr id="3" name="Shape 1"/>
          <p:cNvSpPr/>
          <p:nvPr/>
        </p:nvSpPr>
        <p:spPr>
          <a:xfrm>
            <a:off x="457200" y="1188720"/>
            <a:ext cx="2651760" cy="2697480"/>
          </a:xfrm>
          <a:prstGeom prst="roundRect">
            <a:avLst>
              <a:gd name="adj" fmla="val 2759"/>
            </a:avLst>
          </a:prstGeom>
          <a:solidFill>
            <a:srgbClr val="F7F9F9"/>
          </a:solidFill>
          <a:ln w="9525">
            <a:solidFill>
              <a:srgbClr val="DDE4E3"/>
            </a:solidFill>
            <a:prstDash val="solid"/>
          </a:ln>
        </p:spPr>
      </p:sp>
      <p:sp>
        <p:nvSpPr>
          <p:cNvPr id="4" name="Text 2"/>
          <p:cNvSpPr txBox="1"/>
          <p:nvPr/>
        </p:nvSpPr>
        <p:spPr>
          <a:xfrm>
            <a:off x="594360" y="1280160"/>
            <a:ext cx="2377440" cy="685800"/>
          </a:xfrm>
          <a:prstGeom prst="rect">
            <a:avLst/>
          </a:prstGeom>
          <a:noFill/>
          <a:ln/>
        </p:spPr>
        <p:txBody>
          <a:bodyPr wrap="square" lIns="0" tIns="0" rIns="0" bIns="0" rtlCol="0" anchor="ctr"/>
          <a:lstStyle/>
          <a:p>
            <a:pPr indent="0" marL="0">
              <a:buNone/>
            </a:pPr>
            <a:r>
              <a:rPr lang="en-US" sz="4400" b="1" dirty="0">
                <a:solidFill>
                  <a:srgbClr val="1F3A3D"/>
                </a:solidFill>
                <a:latin typeface="Cambria" pitchFamily="34" charset="0"/>
                <a:ea typeface="Cambria" pitchFamily="34" charset="-122"/>
                <a:cs typeface="Cambria" pitchFamily="34" charset="-120"/>
              </a:rPr>
              <a:t>68</a:t>
            </a:r>
            <a:endParaRPr lang="en-US" sz="4400" dirty="0"/>
          </a:p>
        </p:txBody>
      </p:sp>
      <p:sp>
        <p:nvSpPr>
          <p:cNvPr id="5" name="Text 3"/>
          <p:cNvSpPr txBox="1"/>
          <p:nvPr/>
        </p:nvSpPr>
        <p:spPr>
          <a:xfrm>
            <a:off x="594360" y="1938528"/>
            <a:ext cx="2377440" cy="320040"/>
          </a:xfrm>
          <a:prstGeom prst="rect">
            <a:avLst/>
          </a:prstGeom>
          <a:noFill/>
          <a:ln/>
        </p:spPr>
        <p:txBody>
          <a:bodyPr wrap="square" lIns="0" tIns="0" rIns="0" bIns="0" rtlCol="0" anchor="ctr"/>
          <a:lstStyle/>
          <a:p>
            <a:pPr indent="0" marL="0">
              <a:buNone/>
            </a:pPr>
            <a:r>
              <a:rPr lang="en-US" sz="1300" b="1" dirty="0">
                <a:solidFill>
                  <a:srgbClr val="8A5A17"/>
                </a:solidFill>
                <a:latin typeface="Calibri" pitchFamily="34" charset="0"/>
                <a:ea typeface="Calibri" pitchFamily="34" charset="-122"/>
                <a:cs typeface="Calibri" pitchFamily="34" charset="-120"/>
              </a:rPr>
              <a:t>unit tests</a:t>
            </a:r>
            <a:endParaRPr lang="en-US" sz="1300" dirty="0"/>
          </a:p>
        </p:txBody>
      </p:sp>
      <p:sp>
        <p:nvSpPr>
          <p:cNvPr id="6" name="Text 4"/>
          <p:cNvSpPr txBox="1"/>
          <p:nvPr/>
        </p:nvSpPr>
        <p:spPr>
          <a:xfrm>
            <a:off x="594360" y="2286000"/>
            <a:ext cx="2377440" cy="1554480"/>
          </a:xfrm>
          <a:prstGeom prst="rect">
            <a:avLst/>
          </a:prstGeom>
          <a:noFill/>
          <a:ln/>
        </p:spPr>
        <p:txBody>
          <a:bodyPr wrap="square" lIns="0" tIns="0" rIns="0" bIns="0" rtlCol="0" anchor="t"/>
          <a:lstStyle/>
          <a:p>
            <a:pPr indent="0" marL="0">
              <a:buNone/>
            </a:pPr>
            <a:r>
              <a:rPr lang="en-US" sz="950" dirty="0">
                <a:solidFill>
                  <a:srgbClr val="1F3A3D"/>
                </a:solidFill>
                <a:latin typeface="Calibri" pitchFamily="34" charset="0"/>
                <a:ea typeface="Calibri" pitchFamily="34" charset="-122"/>
                <a:cs typeface="Calibri" pitchFamily="34" charset="-120"/>
              </a:rPr>
              <a:t>pytest, no network. Recorded API replies in tests/fixtures. Data models, abstract reconstruction, de-duplication and DOI checks, the 3-5 rule, schema validation and repair, review loops, threshold and retry caps, cut-off, batching, themes citing non-existent papers, retry policies, brief layout; the second source, merging and failover.</a:t>
            </a:r>
            <a:endParaRPr lang="en-US" sz="950" dirty="0"/>
          </a:p>
        </p:txBody>
      </p:sp>
      <p:sp>
        <p:nvSpPr>
          <p:cNvPr id="7" name="Shape 5"/>
          <p:cNvSpPr/>
          <p:nvPr/>
        </p:nvSpPr>
        <p:spPr>
          <a:xfrm>
            <a:off x="3246120" y="1188720"/>
            <a:ext cx="2651760" cy="2697480"/>
          </a:xfrm>
          <a:prstGeom prst="roundRect">
            <a:avLst>
              <a:gd name="adj" fmla="val 2759"/>
            </a:avLst>
          </a:prstGeom>
          <a:solidFill>
            <a:srgbClr val="EEF3F2"/>
          </a:solidFill>
          <a:ln w="9525">
            <a:solidFill>
              <a:srgbClr val="DDE4E3"/>
            </a:solidFill>
            <a:prstDash val="solid"/>
          </a:ln>
        </p:spPr>
      </p:sp>
      <p:sp>
        <p:nvSpPr>
          <p:cNvPr id="8" name="Text 6"/>
          <p:cNvSpPr txBox="1"/>
          <p:nvPr/>
        </p:nvSpPr>
        <p:spPr>
          <a:xfrm>
            <a:off x="3383280" y="1280160"/>
            <a:ext cx="2377440" cy="685800"/>
          </a:xfrm>
          <a:prstGeom prst="rect">
            <a:avLst/>
          </a:prstGeom>
          <a:noFill/>
          <a:ln/>
        </p:spPr>
        <p:txBody>
          <a:bodyPr wrap="square" lIns="0" tIns="0" rIns="0" bIns="0" rtlCol="0" anchor="ctr"/>
          <a:lstStyle/>
          <a:p>
            <a:pPr indent="0" marL="0">
              <a:buNone/>
            </a:pPr>
            <a:r>
              <a:rPr lang="en-US" sz="4400" b="1" dirty="0">
                <a:solidFill>
                  <a:srgbClr val="1F3A3D"/>
                </a:solidFill>
                <a:latin typeface="Cambria" pitchFamily="34" charset="0"/>
                <a:ea typeface="Cambria" pitchFamily="34" charset="-122"/>
                <a:cs typeface="Cambria" pitchFamily="34" charset="-120"/>
              </a:rPr>
              <a:t>11</a:t>
            </a:r>
            <a:endParaRPr lang="en-US" sz="4400" dirty="0"/>
          </a:p>
        </p:txBody>
      </p:sp>
      <p:sp>
        <p:nvSpPr>
          <p:cNvPr id="9" name="Text 7"/>
          <p:cNvSpPr txBox="1"/>
          <p:nvPr/>
        </p:nvSpPr>
        <p:spPr>
          <a:xfrm>
            <a:off x="3383280" y="1938528"/>
            <a:ext cx="2377440" cy="320040"/>
          </a:xfrm>
          <a:prstGeom prst="rect">
            <a:avLst/>
          </a:prstGeom>
          <a:noFill/>
          <a:ln/>
        </p:spPr>
        <p:txBody>
          <a:bodyPr wrap="square" lIns="0" tIns="0" rIns="0" bIns="0" rtlCol="0" anchor="ctr"/>
          <a:lstStyle/>
          <a:p>
            <a:pPr indent="0" marL="0">
              <a:buNone/>
            </a:pPr>
            <a:r>
              <a:rPr lang="en-US" sz="1300" b="1" dirty="0">
                <a:solidFill>
                  <a:srgbClr val="8A5A17"/>
                </a:solidFill>
                <a:latin typeface="Calibri" pitchFamily="34" charset="0"/>
                <a:ea typeface="Calibri" pitchFamily="34" charset="-122"/>
                <a:cs typeface="Calibri" pitchFamily="34" charset="-120"/>
              </a:rPr>
              <a:t>functional tests</a:t>
            </a:r>
            <a:endParaRPr lang="en-US" sz="1300" dirty="0"/>
          </a:p>
        </p:txBody>
      </p:sp>
      <p:sp>
        <p:nvSpPr>
          <p:cNvPr id="10" name="Text 8"/>
          <p:cNvSpPr txBox="1"/>
          <p:nvPr/>
        </p:nvSpPr>
        <p:spPr>
          <a:xfrm>
            <a:off x="3383280" y="2286000"/>
            <a:ext cx="2377440" cy="1554480"/>
          </a:xfrm>
          <a:prstGeom prst="rect">
            <a:avLst/>
          </a:prstGeom>
          <a:noFill/>
          <a:ln/>
        </p:spPr>
        <p:txBody>
          <a:bodyPr wrap="square" lIns="0" tIns="0" rIns="0" bIns="0" rtlCol="0" anchor="t"/>
          <a:lstStyle/>
          <a:p>
            <a:pPr indent="0" marL="0">
              <a:buNone/>
            </a:pPr>
            <a:r>
              <a:rPr lang="en-US" sz="950" dirty="0">
                <a:solidFill>
                  <a:srgbClr val="1F3A3D"/>
                </a:solidFill>
                <a:latin typeface="Calibri" pitchFamily="34" charset="0"/>
                <a:ea typeface="Calibri" pitchFamily="34" charset="-122"/>
                <a:cs typeface="Calibri" pitchFamily="34" charset="-120"/>
              </a:rPr>
              <a:t>Live, against the real services, each with command, expected and observed result. Missing key; drop; revise; reject scope once then refused; full run; threshold retry; transient errors; daily quota stop; malformed-JSON repair; two-source run with real failover; non-transient failure not retried. All pass.</a:t>
            </a:r>
            <a:endParaRPr lang="en-US" sz="950" dirty="0"/>
          </a:p>
        </p:txBody>
      </p:sp>
      <p:sp>
        <p:nvSpPr>
          <p:cNvPr id="11" name="Shape 9"/>
          <p:cNvSpPr/>
          <p:nvPr/>
        </p:nvSpPr>
        <p:spPr>
          <a:xfrm>
            <a:off x="6035040" y="1188720"/>
            <a:ext cx="2651760" cy="2697480"/>
          </a:xfrm>
          <a:prstGeom prst="roundRect">
            <a:avLst>
              <a:gd name="adj" fmla="val 2759"/>
            </a:avLst>
          </a:prstGeom>
          <a:solidFill>
            <a:srgbClr val="F7F9F9"/>
          </a:solidFill>
          <a:ln w="9525">
            <a:solidFill>
              <a:srgbClr val="DDE4E3"/>
            </a:solidFill>
            <a:prstDash val="solid"/>
          </a:ln>
        </p:spPr>
      </p:sp>
      <p:sp>
        <p:nvSpPr>
          <p:cNvPr id="12" name="Text 10"/>
          <p:cNvSpPr txBox="1"/>
          <p:nvPr/>
        </p:nvSpPr>
        <p:spPr>
          <a:xfrm>
            <a:off x="6172200" y="1280160"/>
            <a:ext cx="2377440" cy="685800"/>
          </a:xfrm>
          <a:prstGeom prst="rect">
            <a:avLst/>
          </a:prstGeom>
          <a:noFill/>
          <a:ln/>
        </p:spPr>
        <p:txBody>
          <a:bodyPr wrap="square" lIns="0" tIns="0" rIns="0" bIns="0" rtlCol="0" anchor="ctr"/>
          <a:lstStyle/>
          <a:p>
            <a:pPr indent="0" marL="0">
              <a:buNone/>
            </a:pPr>
            <a:r>
              <a:rPr lang="en-US" sz="4400" b="1" dirty="0">
                <a:solidFill>
                  <a:srgbClr val="1F3A3D"/>
                </a:solidFill>
                <a:latin typeface="Cambria" pitchFamily="34" charset="0"/>
                <a:ea typeface="Cambria" pitchFamily="34" charset="-122"/>
                <a:cs typeface="Cambria" pitchFamily="34" charset="-120"/>
              </a:rPr>
              <a:t>11</a:t>
            </a:r>
            <a:endParaRPr lang="en-US" sz="4400" dirty="0"/>
          </a:p>
        </p:txBody>
      </p:sp>
      <p:sp>
        <p:nvSpPr>
          <p:cNvPr id="13" name="Text 11"/>
          <p:cNvSpPr txBox="1"/>
          <p:nvPr/>
        </p:nvSpPr>
        <p:spPr>
          <a:xfrm>
            <a:off x="6172200" y="1938528"/>
            <a:ext cx="2377440" cy="320040"/>
          </a:xfrm>
          <a:prstGeom prst="rect">
            <a:avLst/>
          </a:prstGeom>
          <a:noFill/>
          <a:ln/>
        </p:spPr>
        <p:txBody>
          <a:bodyPr wrap="square" lIns="0" tIns="0" rIns="0" bIns="0" rtlCol="0" anchor="ctr"/>
          <a:lstStyle/>
          <a:p>
            <a:pPr indent="0" marL="0">
              <a:buNone/>
            </a:pPr>
            <a:r>
              <a:rPr lang="en-US" sz="1300" b="1" dirty="0">
                <a:solidFill>
                  <a:srgbClr val="8A5A17"/>
                </a:solidFill>
                <a:latin typeface="Calibri" pitchFamily="34" charset="0"/>
                <a:ea typeface="Calibri" pitchFamily="34" charset="-122"/>
                <a:cs typeface="Calibri" pitchFamily="34" charset="-120"/>
              </a:rPr>
              <a:t>remediation entries</a:t>
            </a:r>
            <a:endParaRPr lang="en-US" sz="1300" dirty="0"/>
          </a:p>
        </p:txBody>
      </p:sp>
      <p:sp>
        <p:nvSpPr>
          <p:cNvPr id="14" name="Text 12"/>
          <p:cNvSpPr txBox="1"/>
          <p:nvPr/>
        </p:nvSpPr>
        <p:spPr>
          <a:xfrm>
            <a:off x="6172200" y="2286000"/>
            <a:ext cx="2377440" cy="1554480"/>
          </a:xfrm>
          <a:prstGeom prst="rect">
            <a:avLst/>
          </a:prstGeom>
          <a:noFill/>
          <a:ln/>
        </p:spPr>
        <p:txBody>
          <a:bodyPr wrap="square" lIns="0" tIns="0" rIns="0" bIns="0" rtlCol="0" anchor="t"/>
          <a:lstStyle/>
          <a:p>
            <a:pPr indent="0" marL="0">
              <a:buNone/>
            </a:pPr>
            <a:r>
              <a:rPr lang="en-US" sz="950" dirty="0">
                <a:solidFill>
                  <a:srgbClr val="1F3A3D"/>
                </a:solidFill>
                <a:latin typeface="Calibri" pitchFamily="34" charset="0"/>
                <a:ea typeface="Calibri" pitchFamily="34" charset="-122"/>
                <a:cs typeface="Calibri" pitchFamily="34" charset="-120"/>
              </a:rPr>
              <a:t>Every problem met during development, its cause, the change made, and how the fix was verified - the model retirement, 503s, timeouts, quotas, OpenAlex's policy change, a typo that re-planned.</a:t>
            </a:r>
            <a:endParaRPr lang="en-US" sz="950" dirty="0"/>
          </a:p>
        </p:txBody>
      </p:sp>
      <p:sp>
        <p:nvSpPr>
          <p:cNvPr id="15" name="Shape 13"/>
          <p:cNvSpPr/>
          <p:nvPr/>
        </p:nvSpPr>
        <p:spPr>
          <a:xfrm>
            <a:off x="457200" y="4023360"/>
            <a:ext cx="8229600" cy="640080"/>
          </a:xfrm>
          <a:prstGeom prst="roundRect">
            <a:avLst>
              <a:gd name="adj" fmla="val 8571"/>
            </a:avLst>
          </a:prstGeom>
          <a:solidFill>
            <a:srgbClr val="17292B"/>
          </a:solidFill>
          <a:ln w="12700">
            <a:solidFill>
              <a:srgbClr val="17292B"/>
            </a:solidFill>
            <a:prstDash val="solid"/>
          </a:ln>
        </p:spPr>
      </p:sp>
      <p:sp>
        <p:nvSpPr>
          <p:cNvPr id="16" name="Text 14"/>
          <p:cNvSpPr txBox="1"/>
          <p:nvPr/>
        </p:nvSpPr>
        <p:spPr>
          <a:xfrm>
            <a:off x="566928" y="4096512"/>
            <a:ext cx="8010144" cy="493776"/>
          </a:xfrm>
          <a:prstGeom prst="rect">
            <a:avLst/>
          </a:prstGeom>
          <a:noFill/>
          <a:ln/>
        </p:spPr>
        <p:txBody>
          <a:bodyPr wrap="square" lIns="0" tIns="0" rIns="0" bIns="0" rtlCol="0" anchor="t"/>
          <a:lstStyle/>
          <a:p>
            <a:pPr indent="0" marL="0">
              <a:buNone/>
            </a:pPr>
            <a:r>
              <a:rPr lang="en-US" sz="800" dirty="0">
                <a:solidFill>
                  <a:srgbClr val="E6EFEE"/>
                </a:solidFill>
                <a:latin typeface="Courier New" pitchFamily="34" charset="0"/>
                <a:ea typeface="Courier New" pitchFamily="34" charset="-122"/>
                <a:cs typeface="Courier New" pitchFamily="34" charset="-120"/>
              </a:rPr>
              <a:t>$ pytest -q</a:t>
            </a:r>
            <a:endParaRPr lang="en-US" sz="800" dirty="0"/>
          </a:p>
          <a:p>
            <a:pPr indent="0" marL="0">
              <a:buNone/>
            </a:pPr>
            <a:r>
              <a:rPr lang="en-US" sz="800" dirty="0">
                <a:solidFill>
                  <a:srgbClr val="E6EFEE"/>
                </a:solidFill>
                <a:latin typeface="Courier New" pitchFamily="34" charset="0"/>
                <a:ea typeface="Courier New" pitchFamily="34" charset="-122"/>
                <a:cs typeface="Courier New" pitchFamily="34" charset="-120"/>
              </a:rPr>
              <a:t>collected 68 items   (evaluation 13 . http 5 . models 5 . planning 6 . retrieval 7 . s2_client 5 . search_client 4 . stage5 8 . storage 1 . synthesis 9 . validation 5)</a:t>
            </a:r>
            <a:endParaRPr lang="en-US" sz="800" dirty="0"/>
          </a:p>
          <a:p>
            <a:pPr indent="0" marL="0">
              <a:buNone/>
            </a:pPr>
            <a:r>
              <a:rPr lang="en-US" sz="800" dirty="0">
                <a:solidFill>
                  <a:srgbClr val="E6EFEE"/>
                </a:solidFill>
                <a:latin typeface="Courier New" pitchFamily="34" charset="0"/>
                <a:ea typeface="Courier New" pitchFamily="34" charset="-122"/>
                <a:cs typeface="Courier New" pitchFamily="34" charset="-120"/>
              </a:rPr>
              <a:t>68 passed in 0.32s</a:t>
            </a:r>
            <a:endParaRPr lang="en-US" sz="800" dirty="0"/>
          </a:p>
        </p:txBody>
      </p:sp>
      <p:sp>
        <p:nvSpPr>
          <p:cNvPr id="17" name="Text 15"/>
          <p:cNvSpPr txBox="1"/>
          <p:nvPr/>
        </p:nvSpPr>
        <p:spPr>
          <a:xfrm>
            <a:off x="8138160" y="4754880"/>
            <a:ext cx="640080" cy="274320"/>
          </a:xfrm>
          <a:prstGeom prst="rect">
            <a:avLst/>
          </a:prstGeom>
          <a:noFill/>
          <a:ln/>
        </p:spPr>
        <p:txBody>
          <a:bodyPr wrap="square" lIns="0" tIns="0" rIns="0" bIns="0" rtlCol="0" anchor="ctr"/>
          <a:lstStyle/>
          <a:p>
            <a:pPr algn="r" indent="0" marL="0">
              <a:buNone/>
            </a:pPr>
            <a:r>
              <a:rPr lang="en-US" sz="900" dirty="0">
                <a:solidFill>
                  <a:srgbClr val="5F6F70"/>
                </a:solidFill>
                <a:latin typeface="Calibri" pitchFamily="34" charset="0"/>
                <a:ea typeface="Calibri" pitchFamily="34" charset="-122"/>
                <a:cs typeface="Calibri" pitchFamily="34" charset="-120"/>
              </a:rPr>
              <a:t>8 / 10</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3000" b="1" dirty="0">
                <a:solidFill>
                  <a:srgbClr val="1F3A3D"/>
                </a:solidFill>
                <a:latin typeface="Cambria" pitchFamily="34" charset="0"/>
                <a:ea typeface="Cambria" pitchFamily="34" charset="-122"/>
                <a:cs typeface="Cambria" pitchFamily="34" charset="-120"/>
              </a:rPr>
              <a:t>What went wrong, and what changed</a:t>
            </a:r>
            <a:endParaRPr lang="en-US" sz="3000" dirty="0"/>
          </a:p>
        </p:txBody>
      </p:sp>
      <p:sp>
        <p:nvSpPr>
          <p:cNvPr id="3" name="Text 1"/>
          <p:cNvSpPr txBox="1"/>
          <p:nvPr/>
        </p:nvSpPr>
        <p:spPr>
          <a:xfrm>
            <a:off x="457200" y="1188720"/>
            <a:ext cx="914400" cy="274320"/>
          </a:xfrm>
          <a:prstGeom prst="rect">
            <a:avLst/>
          </a:prstGeom>
          <a:noFill/>
          <a:ln/>
        </p:spPr>
        <p:txBody>
          <a:bodyPr wrap="square" lIns="0" tIns="0" rIns="0" bIns="0" rtlCol="0" anchor="t"/>
          <a:lstStyle/>
          <a:p>
            <a:pPr indent="0" marL="0">
              <a:buNone/>
            </a:pPr>
            <a:r>
              <a:rPr lang="en-US" sz="1050" b="1" dirty="0">
                <a:solidFill>
                  <a:srgbClr val="5F6F70"/>
                </a:solidFill>
                <a:latin typeface="Calibri" pitchFamily="34" charset="0"/>
                <a:ea typeface="Calibri" pitchFamily="34" charset="-122"/>
                <a:cs typeface="Calibri" pitchFamily="34" charset="-120"/>
              </a:rPr>
              <a:t>When</a:t>
            </a:r>
            <a:endParaRPr lang="en-US" sz="1050" dirty="0"/>
          </a:p>
        </p:txBody>
      </p:sp>
      <p:sp>
        <p:nvSpPr>
          <p:cNvPr id="4" name="Text 2"/>
          <p:cNvSpPr txBox="1"/>
          <p:nvPr/>
        </p:nvSpPr>
        <p:spPr>
          <a:xfrm>
            <a:off x="1417320" y="1188720"/>
            <a:ext cx="3566160" cy="274320"/>
          </a:xfrm>
          <a:prstGeom prst="rect">
            <a:avLst/>
          </a:prstGeom>
          <a:noFill/>
          <a:ln/>
        </p:spPr>
        <p:txBody>
          <a:bodyPr wrap="square" lIns="0" tIns="0" rIns="0" bIns="0" rtlCol="0" anchor="t"/>
          <a:lstStyle/>
          <a:p>
            <a:pPr indent="0" marL="0">
              <a:buNone/>
            </a:pPr>
            <a:r>
              <a:rPr lang="en-US" sz="1050" b="1" dirty="0">
                <a:solidFill>
                  <a:srgbClr val="5F6F70"/>
                </a:solidFill>
                <a:latin typeface="Calibri" pitchFamily="34" charset="0"/>
                <a:ea typeface="Calibri" pitchFamily="34" charset="-122"/>
                <a:cs typeface="Calibri" pitchFamily="34" charset="-120"/>
              </a:rPr>
              <a:t>What happened</a:t>
            </a:r>
            <a:endParaRPr lang="en-US" sz="1050" dirty="0"/>
          </a:p>
        </p:txBody>
      </p:sp>
      <p:sp>
        <p:nvSpPr>
          <p:cNvPr id="5" name="Text 3"/>
          <p:cNvSpPr txBox="1"/>
          <p:nvPr/>
        </p:nvSpPr>
        <p:spPr>
          <a:xfrm>
            <a:off x="5120640" y="1188720"/>
            <a:ext cx="3566160" cy="274320"/>
          </a:xfrm>
          <a:prstGeom prst="rect">
            <a:avLst/>
          </a:prstGeom>
          <a:noFill/>
          <a:ln/>
        </p:spPr>
        <p:txBody>
          <a:bodyPr wrap="square" lIns="0" tIns="0" rIns="0" bIns="0" rtlCol="0" anchor="t"/>
          <a:lstStyle/>
          <a:p>
            <a:pPr indent="0" marL="0">
              <a:buNone/>
            </a:pPr>
            <a:r>
              <a:rPr lang="en-US" sz="1050" b="1" dirty="0">
                <a:solidFill>
                  <a:srgbClr val="5F6F70"/>
                </a:solidFill>
                <a:latin typeface="Calibri" pitchFamily="34" charset="0"/>
                <a:ea typeface="Calibri" pitchFamily="34" charset="-122"/>
                <a:cs typeface="Calibri" pitchFamily="34" charset="-120"/>
              </a:rPr>
              <a:t>What changed</a:t>
            </a:r>
            <a:endParaRPr lang="en-US" sz="1050" dirty="0"/>
          </a:p>
        </p:txBody>
      </p:sp>
      <p:sp>
        <p:nvSpPr>
          <p:cNvPr id="6" name="Shape 4"/>
          <p:cNvSpPr/>
          <p:nvPr/>
        </p:nvSpPr>
        <p:spPr>
          <a:xfrm>
            <a:off x="457200" y="1463040"/>
            <a:ext cx="8229600" cy="603504"/>
          </a:xfrm>
          <a:prstGeom prst="rect">
            <a:avLst/>
          </a:prstGeom>
          <a:solidFill>
            <a:srgbClr val="F7F9F9"/>
          </a:solidFill>
          <a:ln w="12700">
            <a:solidFill>
              <a:srgbClr val="F7F9F9"/>
            </a:solidFill>
            <a:prstDash val="solid"/>
          </a:ln>
        </p:spPr>
      </p:sp>
      <p:sp>
        <p:nvSpPr>
          <p:cNvPr id="7" name="Text 5"/>
          <p:cNvSpPr txBox="1"/>
          <p:nvPr/>
        </p:nvSpPr>
        <p:spPr>
          <a:xfrm>
            <a:off x="502920" y="1508760"/>
            <a:ext cx="914400" cy="512064"/>
          </a:xfrm>
          <a:prstGeom prst="rect">
            <a:avLst/>
          </a:prstGeom>
          <a:noFill/>
          <a:ln/>
        </p:spPr>
        <p:txBody>
          <a:bodyPr wrap="square" lIns="0" tIns="0" rIns="0" bIns="0" rtlCol="0" anchor="t"/>
          <a:lstStyle/>
          <a:p>
            <a:pPr indent="0" marL="0">
              <a:buNone/>
            </a:pPr>
            <a:r>
              <a:rPr lang="en-US" sz="1000" b="1" dirty="0">
                <a:solidFill>
                  <a:srgbClr val="1F3A3D"/>
                </a:solidFill>
                <a:latin typeface="Calibri" pitchFamily="34" charset="0"/>
                <a:ea typeface="Calibri" pitchFamily="34" charset="-122"/>
                <a:cs typeface="Calibri" pitchFamily="34" charset="-120"/>
              </a:rPr>
              <a:t>14 Sept</a:t>
            </a:r>
            <a:endParaRPr lang="en-US" sz="1000" dirty="0"/>
          </a:p>
        </p:txBody>
      </p:sp>
      <p:sp>
        <p:nvSpPr>
          <p:cNvPr id="8" name="Text 6"/>
          <p:cNvSpPr txBox="1"/>
          <p:nvPr/>
        </p:nvSpPr>
        <p:spPr>
          <a:xfrm>
            <a:off x="1417320" y="1508760"/>
            <a:ext cx="3566160" cy="512064"/>
          </a:xfrm>
          <a:prstGeom prst="rect">
            <a:avLst/>
          </a:prstGeom>
          <a:noFill/>
          <a:ln/>
        </p:spPr>
        <p:txBody>
          <a:bodyPr wrap="square" lIns="0" tIns="0" rIns="0" bIns="0" rtlCol="0" anchor="t"/>
          <a:lstStyle/>
          <a:p>
            <a:pPr indent="0" marL="0">
              <a:buNone/>
            </a:pPr>
            <a:r>
              <a:rPr lang="en-US" sz="1000" dirty="0">
                <a:solidFill>
                  <a:srgbClr val="1F3A3D"/>
                </a:solidFill>
                <a:latin typeface="Calibri" pitchFamily="34" charset="0"/>
                <a:ea typeface="Calibri" pitchFamily="34" charset="-122"/>
                <a:cs typeface="Calibri" pitchFamily="34" charset="-120"/>
              </a:rPr>
              <a:t>First Gemini call: HTTP 404 - the model chosen at design time had been retired by the provider</a:t>
            </a:r>
            <a:endParaRPr lang="en-US" sz="1000" dirty="0"/>
          </a:p>
        </p:txBody>
      </p:sp>
      <p:sp>
        <p:nvSpPr>
          <p:cNvPr id="9" name="Text 7"/>
          <p:cNvSpPr txBox="1"/>
          <p:nvPr/>
        </p:nvSpPr>
        <p:spPr>
          <a:xfrm>
            <a:off x="5120640" y="1508760"/>
            <a:ext cx="3520440" cy="512064"/>
          </a:xfrm>
          <a:prstGeom prst="rect">
            <a:avLst/>
          </a:prstGeom>
          <a:noFill/>
          <a:ln/>
        </p:spPr>
        <p:txBody>
          <a:bodyPr wrap="square" lIns="0" tIns="0" rIns="0" bIns="0" rtlCol="0" anchor="t"/>
          <a:lstStyle/>
          <a:p>
            <a:pPr indent="0" marL="0">
              <a:buNone/>
            </a:pPr>
            <a:r>
              <a:rPr lang="en-US" sz="1000" dirty="0">
                <a:solidFill>
                  <a:srgbClr val="8A5A17"/>
                </a:solidFill>
                <a:latin typeface="Calibri" pitchFamily="34" charset="0"/>
                <a:ea typeface="Calibri" pitchFamily="34" charset="-122"/>
                <a:cs typeface="Calibri" pitchFamily="34" charset="-120"/>
              </a:rPr>
              <a:t>Model name was already in configuration: one line in .env</a:t>
            </a:r>
            <a:endParaRPr lang="en-US" sz="1000" dirty="0"/>
          </a:p>
        </p:txBody>
      </p:sp>
      <p:sp>
        <p:nvSpPr>
          <p:cNvPr id="10" name="Text 8"/>
          <p:cNvSpPr txBox="1"/>
          <p:nvPr/>
        </p:nvSpPr>
        <p:spPr>
          <a:xfrm>
            <a:off x="502920" y="2112264"/>
            <a:ext cx="914400" cy="512064"/>
          </a:xfrm>
          <a:prstGeom prst="rect">
            <a:avLst/>
          </a:prstGeom>
          <a:noFill/>
          <a:ln/>
        </p:spPr>
        <p:txBody>
          <a:bodyPr wrap="square" lIns="0" tIns="0" rIns="0" bIns="0" rtlCol="0" anchor="t"/>
          <a:lstStyle/>
          <a:p>
            <a:pPr indent="0" marL="0">
              <a:buNone/>
            </a:pPr>
            <a:r>
              <a:rPr lang="en-US" sz="1000" b="1" dirty="0">
                <a:solidFill>
                  <a:srgbClr val="1F3A3D"/>
                </a:solidFill>
                <a:latin typeface="Calibri" pitchFamily="34" charset="0"/>
                <a:ea typeface="Calibri" pitchFamily="34" charset="-122"/>
                <a:cs typeface="Calibri" pitchFamily="34" charset="-120"/>
              </a:rPr>
              <a:t>17 Sept</a:t>
            </a:r>
            <a:endParaRPr lang="en-US" sz="1000" dirty="0"/>
          </a:p>
        </p:txBody>
      </p:sp>
      <p:sp>
        <p:nvSpPr>
          <p:cNvPr id="11" name="Text 9"/>
          <p:cNvSpPr txBox="1"/>
          <p:nvPr/>
        </p:nvSpPr>
        <p:spPr>
          <a:xfrm>
            <a:off x="1417320" y="2112264"/>
            <a:ext cx="3566160" cy="512064"/>
          </a:xfrm>
          <a:prstGeom prst="rect">
            <a:avLst/>
          </a:prstGeom>
          <a:noFill/>
          <a:ln/>
        </p:spPr>
        <p:txBody>
          <a:bodyPr wrap="square" lIns="0" tIns="0" rIns="0" bIns="0" rtlCol="0" anchor="t"/>
          <a:lstStyle/>
          <a:p>
            <a:pPr indent="0" marL="0">
              <a:buNone/>
            </a:pPr>
            <a:r>
              <a:rPr lang="en-US" sz="1000" dirty="0">
                <a:solidFill>
                  <a:srgbClr val="1F3A3D"/>
                </a:solidFill>
                <a:latin typeface="Calibri" pitchFamily="34" charset="0"/>
                <a:ea typeface="Calibri" pitchFamily="34" charset="-122"/>
                <a:cs typeface="Calibri" pitchFamily="34" charset="-120"/>
              </a:rPr>
              <a:t>Run died mid-scoring on 503, then on a read timeout</a:t>
            </a:r>
            <a:endParaRPr lang="en-US" sz="1000" dirty="0"/>
          </a:p>
        </p:txBody>
      </p:sp>
      <p:sp>
        <p:nvSpPr>
          <p:cNvPr id="12" name="Text 10"/>
          <p:cNvSpPr txBox="1"/>
          <p:nvPr/>
        </p:nvSpPr>
        <p:spPr>
          <a:xfrm>
            <a:off x="5120640" y="2112264"/>
            <a:ext cx="3520440" cy="512064"/>
          </a:xfrm>
          <a:prstGeom prst="rect">
            <a:avLst/>
          </a:prstGeom>
          <a:noFill/>
          <a:ln/>
        </p:spPr>
        <p:txBody>
          <a:bodyPr wrap="square" lIns="0" tIns="0" rIns="0" bIns="0" rtlCol="0" anchor="t"/>
          <a:lstStyle/>
          <a:p>
            <a:pPr indent="0" marL="0">
              <a:buNone/>
            </a:pPr>
            <a:r>
              <a:rPr lang="en-US" sz="1000" dirty="0">
                <a:solidFill>
                  <a:srgbClr val="8A5A17"/>
                </a:solidFill>
                <a:latin typeface="Calibri" pitchFamily="34" charset="0"/>
                <a:ea typeface="Calibri" pitchFamily="34" charset="-122"/>
                <a:cs typeface="Calibri" pitchFamily="34" charset="-120"/>
              </a:rPr>
              <a:t>Transient-error retry with back-off; 'busy' and 'wrong' errors treated differently</a:t>
            </a:r>
            <a:endParaRPr lang="en-US" sz="1000" dirty="0"/>
          </a:p>
        </p:txBody>
      </p:sp>
      <p:sp>
        <p:nvSpPr>
          <p:cNvPr id="13" name="Shape 11"/>
          <p:cNvSpPr/>
          <p:nvPr/>
        </p:nvSpPr>
        <p:spPr>
          <a:xfrm>
            <a:off x="457200" y="2670048"/>
            <a:ext cx="8229600" cy="603504"/>
          </a:xfrm>
          <a:prstGeom prst="rect">
            <a:avLst/>
          </a:prstGeom>
          <a:solidFill>
            <a:srgbClr val="F7F9F9"/>
          </a:solidFill>
          <a:ln w="12700">
            <a:solidFill>
              <a:srgbClr val="F7F9F9"/>
            </a:solidFill>
            <a:prstDash val="solid"/>
          </a:ln>
        </p:spPr>
      </p:sp>
      <p:sp>
        <p:nvSpPr>
          <p:cNvPr id="14" name="Text 12"/>
          <p:cNvSpPr txBox="1"/>
          <p:nvPr/>
        </p:nvSpPr>
        <p:spPr>
          <a:xfrm>
            <a:off x="502920" y="2715768"/>
            <a:ext cx="914400" cy="512064"/>
          </a:xfrm>
          <a:prstGeom prst="rect">
            <a:avLst/>
          </a:prstGeom>
          <a:noFill/>
          <a:ln/>
        </p:spPr>
        <p:txBody>
          <a:bodyPr wrap="square" lIns="0" tIns="0" rIns="0" bIns="0" rtlCol="0" anchor="t"/>
          <a:lstStyle/>
          <a:p>
            <a:pPr indent="0" marL="0">
              <a:buNone/>
            </a:pPr>
            <a:r>
              <a:rPr lang="en-US" sz="1000" b="1" dirty="0">
                <a:solidFill>
                  <a:srgbClr val="1F3A3D"/>
                </a:solidFill>
                <a:latin typeface="Calibri" pitchFamily="34" charset="0"/>
                <a:ea typeface="Calibri" pitchFamily="34" charset="-122"/>
                <a:cs typeface="Calibri" pitchFamily="34" charset="-120"/>
              </a:rPr>
              <a:t>17-23 Sept</a:t>
            </a:r>
            <a:endParaRPr lang="en-US" sz="1000" dirty="0"/>
          </a:p>
        </p:txBody>
      </p:sp>
      <p:sp>
        <p:nvSpPr>
          <p:cNvPr id="15" name="Text 13"/>
          <p:cNvSpPr txBox="1"/>
          <p:nvPr/>
        </p:nvSpPr>
        <p:spPr>
          <a:xfrm>
            <a:off x="1417320" y="2715768"/>
            <a:ext cx="3566160" cy="512064"/>
          </a:xfrm>
          <a:prstGeom prst="rect">
            <a:avLst/>
          </a:prstGeom>
          <a:noFill/>
          <a:ln/>
        </p:spPr>
        <p:txBody>
          <a:bodyPr wrap="square" lIns="0" tIns="0" rIns="0" bIns="0" rtlCol="0" anchor="t"/>
          <a:lstStyle/>
          <a:p>
            <a:pPr indent="0" marL="0">
              <a:buNone/>
            </a:pPr>
            <a:r>
              <a:rPr lang="en-US" sz="1000" dirty="0">
                <a:solidFill>
                  <a:srgbClr val="1F3A3D"/>
                </a:solidFill>
                <a:latin typeface="Calibri" pitchFamily="34" charset="0"/>
                <a:ea typeface="Calibri" pitchFamily="34" charset="-122"/>
                <a:cs typeface="Calibri" pitchFamily="34" charset="-120"/>
              </a:rPr>
              <a:t>429 - a 20-requests-a-day free quota, burned by retries</a:t>
            </a:r>
            <a:endParaRPr lang="en-US" sz="1000" dirty="0"/>
          </a:p>
        </p:txBody>
      </p:sp>
      <p:sp>
        <p:nvSpPr>
          <p:cNvPr id="16" name="Text 14"/>
          <p:cNvSpPr txBox="1"/>
          <p:nvPr/>
        </p:nvSpPr>
        <p:spPr>
          <a:xfrm>
            <a:off x="5120640" y="2715768"/>
            <a:ext cx="3520440" cy="512064"/>
          </a:xfrm>
          <a:prstGeom prst="rect">
            <a:avLst/>
          </a:prstGeom>
          <a:noFill/>
          <a:ln/>
        </p:spPr>
        <p:txBody>
          <a:bodyPr wrap="square" lIns="0" tIns="0" rIns="0" bIns="0" rtlCol="0" anchor="t"/>
          <a:lstStyle/>
          <a:p>
            <a:pPr indent="0" marL="0">
              <a:buNone/>
            </a:pPr>
            <a:r>
              <a:rPr lang="en-US" sz="1000" dirty="0">
                <a:solidFill>
                  <a:srgbClr val="8A5A17"/>
                </a:solidFill>
                <a:latin typeface="Calibri" pitchFamily="34" charset="0"/>
                <a:ea typeface="Calibri" pitchFamily="34" charset="-122"/>
                <a:cs typeface="Calibri" pitchFamily="34" charset="-120"/>
              </a:rPr>
              <a:t>Quota id logged; per-day limit stops at once; switched to a 500-a-day model</a:t>
            </a:r>
            <a:endParaRPr lang="en-US" sz="1000" dirty="0"/>
          </a:p>
        </p:txBody>
      </p:sp>
      <p:sp>
        <p:nvSpPr>
          <p:cNvPr id="17" name="Text 15"/>
          <p:cNvSpPr txBox="1"/>
          <p:nvPr/>
        </p:nvSpPr>
        <p:spPr>
          <a:xfrm>
            <a:off x="502920" y="3319272"/>
            <a:ext cx="914400" cy="512064"/>
          </a:xfrm>
          <a:prstGeom prst="rect">
            <a:avLst/>
          </a:prstGeom>
          <a:noFill/>
          <a:ln/>
        </p:spPr>
        <p:txBody>
          <a:bodyPr wrap="square" lIns="0" tIns="0" rIns="0" bIns="0" rtlCol="0" anchor="t"/>
          <a:lstStyle/>
          <a:p>
            <a:pPr indent="0" marL="0">
              <a:buNone/>
            </a:pPr>
            <a:r>
              <a:rPr lang="en-US" sz="1000" b="1" dirty="0">
                <a:solidFill>
                  <a:srgbClr val="1F3A3D"/>
                </a:solidFill>
                <a:latin typeface="Calibri" pitchFamily="34" charset="0"/>
                <a:ea typeface="Calibri" pitchFamily="34" charset="-122"/>
                <a:cs typeface="Calibri" pitchFamily="34" charset="-120"/>
              </a:rPr>
              <a:t>23 Sept</a:t>
            </a:r>
            <a:endParaRPr lang="en-US" sz="1000" dirty="0"/>
          </a:p>
        </p:txBody>
      </p:sp>
      <p:sp>
        <p:nvSpPr>
          <p:cNvPr id="18" name="Text 16"/>
          <p:cNvSpPr txBox="1"/>
          <p:nvPr/>
        </p:nvSpPr>
        <p:spPr>
          <a:xfrm>
            <a:off x="1417320" y="3319272"/>
            <a:ext cx="3566160" cy="512064"/>
          </a:xfrm>
          <a:prstGeom prst="rect">
            <a:avLst/>
          </a:prstGeom>
          <a:noFill/>
          <a:ln/>
        </p:spPr>
        <p:txBody>
          <a:bodyPr wrap="square" lIns="0" tIns="0" rIns="0" bIns="0" rtlCol="0" anchor="t"/>
          <a:lstStyle/>
          <a:p>
            <a:pPr indent="0" marL="0">
              <a:buNone/>
            </a:pPr>
            <a:r>
              <a:rPr lang="en-US" sz="1000" dirty="0">
                <a:solidFill>
                  <a:srgbClr val="1F3A3D"/>
                </a:solidFill>
                <a:latin typeface="Calibri" pitchFamily="34" charset="0"/>
                <a:ea typeface="Calibri" pitchFamily="34" charset="-122"/>
                <a:cs typeface="Calibri" pitchFamily="34" charset="-120"/>
              </a:rPr>
              <a:t>OpenAlex 429: keyless access now capped at $0.10/day</a:t>
            </a:r>
            <a:endParaRPr lang="en-US" sz="1000" dirty="0"/>
          </a:p>
        </p:txBody>
      </p:sp>
      <p:sp>
        <p:nvSpPr>
          <p:cNvPr id="19" name="Text 17"/>
          <p:cNvSpPr txBox="1"/>
          <p:nvPr/>
        </p:nvSpPr>
        <p:spPr>
          <a:xfrm>
            <a:off x="5120640" y="3319272"/>
            <a:ext cx="3520440" cy="512064"/>
          </a:xfrm>
          <a:prstGeom prst="rect">
            <a:avLst/>
          </a:prstGeom>
          <a:noFill/>
          <a:ln/>
        </p:spPr>
        <p:txBody>
          <a:bodyPr wrap="square" lIns="0" tIns="0" rIns="0" bIns="0" rtlCol="0" anchor="t"/>
          <a:lstStyle/>
          <a:p>
            <a:pPr indent="0" marL="0">
              <a:buNone/>
            </a:pPr>
            <a:r>
              <a:rPr lang="en-US" sz="1000" dirty="0">
                <a:solidFill>
                  <a:srgbClr val="8A5A17"/>
                </a:solidFill>
                <a:latin typeface="Calibri" pitchFamily="34" charset="0"/>
                <a:ea typeface="Calibri" pitchFamily="34" charset="-122"/>
                <a:cs typeface="Calibri" pitchFamily="34" charset="-120"/>
              </a:rPr>
              <a:t>Free API key added to configuration; one shared retry policy for OpenAlex and Crossref</a:t>
            </a:r>
            <a:endParaRPr lang="en-US" sz="1000" dirty="0"/>
          </a:p>
        </p:txBody>
      </p:sp>
      <p:sp>
        <p:nvSpPr>
          <p:cNvPr id="20" name="Shape 18"/>
          <p:cNvSpPr/>
          <p:nvPr/>
        </p:nvSpPr>
        <p:spPr>
          <a:xfrm>
            <a:off x="457200" y="3877056"/>
            <a:ext cx="8229600" cy="603504"/>
          </a:xfrm>
          <a:prstGeom prst="rect">
            <a:avLst/>
          </a:prstGeom>
          <a:solidFill>
            <a:srgbClr val="F7F9F9"/>
          </a:solidFill>
          <a:ln w="12700">
            <a:solidFill>
              <a:srgbClr val="F7F9F9"/>
            </a:solidFill>
            <a:prstDash val="solid"/>
          </a:ln>
        </p:spPr>
      </p:sp>
      <p:sp>
        <p:nvSpPr>
          <p:cNvPr id="21" name="Text 19"/>
          <p:cNvSpPr txBox="1"/>
          <p:nvPr/>
        </p:nvSpPr>
        <p:spPr>
          <a:xfrm>
            <a:off x="502920" y="3922776"/>
            <a:ext cx="914400" cy="512064"/>
          </a:xfrm>
          <a:prstGeom prst="rect">
            <a:avLst/>
          </a:prstGeom>
          <a:noFill/>
          <a:ln/>
        </p:spPr>
        <p:txBody>
          <a:bodyPr wrap="square" lIns="0" tIns="0" rIns="0" bIns="0" rtlCol="0" anchor="t"/>
          <a:lstStyle/>
          <a:p>
            <a:pPr indent="0" marL="0">
              <a:buNone/>
            </a:pPr>
            <a:r>
              <a:rPr lang="en-US" sz="1000" b="1" dirty="0">
                <a:solidFill>
                  <a:srgbClr val="1F3A3D"/>
                </a:solidFill>
                <a:latin typeface="Calibri" pitchFamily="34" charset="0"/>
                <a:ea typeface="Calibri" pitchFamily="34" charset="-122"/>
                <a:cs typeface="Calibri" pitchFamily="34" charset="-120"/>
              </a:rPr>
              <a:t>23 Sept</a:t>
            </a:r>
            <a:endParaRPr lang="en-US" sz="1000" dirty="0"/>
          </a:p>
        </p:txBody>
      </p:sp>
      <p:sp>
        <p:nvSpPr>
          <p:cNvPr id="22" name="Text 20"/>
          <p:cNvSpPr txBox="1"/>
          <p:nvPr/>
        </p:nvSpPr>
        <p:spPr>
          <a:xfrm>
            <a:off x="1417320" y="3922776"/>
            <a:ext cx="3566160" cy="512064"/>
          </a:xfrm>
          <a:prstGeom prst="rect">
            <a:avLst/>
          </a:prstGeom>
          <a:noFill/>
          <a:ln/>
        </p:spPr>
        <p:txBody>
          <a:bodyPr wrap="square" lIns="0" tIns="0" rIns="0" bIns="0" rtlCol="0" anchor="t"/>
          <a:lstStyle/>
          <a:p>
            <a:pPr indent="0" marL="0">
              <a:buNone/>
            </a:pPr>
            <a:r>
              <a:rPr lang="en-US" sz="1000" dirty="0">
                <a:solidFill>
                  <a:srgbClr val="1F3A3D"/>
                </a:solidFill>
                <a:latin typeface="Calibri" pitchFamily="34" charset="0"/>
                <a:ea typeface="Calibri" pitchFamily="34" charset="-122"/>
                <a:cs typeface="Calibri" pitchFamily="34" charset="-120"/>
              </a:rPr>
              <a:t>The typo 'approv' was taken as feedback and re-planned</a:t>
            </a:r>
            <a:endParaRPr lang="en-US" sz="1000" dirty="0"/>
          </a:p>
        </p:txBody>
      </p:sp>
      <p:sp>
        <p:nvSpPr>
          <p:cNvPr id="23" name="Text 21"/>
          <p:cNvSpPr txBox="1"/>
          <p:nvPr/>
        </p:nvSpPr>
        <p:spPr>
          <a:xfrm>
            <a:off x="5120640" y="3922776"/>
            <a:ext cx="3520440" cy="512064"/>
          </a:xfrm>
          <a:prstGeom prst="rect">
            <a:avLst/>
          </a:prstGeom>
          <a:noFill/>
          <a:ln/>
        </p:spPr>
        <p:txBody>
          <a:bodyPr wrap="square" lIns="0" tIns="0" rIns="0" bIns="0" rtlCol="0" anchor="t"/>
          <a:lstStyle/>
          <a:p>
            <a:pPr indent="0" marL="0">
              <a:buNone/>
            </a:pPr>
            <a:r>
              <a:rPr lang="en-US" sz="1000" dirty="0">
                <a:solidFill>
                  <a:srgbClr val="8A5A17"/>
                </a:solidFill>
                <a:latin typeface="Calibri" pitchFamily="34" charset="0"/>
                <a:ea typeface="Calibri" pitchFamily="34" charset="-122"/>
                <a:cs typeface="Calibri" pitchFamily="34" charset="-120"/>
              </a:rPr>
              <a:t>Short unrecognised input is re-asked instead of sent to the planner</a:t>
            </a:r>
            <a:endParaRPr lang="en-US" sz="1000" dirty="0"/>
          </a:p>
        </p:txBody>
      </p:sp>
      <p:sp>
        <p:nvSpPr>
          <p:cNvPr id="24" name="Text 22"/>
          <p:cNvSpPr txBox="1"/>
          <p:nvPr/>
        </p:nvSpPr>
        <p:spPr>
          <a:xfrm>
            <a:off x="457200" y="4315968"/>
            <a:ext cx="8229600" cy="457200"/>
          </a:xfrm>
          <a:prstGeom prst="rect">
            <a:avLst/>
          </a:prstGeom>
          <a:noFill/>
          <a:ln/>
        </p:spPr>
        <p:txBody>
          <a:bodyPr wrap="square" lIns="0" tIns="0" rIns="0" bIns="0" rtlCol="0" anchor="t"/>
          <a:lstStyle/>
          <a:p>
            <a:pPr indent="0" marL="0">
              <a:buNone/>
            </a:pPr>
            <a:r>
              <a:rPr lang="en-US" sz="1050" i="1" dirty="0">
                <a:solidFill>
                  <a:srgbClr val="1F3A3D"/>
                </a:solidFill>
                <a:latin typeface="Calibri" pitchFamily="34" charset="0"/>
                <a:ea typeface="Calibri" pitchFamily="34" charset="-122"/>
                <a:cs typeface="Calibri" pitchFamily="34" charset="-120"/>
              </a:rPr>
              <a:t>None of these needed a rewrite. Keeping every tunable in one configuration module, and every external call behind one small client, is what made each fix a line or two - and adding a second source one new module. Commits run from 9 to 30 September, roughly one per stage.</a:t>
            </a:r>
            <a:endParaRPr lang="en-US" sz="1050" dirty="0"/>
          </a:p>
        </p:txBody>
      </p:sp>
      <p:sp>
        <p:nvSpPr>
          <p:cNvPr id="25" name="Text 23"/>
          <p:cNvSpPr txBox="1"/>
          <p:nvPr/>
        </p:nvSpPr>
        <p:spPr>
          <a:xfrm>
            <a:off x="8138160" y="4754880"/>
            <a:ext cx="640080" cy="274320"/>
          </a:xfrm>
          <a:prstGeom prst="rect">
            <a:avLst/>
          </a:prstGeom>
          <a:noFill/>
          <a:ln/>
        </p:spPr>
        <p:txBody>
          <a:bodyPr wrap="square" lIns="0" tIns="0" rIns="0" bIns="0" rtlCol="0" anchor="ctr"/>
          <a:lstStyle/>
          <a:p>
            <a:pPr algn="r" indent="0" marL="0">
              <a:buNone/>
            </a:pPr>
            <a:r>
              <a:rPr lang="en-US" sz="900" dirty="0">
                <a:solidFill>
                  <a:srgbClr val="5F6F70"/>
                </a:solidFill>
                <a:latin typeface="Calibri" pitchFamily="34" charset="0"/>
                <a:ea typeface="Calibri" pitchFamily="34" charset="-122"/>
                <a:cs typeface="Calibri" pitchFamily="34" charset="-120"/>
              </a:rPr>
              <a:t>9 / 10</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3A3D"/>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Against the design, and honestly</a:t>
            </a:r>
            <a:endParaRPr lang="en-US" sz="3000" dirty="0"/>
          </a:p>
        </p:txBody>
      </p:sp>
      <p:sp>
        <p:nvSpPr>
          <p:cNvPr id="3" name="Text 1"/>
          <p:cNvSpPr txBox="1"/>
          <p:nvPr/>
        </p:nvSpPr>
        <p:spPr>
          <a:xfrm>
            <a:off x="457200" y="1143000"/>
            <a:ext cx="2651760" cy="365760"/>
          </a:xfrm>
          <a:prstGeom prst="rect">
            <a:avLst/>
          </a:prstGeom>
          <a:noFill/>
          <a:ln/>
        </p:spPr>
        <p:txBody>
          <a:bodyPr wrap="square" lIns="0" tIns="0" rIns="0" bIns="0" rtlCol="0" anchor="ctr"/>
          <a:lstStyle/>
          <a:p>
            <a:pPr indent="0" marL="0">
              <a:buNone/>
            </a:pPr>
            <a:r>
              <a:rPr lang="en-US" sz="1300" b="1" dirty="0">
                <a:solidFill>
                  <a:srgbClr val="D9963A"/>
                </a:solidFill>
                <a:latin typeface="Calibri" pitchFamily="34" charset="0"/>
                <a:ea typeface="Calibri" pitchFamily="34" charset="-122"/>
                <a:cs typeface="Calibri" pitchFamily="34" charset="-120"/>
              </a:rPr>
              <a:t>Matches the design</a:t>
            </a:r>
            <a:endParaRPr lang="en-US" sz="1300" dirty="0"/>
          </a:p>
        </p:txBody>
      </p:sp>
      <p:sp>
        <p:nvSpPr>
          <p:cNvPr id="4" name="Text 2"/>
          <p:cNvSpPr txBox="1"/>
          <p:nvPr/>
        </p:nvSpPr>
        <p:spPr>
          <a:xfrm>
            <a:off x="457200" y="1554480"/>
            <a:ext cx="2651760" cy="2743200"/>
          </a:xfrm>
          <a:prstGeom prst="rect">
            <a:avLst/>
          </a:prstGeom>
          <a:noFill/>
          <a:ln/>
        </p:spPr>
        <p:txBody>
          <a:bodyPr wrap="square" lIns="0" tIns="0" rIns="0" bIns="0" rtlCol="0" anchor="t"/>
          <a:lstStyle/>
          <a:p>
            <a:pPr marL="342900" indent="-342900">
              <a:spcAft>
                <a:spcPts val="600"/>
              </a:spcAft>
              <a:buSzPct val="100000"/>
              <a:buChar char="•"/>
            </a:pPr>
            <a:r>
              <a:rPr lang="en-US" sz="1000" dirty="0">
                <a:solidFill>
                  <a:srgbClr val="FFFFFF"/>
                </a:solidFill>
                <a:latin typeface="Calibri" pitchFamily="34" charset="0"/>
                <a:ea typeface="Calibri" pitchFamily="34" charset="-122"/>
                <a:cs typeface="Calibri" pitchFamily="34" charset="-120"/>
              </a:rPr>
              <a:t>Three agents, orchestrator, the four data classes and Decision enum from Diagram 1</a:t>
            </a:r>
            <a:endParaRPr lang="en-US" sz="1000" dirty="0"/>
          </a:p>
          <a:p>
            <a:pPr marL="342900" indent="-342900">
              <a:spcAft>
                <a:spcPts val="600"/>
              </a:spcAft>
              <a:buSzPct val="100000"/>
              <a:buChar char="•"/>
            </a:pPr>
            <a:r>
              <a:rPr lang="en-US" sz="1000" dirty="0">
                <a:solidFill>
                  <a:srgbClr val="FFFFFF"/>
                </a:solidFill>
                <a:latin typeface="Calibri" pitchFamily="34" charset="0"/>
                <a:ea typeface="Calibri" pitchFamily="34" charset="-122"/>
                <a:cs typeface="Calibri" pitchFamily="34" charset="-120"/>
              </a:rPr>
              <a:t>Both review points, both autonomy caps</a:t>
            </a:r>
            <a:endParaRPr lang="en-US" sz="1000" dirty="0"/>
          </a:p>
          <a:p>
            <a:pPr marL="342900" indent="-342900">
              <a:spcAft>
                <a:spcPts val="600"/>
              </a:spcAft>
              <a:buSzPct val="100000"/>
              <a:buChar char="•"/>
            </a:pPr>
            <a:r>
              <a:rPr lang="en-US" sz="1000" dirty="0">
                <a:solidFill>
                  <a:srgbClr val="FFFFFF"/>
                </a:solidFill>
                <a:latin typeface="Calibri" pitchFamily="34" charset="0"/>
                <a:ea typeface="Calibri" pitchFamily="34" charset="-122"/>
                <a:cs typeface="Calibri" pitchFamily="34" charset="-120"/>
              </a:rPr>
              <a:t>Crossref verification; flagged, never dropped</a:t>
            </a:r>
            <a:endParaRPr lang="en-US" sz="1000" dirty="0"/>
          </a:p>
          <a:p>
            <a:pPr marL="342900" indent="-342900">
              <a:spcAft>
                <a:spcPts val="600"/>
              </a:spcAft>
              <a:buSzPct val="100000"/>
              <a:buChar char="•"/>
            </a:pPr>
            <a:r>
              <a:rPr lang="en-US" sz="1000" dirty="0">
                <a:solidFill>
                  <a:srgbClr val="FFFFFF"/>
                </a:solidFill>
                <a:latin typeface="Calibri" pitchFamily="34" charset="0"/>
                <a:ea typeface="Calibri" pitchFamily="34" charset="-122"/>
                <a:cs typeface="Calibri" pitchFamily="34" charset="-120"/>
              </a:rPr>
              <a:t>Brief with notes, themes, gaps, limitations, references</a:t>
            </a:r>
            <a:endParaRPr lang="en-US" sz="1000" dirty="0"/>
          </a:p>
          <a:p>
            <a:pPr marL="342900" indent="-342900">
              <a:spcAft>
                <a:spcPts val="600"/>
              </a:spcAft>
              <a:buSzPct val="100000"/>
              <a:buChar char="•"/>
            </a:pPr>
            <a:r>
              <a:rPr lang="en-US" sz="1000" dirty="0">
                <a:solidFill>
                  <a:srgbClr val="FFFFFF"/>
                </a:solidFill>
                <a:latin typeface="Calibri" pitchFamily="34" charset="0"/>
                <a:ea typeface="Calibri" pitchFamily="34" charset="-122"/>
                <a:cs typeface="Calibri" pitchFamily="34" charset="-120"/>
              </a:rPr>
              <a:t>Three small departures: a second retry trigger after scoring; a shared retry policy; previous_query kept on SubQuestion</a:t>
            </a:r>
            <a:endParaRPr lang="en-US" sz="1000" dirty="0"/>
          </a:p>
        </p:txBody>
      </p:sp>
      <p:sp>
        <p:nvSpPr>
          <p:cNvPr id="5" name="Text 3"/>
          <p:cNvSpPr txBox="1"/>
          <p:nvPr/>
        </p:nvSpPr>
        <p:spPr>
          <a:xfrm>
            <a:off x="3246120" y="1143000"/>
            <a:ext cx="2651760" cy="365760"/>
          </a:xfrm>
          <a:prstGeom prst="rect">
            <a:avLst/>
          </a:prstGeom>
          <a:noFill/>
          <a:ln/>
        </p:spPr>
        <p:txBody>
          <a:bodyPr wrap="square" lIns="0" tIns="0" rIns="0" bIns="0" rtlCol="0" anchor="ctr"/>
          <a:lstStyle/>
          <a:p>
            <a:pPr indent="0" marL="0">
              <a:buNone/>
            </a:pPr>
            <a:r>
              <a:rPr lang="en-US" sz="1300" b="1" dirty="0">
                <a:solidFill>
                  <a:srgbClr val="D9963A"/>
                </a:solidFill>
                <a:latin typeface="Calibri" pitchFamily="34" charset="0"/>
                <a:ea typeface="Calibri" pitchFamily="34" charset="-122"/>
                <a:cs typeface="Calibri" pitchFamily="34" charset="-120"/>
              </a:rPr>
              <a:t>Changed after the feedback (29 Sept)</a:t>
            </a:r>
            <a:endParaRPr lang="en-US" sz="1300" dirty="0"/>
          </a:p>
        </p:txBody>
      </p:sp>
      <p:sp>
        <p:nvSpPr>
          <p:cNvPr id="6" name="Text 4"/>
          <p:cNvSpPr txBox="1"/>
          <p:nvPr/>
        </p:nvSpPr>
        <p:spPr>
          <a:xfrm>
            <a:off x="3246120" y="1554480"/>
            <a:ext cx="2651760" cy="2743200"/>
          </a:xfrm>
          <a:prstGeom prst="rect">
            <a:avLst/>
          </a:prstGeom>
          <a:noFill/>
          <a:ln/>
        </p:spPr>
        <p:txBody>
          <a:bodyPr wrap="square" lIns="0" tIns="0" rIns="0" bIns="0" rtlCol="0" anchor="t"/>
          <a:lstStyle/>
          <a:p>
            <a:pPr marL="342900" indent="-342900">
              <a:spcAft>
                <a:spcPts val="600"/>
              </a:spcAft>
              <a:buSzPct val="100000"/>
              <a:buChar char="•"/>
            </a:pPr>
            <a:r>
              <a:rPr lang="en-US" sz="1000" dirty="0">
                <a:solidFill>
                  <a:srgbClr val="FFFFFF"/>
                </a:solidFill>
                <a:latin typeface="Calibri" pitchFamily="34" charset="0"/>
                <a:ea typeface="Calibri" pitchFamily="34" charset="-122"/>
                <a:cs typeface="Calibri" pitchFamily="34" charset="-120"/>
              </a:rPr>
              <a:t>Model choice justified from the provider's figures: 1M-token context vs 12k-token prompts, structured output, 500 requests/day free, $0.30 per M input tokens, benchmarks - none of which measures abstract screening</a:t>
            </a:r>
            <a:endParaRPr lang="en-US" sz="1000" dirty="0"/>
          </a:p>
          <a:p>
            <a:pPr marL="342900" indent="-342900">
              <a:spcAft>
                <a:spcPts val="600"/>
              </a:spcAft>
              <a:buSzPct val="100000"/>
              <a:buChar char="•"/>
            </a:pPr>
            <a:r>
              <a:rPr lang="en-US" sz="1000" dirty="0">
                <a:solidFill>
                  <a:srgbClr val="FFFFFF"/>
                </a:solidFill>
                <a:latin typeface="Calibri" pitchFamily="34" charset="0"/>
                <a:ea typeface="Calibri" pitchFamily="34" charset="-122"/>
                <a:cs typeface="Calibri" pitchFamily="34" charset="-120"/>
              </a:rPr>
              <a:t>Test targets stated honestly: de-duplication and citation accuracy measured; recall and precision not - no gold set - with what one would need</a:t>
            </a:r>
            <a:endParaRPr lang="en-US" sz="1000" dirty="0"/>
          </a:p>
          <a:p>
            <a:pPr marL="342900" indent="-342900">
              <a:spcAft>
                <a:spcPts val="600"/>
              </a:spcAft>
              <a:buSzPct val="100000"/>
              <a:buChar char="•"/>
            </a:pPr>
            <a:r>
              <a:rPr lang="en-US" sz="1000" dirty="0">
                <a:solidFill>
                  <a:srgbClr val="FFFFFF"/>
                </a:solidFill>
                <a:latin typeface="Calibri" pitchFamily="34" charset="0"/>
                <a:ea typeface="Calibri" pitchFamily="34" charset="-122"/>
                <a:cs typeface="Calibri" pitchFamily="34" charset="-120"/>
              </a:rPr>
              <a:t>Built: two sources for every search, automatic failover; 78 -&gt; 117 papers on the same question</a:t>
            </a:r>
            <a:endParaRPr lang="en-US" sz="1000" dirty="0"/>
          </a:p>
        </p:txBody>
      </p:sp>
      <p:sp>
        <p:nvSpPr>
          <p:cNvPr id="7" name="Text 5"/>
          <p:cNvSpPr txBox="1"/>
          <p:nvPr/>
        </p:nvSpPr>
        <p:spPr>
          <a:xfrm>
            <a:off x="6035040" y="1143000"/>
            <a:ext cx="2651760" cy="365760"/>
          </a:xfrm>
          <a:prstGeom prst="rect">
            <a:avLst/>
          </a:prstGeom>
          <a:noFill/>
          <a:ln/>
        </p:spPr>
        <p:txBody>
          <a:bodyPr wrap="square" lIns="0" tIns="0" rIns="0" bIns="0" rtlCol="0" anchor="ctr"/>
          <a:lstStyle/>
          <a:p>
            <a:pPr indent="0" marL="0">
              <a:buNone/>
            </a:pPr>
            <a:r>
              <a:rPr lang="en-US" sz="1300" b="1" dirty="0">
                <a:solidFill>
                  <a:srgbClr val="D9963A"/>
                </a:solidFill>
                <a:latin typeface="Calibri" pitchFamily="34" charset="0"/>
                <a:ea typeface="Calibri" pitchFamily="34" charset="-122"/>
                <a:cs typeface="Calibri" pitchFamily="34" charset="-120"/>
              </a:rPr>
              <a:t>Limits and next steps</a:t>
            </a:r>
            <a:endParaRPr lang="en-US" sz="1300" dirty="0"/>
          </a:p>
        </p:txBody>
      </p:sp>
      <p:sp>
        <p:nvSpPr>
          <p:cNvPr id="8" name="Text 6"/>
          <p:cNvSpPr txBox="1"/>
          <p:nvPr/>
        </p:nvSpPr>
        <p:spPr>
          <a:xfrm>
            <a:off x="6035040" y="1554480"/>
            <a:ext cx="2651760" cy="2743200"/>
          </a:xfrm>
          <a:prstGeom prst="rect">
            <a:avLst/>
          </a:prstGeom>
          <a:noFill/>
          <a:ln/>
        </p:spPr>
        <p:txBody>
          <a:bodyPr wrap="square" lIns="0" tIns="0" rIns="0" bIns="0" rtlCol="0" anchor="t"/>
          <a:lstStyle/>
          <a:p>
            <a:pPr marL="342900" indent="-342900">
              <a:spcAft>
                <a:spcPts val="600"/>
              </a:spcAft>
              <a:buSzPct val="100000"/>
              <a:buChar char="•"/>
            </a:pPr>
            <a:r>
              <a:rPr lang="en-US" sz="1000" dirty="0">
                <a:solidFill>
                  <a:srgbClr val="FFFFFF"/>
                </a:solidFill>
                <a:latin typeface="Calibri" pitchFamily="34" charset="0"/>
                <a:ea typeface="Calibri" pitchFamily="34" charset="-122"/>
                <a:cs typeface="Calibri" pitchFamily="34" charset="-120"/>
              </a:rPr>
              <a:t>Abstracts only, 20 per query per source</a:t>
            </a:r>
            <a:endParaRPr lang="en-US" sz="1000" dirty="0"/>
          </a:p>
          <a:p>
            <a:pPr marL="342900" indent="-342900">
              <a:spcAft>
                <a:spcPts val="600"/>
              </a:spcAft>
              <a:buSzPct val="100000"/>
              <a:buChar char="•"/>
            </a:pPr>
            <a:r>
              <a:rPr lang="en-US" sz="1000" dirty="0">
                <a:solidFill>
                  <a:srgbClr val="FFFFFF"/>
                </a:solidFill>
                <a:latin typeface="Calibri" pitchFamily="34" charset="0"/>
                <a:ea typeface="Calibri" pitchFamily="34" charset="-122"/>
                <a:cs typeface="Calibri" pitchFamily="34" charset="-120"/>
              </a:rPr>
              <a:t>Lite keeps more papers than Flash (42 vs 26) - calibrate the cut-off per model</a:t>
            </a:r>
            <a:endParaRPr lang="en-US" sz="1000" dirty="0"/>
          </a:p>
          <a:p>
            <a:pPr marL="342900" indent="-342900">
              <a:spcAft>
                <a:spcPts val="600"/>
              </a:spcAft>
              <a:buSzPct val="100000"/>
              <a:buChar char="•"/>
            </a:pPr>
            <a:r>
              <a:rPr lang="en-US" sz="1000" dirty="0">
                <a:solidFill>
                  <a:srgbClr val="FFFFFF"/>
                </a:solidFill>
                <a:latin typeface="Calibri" pitchFamily="34" charset="0"/>
                <a:ea typeface="Calibri" pitchFamily="34" charset="-122"/>
                <a:cs typeface="Calibri" pitchFamily="34" charset="-120"/>
              </a:rPr>
              <a:t>A paper under two DOIs is not merged; Semantic Scholar's keyless pool refuses more than it answers</a:t>
            </a:r>
            <a:endParaRPr lang="en-US" sz="1000" dirty="0"/>
          </a:p>
          <a:p>
            <a:pPr marL="342900" indent="-342900">
              <a:spcAft>
                <a:spcPts val="600"/>
              </a:spcAft>
              <a:buSzPct val="100000"/>
              <a:buChar char="•"/>
            </a:pPr>
            <a:r>
              <a:rPr lang="en-US" sz="1000" dirty="0">
                <a:solidFill>
                  <a:srgbClr val="FFFFFF"/>
                </a:solidFill>
                <a:latin typeface="Calibri" pitchFamily="34" charset="0"/>
                <a:ea typeface="Calibri" pitchFamily="34" charset="-122"/>
                <a:cs typeface="Calibri" pitchFamily="34" charset="-120"/>
              </a:rPr>
              <a:t>Next: DataCite lookup, a labelled set for recall and precision, full text where open</a:t>
            </a:r>
            <a:endParaRPr lang="en-US" sz="1000" dirty="0"/>
          </a:p>
        </p:txBody>
      </p:sp>
      <p:sp>
        <p:nvSpPr>
          <p:cNvPr id="9" name="Text 7"/>
          <p:cNvSpPr txBox="1"/>
          <p:nvPr/>
        </p:nvSpPr>
        <p:spPr>
          <a:xfrm>
            <a:off x="457200" y="4343400"/>
            <a:ext cx="8229600" cy="320040"/>
          </a:xfrm>
          <a:prstGeom prst="rect">
            <a:avLst/>
          </a:prstGeom>
          <a:noFill/>
          <a:ln/>
        </p:spPr>
        <p:txBody>
          <a:bodyPr wrap="square" lIns="0" tIns="0" rIns="0" bIns="0" rtlCol="0" anchor="ctr"/>
          <a:lstStyle/>
          <a:p>
            <a:pPr indent="0" marL="0">
              <a:buNone/>
            </a:pPr>
            <a:r>
              <a:rPr lang="en-US" sz="1100" dirty="0">
                <a:solidFill>
                  <a:srgbClr val="CFE0DD"/>
                </a:solidFill>
                <a:latin typeface="Courier New" pitchFamily="34" charset="0"/>
                <a:ea typeface="Courier New" pitchFamily="34" charset="-122"/>
                <a:cs typeface="Courier New" pitchFamily="34" charset="-120"/>
              </a:rPr>
              <a:t>github.com/sergio88mi/research-agent  ·  README covers setup, keys and how to run</a:t>
            </a:r>
            <a:endParaRPr lang="en-US" sz="1100" dirty="0"/>
          </a:p>
        </p:txBody>
      </p:sp>
      <p:sp>
        <p:nvSpPr>
          <p:cNvPr id="10" name="Text 8"/>
          <p:cNvSpPr txBox="1"/>
          <p:nvPr/>
        </p:nvSpPr>
        <p:spPr>
          <a:xfrm>
            <a:off x="8138160" y="4754880"/>
            <a:ext cx="640080" cy="274320"/>
          </a:xfrm>
          <a:prstGeom prst="rect">
            <a:avLst/>
          </a:prstGeom>
          <a:noFill/>
          <a:ln/>
        </p:spPr>
        <p:txBody>
          <a:bodyPr wrap="square" lIns="0" tIns="0" rIns="0" bIns="0" rtlCol="0" anchor="ctr"/>
          <a:lstStyle/>
          <a:p>
            <a:pPr algn="r" indent="0" marL="0">
              <a:buNone/>
            </a:pPr>
            <a:r>
              <a:rPr lang="en-US" sz="900" dirty="0">
                <a:solidFill>
                  <a:srgbClr val="CFE0DD"/>
                </a:solidFill>
                <a:latin typeface="Calibri" pitchFamily="34" charset="0"/>
                <a:ea typeface="Calibri" pitchFamily="34" charset="-122"/>
                <a:cs typeface="Calibri" pitchFamily="34" charset="-120"/>
              </a:rPr>
              <a:t>10 / 10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Agent - an LLM-powered planning agent for academic literature search</dc:title>
  <dc:subject>PptxGenJS Presentation</dc:subject>
  <dc:creator>Sergei Misjura</dc:creator>
  <cp:lastModifiedBy>Sergei Misjura</cp:lastModifiedBy>
  <cp:revision>1</cp:revision>
  <dcterms:created xsi:type="dcterms:W3CDTF">2026-09-30T09:20:16Z</dcterms:created>
  <dcterms:modified xsi:type="dcterms:W3CDTF">2026-09-30T09:20:16Z</dcterms:modified>
</cp:coreProperties>
</file>