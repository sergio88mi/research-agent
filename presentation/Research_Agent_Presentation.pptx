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and thanks for watching. This is my individual project for the Intelligent Agents module. Earlier in the module our group designed a research agent on paper; my job here was to build it. It takes a research question and turns it into an evidence brief that a researcher can check line by line. I'll cover what the design asked for, how I built it, show it running, then testing, what went wrong, and where it still falls short. The code, tests, logs and README are all in the GitHub repository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point was our Group D design proposal. A research question goes in, a traceable evidence brief comes out. The design pinned down quite a lot before any code existed: three specialised agents and a coordinator that is deliberately not an agent; two human reviews, first of the plan and then of the evidence; every DOI checked against Crossref before it can be cited; limited autonomy, meaning one automatic retry of a query per sub-question and one scope revision per run; and a brief that has to say what it could not cover.
All of that comes from one fear. Ask a language model for literature and it will give you plausible papers that don't exist. So in this system the model never writes a reference. It breaks questions down, scores relevance and summarises abstracts, and that's all. Anything with an exact answer, de-duplication, DOI checks, the reference list, is plain code. My task was to build that, test it, and show 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follows the class diagram from our proposal. The researcher talks to one boundary class, which handles both reviews. Behind it, the orchestrator runs the steps in a fixed order, enforces the limits, and does the exact work itself. Under it are the three agents. The Planning Agent uses the language model to turn the question into sub-questions and queries, and to rewrite a query when a search comes up short. The Retrieval Agent has no model at all: it searches OpenAlex and decides, by counting, whether it got enough usable records. The Evaluation and Synthesis Agent uses the model for judgement: scoring each paper's relevance with a reason, and later writing notes, themes and gaps from whatever was approved.
What passes between them are the four classes from the diagram, as Pydantic models. Every reply from the model is parsed against a schema; if it doesn't fit, the error goes back once for repair, and if that fails the run stops. I'd rather it stopped than carried on with a broken object. The numbers on the right are the autonomy limits from the design, and they live in one configuration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run from start to finish. The question is planned into three to five sub-questions with search queries, and that plan goes to the researcher at Review 1: approve, or say what to change and get a new one. Nothing has been searched yet, so that loop can repeat freely. Each sub-question is then searched on OpenAlex, results are de-duplicated by DOI, every DOI is looked up in Crossref, and each paper is scored one to five from its abstract with a one-sentence reason. Review 2 shows every paper above the cut-off and offers three choices: approve, drop papers by number, or reject the scope and go back to planning, which is allowed once. After approval the agent writes a note per paper, then themes and gaps, and the orchestrator adds a limitations section computed from the run and a reference list built from the records.
One piece of automatic behaviour sits in the middle. If a search falls short, too few abstracts or too few relevant papers after scoring, the Planning Agent rewrites the query once and is told why the search fell short. It never gets a second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review point in a live run, on the question 'What approaches reduce hallucination in LLM-based autonomous agents'. The Planning Agent has returned an interpretation and four sub-questions, each with a query, and the program is waiting for me. The researcher sees exactly what will be searched before it happens. Revising costs nothing here because no quota has been spent; when I tested it, I asked to merge two sub-questions into one about evaluation, and the next plan came back with exactly three, merged as asked. And any constraints the user gives are re-sent with every prompt rather than left to the model's memory, so they can't quietly drop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approval, the log shows the middle of the pipeline. Eighty records came back across the four sub-questions; sixty-five were unique. Forty-six DOIs were found in Crossref; the other nineteen are mostly arXiv preprints, which register with DataCite instead, so they're flagged but kept. Then one scoring line per paper: score, keep or drop, DOI, reason. Twenty-six papers ended up above the cut-off.
The lower panel is the retry doing its job. Sub-question 4, on benchmarks, produced twelve new papers with abstracts but only one relevant; the query had pulled in general surveys. The orchestrator asked for one reformulation, passing the rejection reasons along. The new query found thirteen more records, two of them relevant, so that sub-question finished with three papers instead of one. That's an honest result: one retry is a safety net, not a cure, and the brief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2 lists every paper that passed, grouped and numbered, with score and reason, and notes where a query was reformulated. From here I can approve, drop papers by number, or reject the scope. In the functional tests I did all three: dropping two papers removed and re-numbered them and the brief recorded the removal; rejecting the scope sent the run back to planning with my feedback, and a second reject was refused because that budget was used.
After approval the twenty-six papers were summarised in four calls and the themes and gaps took one more. On the right are pieces of the brief. The note for paper five says RAG-based legal research tools still hallucinate seventeen to thirty-three percent of the time; I checked, and those figures are in the paper's abstract. Each theme cites paper numbers, and the schema rejects a theme that cites a number not in the list. The limitations are computed by the orchestrator, and the reference list comes straight from the records' metadata. The model never writes a 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happened at three levels. Fifty-six unit tests run without any network, against recorded replies from the three services; they cover the data models, abstract reconstruction, de-duplication and DOI checks, schema validation and repair, both review loops, the threshold and retry caps, the cut-off, batching, the rule that a theme can't cite a paper that isn't there, the retry policies, and the brief layout. Nine functional tests were run live, each with the command, the expected result and what actually happened: no API key, drop, revise, reject scope and be refused the second time, a full run, the threshold retry, transient errors, the daily quota stop, and malformed JSON repair. All nine pass. And a remediation log with eleven entries records every problem I hit, its cause, the change, and how I checked it. That log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Nearly every problem came from outside the code, and each one left a mark on it. The very first Gemini call returned a 404: the model I'd set up with had been retired between design and build. The name was already in configuration, so the fix was one line. A few days later a run died on a 503, and the next on a read timeout; that produced the transient-error retry, with 'busy' errors retried and 'wrong' errors failing at once so a bad key can't hide behind retries. Then came 429s. Once I logged the quota name it turned out the free tier for that model allows twenty requests a day, retries included, so the client now stops immediately on a daily quota, and I switched to a Flash-Lite model with five hundred a day, again one line. On the 23rd OpenAlex started refusing requests: their access model had changed and keyless use is now capped, so a free key went into configuration and the retry logic moved into one shared policy for OpenAlex and Crossref. And a typo: I typed 'approv' at Review 1 and it was taken as feedback and re-planned. Now a short unrecognised input is simply asked again.
None of this needed a rewrite. One configuration module and one small client per service meant each fix was a line or two. The repository holds thirteen commits across September, roughly one per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a fair comparison with the design. Where it matters, the implementation matches: the three agents, the orchestrator, the four data classes and the decision enum, both review points, both autonomy limits, Crossref checking that flags but never drops, and the brief with notes, themes, gaps, limitations and references.
It departs in three places. I added a second retry trigger after scoring, because a search can return twenty perfect abstracts of which only one answers the question, and a count-based threshold can't see that. I added a shared retry policy the design never mentioned, because the services forced it. And I kept the previous query on each sub-question so the brief can show both.
The limits are real. One source, abstracts only, twenty per query. The Lite model is a more generous judge, forty-two papers kept against twenty-six on the same question, so the cut-off probably needs tuning per model. And one retry took a thin sub-question from one paper to three, not five. Next would be a DataCite lookup for arXiv DOIs, a second source, and full text where it's open. Everything is in the repository, and the README explains how to run it.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3D"/>
        </a:solidFill>
      </p:bgPr>
    </p:bg>
    <p:spTree>
      <p:nvGrpSpPr>
        <p:cNvPr id="1" name=""/>
        <p:cNvGrpSpPr/>
        <p:nvPr/>
      </p:nvGrpSpPr>
      <p:grpSpPr>
        <a:xfrm>
          <a:off x="0" y="0"/>
          <a:ext cx="0" cy="0"/>
          <a:chOff x="0" y="0"/>
          <a:chExt cx="0" cy="0"/>
        </a:xfrm>
      </p:grpSpPr>
      <p:sp>
        <p:nvSpPr>
          <p:cNvPr id="2" name="Text 0"/>
          <p:cNvSpPr txBox="1"/>
          <p:nvPr/>
        </p:nvSpPr>
        <p:spPr>
          <a:xfrm>
            <a:off x="640080" y="1188720"/>
            <a:ext cx="786384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Research Agent</a:t>
            </a:r>
            <a:endParaRPr lang="en-US" sz="4400" dirty="0"/>
          </a:p>
        </p:txBody>
      </p:sp>
      <p:sp>
        <p:nvSpPr>
          <p:cNvPr id="3" name="Text 1"/>
          <p:cNvSpPr txBox="1"/>
          <p:nvPr/>
        </p:nvSpPr>
        <p:spPr>
          <a:xfrm>
            <a:off x="640080" y="1965960"/>
            <a:ext cx="7863840" cy="548640"/>
          </a:xfrm>
          <a:prstGeom prst="rect">
            <a:avLst/>
          </a:prstGeom>
          <a:noFill/>
          <a:ln/>
        </p:spPr>
        <p:txBody>
          <a:bodyPr wrap="square" lIns="0" tIns="0" rIns="0" bIns="0" rtlCol="0" anchor="ctr"/>
          <a:lstStyle/>
          <a:p>
            <a:pPr indent="0" marL="0">
              <a:buNone/>
            </a:pPr>
            <a:r>
              <a:rPr lang="en-US" sz="2000" dirty="0">
                <a:solidFill>
                  <a:srgbClr val="CFE0DD"/>
                </a:solidFill>
                <a:latin typeface="Calibri" pitchFamily="34" charset="0"/>
                <a:ea typeface="Calibri" pitchFamily="34" charset="-122"/>
                <a:cs typeface="Calibri" pitchFamily="34" charset="-120"/>
              </a:rPr>
              <a:t>An LLM-powered planning agent for academic literature search</a:t>
            </a:r>
            <a:endParaRPr lang="en-US" sz="2000" dirty="0"/>
          </a:p>
        </p:txBody>
      </p:sp>
      <p:sp>
        <p:nvSpPr>
          <p:cNvPr id="4" name="Text 2"/>
          <p:cNvSpPr txBox="1"/>
          <p:nvPr/>
        </p:nvSpPr>
        <p:spPr>
          <a:xfrm>
            <a:off x="640080" y="2880360"/>
            <a:ext cx="7863840" cy="320040"/>
          </a:xfrm>
          <a:prstGeom prst="rect">
            <a:avLst/>
          </a:prstGeom>
          <a:noFill/>
          <a:ln/>
        </p:spPr>
        <p:txBody>
          <a:bodyPr wrap="square" lIns="0" tIns="0" rIns="0" bIns="0" rtlCol="0" anchor="ctr"/>
          <a:lstStyle/>
          <a:p>
            <a:pPr indent="0" marL="0">
              <a:buNone/>
            </a:pPr>
            <a:r>
              <a:rPr lang="en-US" sz="1400" dirty="0">
                <a:solidFill>
                  <a:srgbClr val="D9963A"/>
                </a:solidFill>
                <a:latin typeface="Calibri" pitchFamily="34" charset="0"/>
                <a:ea typeface="Calibri" pitchFamily="34" charset="-122"/>
                <a:cs typeface="Calibri" pitchFamily="34" charset="-120"/>
              </a:rPr>
              <a:t>Individual project presentation</a:t>
            </a:r>
            <a:endParaRPr lang="en-US" sz="1400" dirty="0"/>
          </a:p>
        </p:txBody>
      </p:sp>
      <p:sp>
        <p:nvSpPr>
          <p:cNvPr id="5" name="Text 3"/>
          <p:cNvSpPr txBox="1"/>
          <p:nvPr/>
        </p:nvSpPr>
        <p:spPr>
          <a:xfrm>
            <a:off x="640080" y="3200400"/>
            <a:ext cx="7863840" cy="3200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Sergei Misjura  ·  Intelligent Agents (PCOM7E), University of Essex Online  ·  October 2026</a:t>
            </a:r>
            <a:endParaRPr lang="en-US" sz="1300" dirty="0"/>
          </a:p>
        </p:txBody>
      </p:sp>
      <p:sp>
        <p:nvSpPr>
          <p:cNvPr id="6" name="Text 4"/>
          <p:cNvSpPr txBox="1"/>
          <p:nvPr/>
        </p:nvSpPr>
        <p:spPr>
          <a:xfrm>
            <a:off x="640080" y="4114800"/>
            <a:ext cx="7863840" cy="320040"/>
          </a:xfrm>
          <a:prstGeom prst="rect">
            <a:avLst/>
          </a:prstGeom>
          <a:noFill/>
          <a:ln/>
        </p:spPr>
        <p:txBody>
          <a:bodyPr wrap="square" lIns="0" tIns="0" rIns="0" bIns="0" rtlCol="0" anchor="ctr"/>
          <a:lstStyle/>
          <a:p>
            <a:pPr indent="0" marL="0">
              <a:buNone/>
            </a:pPr>
            <a:r>
              <a:rPr lang="en-US" sz="1300" dirty="0">
                <a:solidFill>
                  <a:srgbClr val="CFE0DD"/>
                </a:solidFill>
                <a:latin typeface="Courier New" pitchFamily="34" charset="0"/>
                <a:ea typeface="Courier New" pitchFamily="34" charset="-122"/>
                <a:cs typeface="Courier New" pitchFamily="34" charset="-120"/>
              </a:rPr>
              <a:t>github.com/sergio88mi/research-agent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The brief, and the design I was implementing</a:t>
            </a:r>
            <a:endParaRPr lang="en-US" sz="3000" dirty="0"/>
          </a:p>
        </p:txBody>
      </p:sp>
      <p:sp>
        <p:nvSpPr>
          <p:cNvPr id="3" name="Shape 1"/>
          <p:cNvSpPr/>
          <p:nvPr/>
        </p:nvSpPr>
        <p:spPr>
          <a:xfrm>
            <a:off x="457200" y="1234440"/>
            <a:ext cx="2103120" cy="548640"/>
          </a:xfrm>
          <a:prstGeom prst="roundRect">
            <a:avLst>
              <a:gd name="adj" fmla="val 10000"/>
            </a:avLst>
          </a:prstGeom>
          <a:solidFill>
            <a:srgbClr val="1F3A3D"/>
          </a:solidFill>
          <a:ln w="12700">
            <a:solidFill>
              <a:srgbClr val="1F3A3D"/>
            </a:solidFill>
            <a:prstDash val="solid"/>
          </a:ln>
        </p:spPr>
      </p:sp>
      <p:sp>
        <p:nvSpPr>
          <p:cNvPr id="4" name="Text 2"/>
          <p:cNvSpPr txBox="1"/>
          <p:nvPr/>
        </p:nvSpPr>
        <p:spPr>
          <a:xfrm>
            <a:off x="457200" y="1234440"/>
            <a:ext cx="2103120" cy="54864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 research question</a:t>
            </a:r>
            <a:endParaRPr lang="en-US" sz="1200" dirty="0"/>
          </a:p>
        </p:txBody>
      </p:sp>
      <p:sp>
        <p:nvSpPr>
          <p:cNvPr id="5" name="Shape 3"/>
          <p:cNvSpPr/>
          <p:nvPr/>
        </p:nvSpPr>
        <p:spPr>
          <a:xfrm>
            <a:off x="2651760" y="1408176"/>
            <a:ext cx="457200" cy="201168"/>
          </a:xfrm>
          <a:prstGeom prst="rightArrow">
            <a:avLst/>
          </a:prstGeom>
          <a:solidFill>
            <a:srgbClr val="B7C4C3"/>
          </a:solidFill>
          <a:ln w="12700">
            <a:solidFill>
              <a:srgbClr val="B7C4C3"/>
            </a:solidFill>
            <a:prstDash val="solid"/>
          </a:ln>
        </p:spPr>
      </p:sp>
      <p:sp>
        <p:nvSpPr>
          <p:cNvPr id="6" name="Shape 4"/>
          <p:cNvSpPr/>
          <p:nvPr/>
        </p:nvSpPr>
        <p:spPr>
          <a:xfrm>
            <a:off x="3200400" y="1234440"/>
            <a:ext cx="2103120" cy="548640"/>
          </a:xfrm>
          <a:prstGeom prst="roundRect">
            <a:avLst>
              <a:gd name="adj" fmla="val 10000"/>
            </a:avLst>
          </a:prstGeom>
          <a:solidFill>
            <a:srgbClr val="3E6366"/>
          </a:solidFill>
          <a:ln w="12700">
            <a:solidFill>
              <a:srgbClr val="3E6366"/>
            </a:solidFill>
            <a:prstDash val="solid"/>
          </a:ln>
        </p:spPr>
      </p:sp>
      <p:sp>
        <p:nvSpPr>
          <p:cNvPr id="7" name="Text 5"/>
          <p:cNvSpPr txBox="1"/>
          <p:nvPr/>
        </p:nvSpPr>
        <p:spPr>
          <a:xfrm>
            <a:off x="3200400" y="1234440"/>
            <a:ext cx="2103120" cy="54864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3-5 sub-questions</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 search queries</a:t>
            </a:r>
            <a:endParaRPr lang="en-US" sz="1200" dirty="0"/>
          </a:p>
        </p:txBody>
      </p:sp>
      <p:sp>
        <p:nvSpPr>
          <p:cNvPr id="8" name="Shape 6"/>
          <p:cNvSpPr/>
          <p:nvPr/>
        </p:nvSpPr>
        <p:spPr>
          <a:xfrm>
            <a:off x="5394960" y="1408176"/>
            <a:ext cx="457200" cy="201168"/>
          </a:xfrm>
          <a:prstGeom prst="rightArrow">
            <a:avLst/>
          </a:prstGeom>
          <a:solidFill>
            <a:srgbClr val="B7C4C3"/>
          </a:solidFill>
          <a:ln w="12700">
            <a:solidFill>
              <a:srgbClr val="B7C4C3"/>
            </a:solidFill>
            <a:prstDash val="solid"/>
          </a:ln>
        </p:spPr>
      </p:sp>
      <p:sp>
        <p:nvSpPr>
          <p:cNvPr id="9" name="Shape 7"/>
          <p:cNvSpPr/>
          <p:nvPr/>
        </p:nvSpPr>
        <p:spPr>
          <a:xfrm>
            <a:off x="5943600" y="1234440"/>
            <a:ext cx="2103120" cy="548640"/>
          </a:xfrm>
          <a:prstGeom prst="roundRect">
            <a:avLst>
              <a:gd name="adj" fmla="val 10000"/>
            </a:avLst>
          </a:prstGeom>
          <a:solidFill>
            <a:srgbClr val="D9963A"/>
          </a:solidFill>
          <a:ln w="12700">
            <a:solidFill>
              <a:srgbClr val="D9963A"/>
            </a:solidFill>
            <a:prstDash val="solid"/>
          </a:ln>
        </p:spPr>
      </p:sp>
      <p:sp>
        <p:nvSpPr>
          <p:cNvPr id="10" name="Text 8"/>
          <p:cNvSpPr txBox="1"/>
          <p:nvPr/>
        </p:nvSpPr>
        <p:spPr>
          <a:xfrm>
            <a:off x="5943600" y="1234440"/>
            <a:ext cx="2103120" cy="548640"/>
          </a:xfrm>
          <a:prstGeom prst="rect">
            <a:avLst/>
          </a:prstGeom>
          <a:noFill/>
          <a:ln/>
        </p:spPr>
        <p:txBody>
          <a:bodyPr wrap="square" lIns="508" tIns="508" rIns="508" bIns="508" rtlCol="0" anchor="ctr"/>
          <a:lstStyle/>
          <a:p>
            <a:pPr algn="ctr" indent="0" marL="0">
              <a:buNone/>
            </a:pPr>
            <a:r>
              <a:rPr lang="en-US" sz="1200" b="1" dirty="0">
                <a:solidFill>
                  <a:srgbClr val="1F3A3D"/>
                </a:solidFill>
                <a:latin typeface="Calibri" pitchFamily="34" charset="0"/>
                <a:ea typeface="Calibri" pitchFamily="34" charset="-122"/>
                <a:cs typeface="Calibri" pitchFamily="34" charset="-120"/>
              </a:rPr>
              <a:t>A traceable</a:t>
            </a:r>
            <a:endParaRPr lang="en-US" sz="1200" dirty="0"/>
          </a:p>
          <a:p>
            <a:pPr algn="ctr" indent="0" marL="0">
              <a:buNone/>
            </a:pPr>
            <a:r>
              <a:rPr lang="en-US" sz="1200" b="1" dirty="0">
                <a:solidFill>
                  <a:srgbClr val="1F3A3D"/>
                </a:solidFill>
                <a:latin typeface="Calibri" pitchFamily="34" charset="0"/>
                <a:ea typeface="Calibri" pitchFamily="34" charset="-122"/>
                <a:cs typeface="Calibri" pitchFamily="34" charset="-120"/>
              </a:rPr>
              <a:t>evidence brief</a:t>
            </a:r>
            <a:endParaRPr lang="en-US" sz="1200" dirty="0"/>
          </a:p>
        </p:txBody>
      </p:sp>
      <p:sp>
        <p:nvSpPr>
          <p:cNvPr id="11" name="Text 9"/>
          <p:cNvSpPr txBox="1"/>
          <p:nvPr/>
        </p:nvSpPr>
        <p:spPr>
          <a:xfrm>
            <a:off x="457200" y="1965960"/>
            <a:ext cx="7772400" cy="274320"/>
          </a:xfrm>
          <a:prstGeom prst="rect">
            <a:avLst/>
          </a:prstGeom>
          <a:noFill/>
          <a:ln/>
        </p:spPr>
        <p:txBody>
          <a:bodyPr wrap="square" lIns="0" tIns="0" rIns="0" bIns="0" rtlCol="0" anchor="t"/>
          <a:lstStyle/>
          <a:p>
            <a:pPr indent="0" marL="0">
              <a:buNone/>
            </a:pPr>
            <a:r>
              <a:rPr lang="en-US" sz="1100" i="1" dirty="0">
                <a:solidFill>
                  <a:srgbClr val="5F6F70"/>
                </a:solidFill>
                <a:latin typeface="Calibri" pitchFamily="34" charset="0"/>
                <a:ea typeface="Calibri" pitchFamily="34" charset="-122"/>
                <a:cs typeface="Calibri" pitchFamily="34" charset="-120"/>
              </a:rPr>
              <a:t>From the Group D design proposal (Assessment 1)</a:t>
            </a:r>
            <a:endParaRPr lang="en-US" sz="1100" dirty="0"/>
          </a:p>
        </p:txBody>
      </p:sp>
      <p:sp>
        <p:nvSpPr>
          <p:cNvPr id="12" name="Shape 10"/>
          <p:cNvSpPr/>
          <p:nvPr/>
        </p:nvSpPr>
        <p:spPr>
          <a:xfrm>
            <a:off x="457200" y="2331720"/>
            <a:ext cx="3749040" cy="2377440"/>
          </a:xfrm>
          <a:prstGeom prst="roundRect">
            <a:avLst>
              <a:gd name="adj" fmla="val 3077"/>
            </a:avLst>
          </a:prstGeom>
          <a:solidFill>
            <a:srgbClr val="F7F9F9"/>
          </a:solidFill>
          <a:ln w="9525">
            <a:solidFill>
              <a:srgbClr val="DDE4E3"/>
            </a:solidFill>
            <a:prstDash val="solid"/>
          </a:ln>
        </p:spPr>
      </p:sp>
      <p:sp>
        <p:nvSpPr>
          <p:cNvPr id="13" name="Text 11"/>
          <p:cNvSpPr txBox="1"/>
          <p:nvPr/>
        </p:nvSpPr>
        <p:spPr>
          <a:xfrm>
            <a:off x="640080" y="2423160"/>
            <a:ext cx="3474720" cy="274320"/>
          </a:xfrm>
          <a:prstGeom prst="rect">
            <a:avLst/>
          </a:prstGeom>
          <a:noFill/>
          <a:ln/>
        </p:spPr>
        <p:txBody>
          <a:bodyPr wrap="square" lIns="0" tIns="0" rIns="0" bIns="0" rtlCol="0" anchor="t"/>
          <a:lstStyle/>
          <a:p>
            <a:pPr indent="0" marL="0">
              <a:buNone/>
            </a:pPr>
            <a:r>
              <a:rPr lang="en-US" sz="1300" b="1" dirty="0">
                <a:solidFill>
                  <a:srgbClr val="1F3A3D"/>
                </a:solidFill>
                <a:latin typeface="Calibri" pitchFamily="34" charset="0"/>
                <a:ea typeface="Calibri" pitchFamily="34" charset="-122"/>
                <a:cs typeface="Calibri" pitchFamily="34" charset="-120"/>
              </a:rPr>
              <a:t>What the design fixed in advance</a:t>
            </a:r>
            <a:endParaRPr lang="en-US" sz="1300" dirty="0"/>
          </a:p>
        </p:txBody>
      </p:sp>
      <p:sp>
        <p:nvSpPr>
          <p:cNvPr id="14" name="Text 12"/>
          <p:cNvSpPr txBox="1"/>
          <p:nvPr/>
        </p:nvSpPr>
        <p:spPr>
          <a:xfrm>
            <a:off x="640080" y="2724912"/>
            <a:ext cx="3474720" cy="19202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Three specialised agents and a deterministic coordinator</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Two human review points: the plan, then the evidence</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Every DOI checked against Crossref before it can be cited</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Bounded autonomy: one query retry per sub-question, one scope revision per run</a:t>
            </a:r>
            <a:endParaRPr lang="en-US" sz="1100" dirty="0"/>
          </a:p>
          <a:p>
            <a:pPr marL="342900" indent="-342900">
              <a:spcAft>
                <a:spcPts val="500"/>
              </a:spcAft>
              <a:buSzPct val="100000"/>
              <a:buChar char="•"/>
            </a:pPr>
            <a:r>
              <a:rPr lang="en-US" sz="1100" dirty="0">
                <a:solidFill>
                  <a:srgbClr val="1F3A3D"/>
                </a:solidFill>
                <a:latin typeface="Calibri" pitchFamily="34" charset="0"/>
                <a:ea typeface="Calibri" pitchFamily="34" charset="-122"/>
                <a:cs typeface="Calibri" pitchFamily="34" charset="-120"/>
              </a:rPr>
              <a:t>The brief must say what it could not cover</a:t>
            </a:r>
            <a:endParaRPr lang="en-US" sz="1100" dirty="0"/>
          </a:p>
        </p:txBody>
      </p:sp>
      <p:sp>
        <p:nvSpPr>
          <p:cNvPr id="15" name="Shape 13"/>
          <p:cNvSpPr/>
          <p:nvPr/>
        </p:nvSpPr>
        <p:spPr>
          <a:xfrm>
            <a:off x="4480560" y="2331720"/>
            <a:ext cx="4206240" cy="2377440"/>
          </a:xfrm>
          <a:prstGeom prst="roundRect">
            <a:avLst>
              <a:gd name="adj" fmla="val 3077"/>
            </a:avLst>
          </a:prstGeom>
          <a:solidFill>
            <a:srgbClr val="F7F9F9"/>
          </a:solidFill>
          <a:ln w="9525">
            <a:solidFill>
              <a:srgbClr val="DDE4E3"/>
            </a:solidFill>
            <a:prstDash val="solid"/>
          </a:ln>
        </p:spPr>
      </p:sp>
      <p:sp>
        <p:nvSpPr>
          <p:cNvPr id="16" name="Text 14"/>
          <p:cNvSpPr txBox="1"/>
          <p:nvPr/>
        </p:nvSpPr>
        <p:spPr>
          <a:xfrm>
            <a:off x="4663440" y="2423160"/>
            <a:ext cx="3840480" cy="274320"/>
          </a:xfrm>
          <a:prstGeom prst="rect">
            <a:avLst/>
          </a:prstGeom>
          <a:noFill/>
          <a:ln/>
        </p:spPr>
        <p:txBody>
          <a:bodyPr wrap="square" lIns="0" tIns="0" rIns="0" bIns="0" rtlCol="0" anchor="t"/>
          <a:lstStyle/>
          <a:p>
            <a:pPr indent="0" marL="0">
              <a:buNone/>
            </a:pPr>
            <a:r>
              <a:rPr lang="en-US" sz="1300" b="1" dirty="0">
                <a:solidFill>
                  <a:srgbClr val="1F3A3D"/>
                </a:solidFill>
                <a:latin typeface="Calibri" pitchFamily="34" charset="0"/>
                <a:ea typeface="Calibri" pitchFamily="34" charset="-122"/>
                <a:cs typeface="Calibri" pitchFamily="34" charset="-120"/>
              </a:rPr>
              <a:t>The failure it was designed against</a:t>
            </a:r>
            <a:endParaRPr lang="en-US" sz="1300" dirty="0"/>
          </a:p>
        </p:txBody>
      </p:sp>
      <p:sp>
        <p:nvSpPr>
          <p:cNvPr id="17" name="Text 15"/>
          <p:cNvSpPr txBox="1"/>
          <p:nvPr/>
        </p:nvSpPr>
        <p:spPr>
          <a:xfrm>
            <a:off x="4663440" y="2724912"/>
            <a:ext cx="3840480" cy="1188720"/>
          </a:xfrm>
          <a:prstGeom prst="rect">
            <a:avLst/>
          </a:prstGeom>
          <a:noFill/>
          <a:ln/>
        </p:spPr>
        <p:txBody>
          <a:bodyPr wrap="square" lIns="0" tIns="0" rIns="0" bIns="0" rtlCol="0" anchor="t"/>
          <a:lstStyle/>
          <a:p>
            <a:pPr indent="0" marL="0">
              <a:buNone/>
            </a:pPr>
            <a:r>
              <a:rPr lang="en-US" sz="1150" dirty="0">
                <a:solidFill>
                  <a:srgbClr val="1F3A3D"/>
                </a:solidFill>
                <a:latin typeface="Calibri" pitchFamily="34" charset="0"/>
                <a:ea typeface="Calibri" pitchFamily="34" charset="-122"/>
                <a:cs typeface="Calibri" pitchFamily="34" charset="-120"/>
              </a:rPr>
              <a:t>A language model asked for literature will produce plausible papers that do not exist. </a:t>
            </a:r>
            <a:pPr indent="0" marL="0">
              <a:buNone/>
            </a:pPr>
            <a:r>
              <a:rPr lang="en-US" sz="1150" b="1" dirty="0">
                <a:solidFill>
                  <a:srgbClr val="1F3A3D"/>
                </a:solidFill>
                <a:latin typeface="Calibri" pitchFamily="34" charset="0"/>
                <a:ea typeface="Calibri" pitchFamily="34" charset="-122"/>
                <a:cs typeface="Calibri" pitchFamily="34" charset="-120"/>
              </a:rPr>
              <a:t>So the model never writes a reference: </a:t>
            </a:r>
            <a:pPr indent="0" marL="0">
              <a:buNone/>
            </a:pPr>
            <a:r>
              <a:rPr lang="en-US" sz="1150" dirty="0">
                <a:solidFill>
                  <a:srgbClr val="1F3A3D"/>
                </a:solidFill>
                <a:latin typeface="Calibri" pitchFamily="34" charset="0"/>
                <a:ea typeface="Calibri" pitchFamily="34" charset="-122"/>
                <a:cs typeface="Calibri" pitchFamily="34" charset="-120"/>
              </a:rPr>
              <a:t>it only decomposes, scores and summarises. Everything with an exact answer - de-duplication, DOI checks, the reference list - is ordinary code.</a:t>
            </a:r>
            <a:endParaRPr lang="en-US" sz="1150" dirty="0"/>
          </a:p>
        </p:txBody>
      </p:sp>
      <p:sp>
        <p:nvSpPr>
          <p:cNvPr id="18" name="Text 16"/>
          <p:cNvSpPr txBox="1"/>
          <p:nvPr/>
        </p:nvSpPr>
        <p:spPr>
          <a:xfrm>
            <a:off x="4663440" y="3977640"/>
            <a:ext cx="3840480" cy="502920"/>
          </a:xfrm>
          <a:prstGeom prst="rect">
            <a:avLst/>
          </a:prstGeom>
          <a:noFill/>
          <a:ln/>
        </p:spPr>
        <p:txBody>
          <a:bodyPr wrap="square" lIns="0" tIns="0" rIns="0" bIns="0" rtlCol="0" anchor="t"/>
          <a:lstStyle/>
          <a:p>
            <a:pPr indent="0" marL="0">
              <a:buNone/>
            </a:pPr>
            <a:r>
              <a:rPr lang="en-US" sz="1200" i="1" dirty="0">
                <a:solidFill>
                  <a:srgbClr val="8A5A17"/>
                </a:solidFill>
                <a:latin typeface="Calibri" pitchFamily="34" charset="0"/>
                <a:ea typeface="Calibri" pitchFamily="34" charset="-122"/>
                <a:cs typeface="Calibri" pitchFamily="34" charset="-120"/>
              </a:rPr>
              <a:t>My task: build the proposed system on my own, test it, and show it running.</a:t>
            </a:r>
            <a:endParaRPr lang="en-US" sz="1200" dirty="0"/>
          </a:p>
        </p:txBody>
      </p:sp>
      <p:sp>
        <p:nvSpPr>
          <p:cNvPr id="19" name="Text 17"/>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Architecture: three agents, one coordinator</a:t>
            </a:r>
            <a:endParaRPr lang="en-US" sz="3000" dirty="0"/>
          </a:p>
        </p:txBody>
      </p:sp>
      <p:sp>
        <p:nvSpPr>
          <p:cNvPr id="3" name="Shape 1"/>
          <p:cNvSpPr/>
          <p:nvPr/>
        </p:nvSpPr>
        <p:spPr>
          <a:xfrm>
            <a:off x="457200" y="1234440"/>
            <a:ext cx="2011680" cy="685800"/>
          </a:xfrm>
          <a:prstGeom prst="roundRect">
            <a:avLst>
              <a:gd name="adj" fmla="val 8000"/>
            </a:avLst>
          </a:prstGeom>
          <a:solidFill>
            <a:srgbClr val="3E6366"/>
          </a:solidFill>
          <a:ln w="12700">
            <a:solidFill>
              <a:srgbClr val="3E6366"/>
            </a:solidFill>
            <a:prstDash val="solid"/>
          </a:ln>
        </p:spPr>
      </p:sp>
      <p:sp>
        <p:nvSpPr>
          <p:cNvPr id="4" name="Text 2"/>
          <p:cNvSpPr txBox="1"/>
          <p:nvPr/>
        </p:nvSpPr>
        <p:spPr>
          <a:xfrm>
            <a:off x="457200" y="1234440"/>
            <a:ext cx="2011680" cy="68580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Researcher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(boundary: the two reviews)</a:t>
            </a:r>
            <a:endParaRPr lang="en-US" sz="1200" dirty="0"/>
          </a:p>
        </p:txBody>
      </p:sp>
      <p:sp>
        <p:nvSpPr>
          <p:cNvPr id="5" name="Shape 3"/>
          <p:cNvSpPr/>
          <p:nvPr/>
        </p:nvSpPr>
        <p:spPr>
          <a:xfrm>
            <a:off x="2560320" y="1463040"/>
            <a:ext cx="365760" cy="201168"/>
          </a:xfrm>
          <a:prstGeom prst="rightArrow">
            <a:avLst/>
          </a:prstGeom>
          <a:solidFill>
            <a:srgbClr val="B7C4C3"/>
          </a:solidFill>
          <a:ln w="12700">
            <a:solidFill>
              <a:srgbClr val="B7C4C3"/>
            </a:solidFill>
            <a:prstDash val="solid"/>
          </a:ln>
        </p:spPr>
      </p:sp>
      <p:sp>
        <p:nvSpPr>
          <p:cNvPr id="6" name="Shape 4"/>
          <p:cNvSpPr/>
          <p:nvPr/>
        </p:nvSpPr>
        <p:spPr>
          <a:xfrm>
            <a:off x="3017520" y="1234440"/>
            <a:ext cx="3108960" cy="685800"/>
          </a:xfrm>
          <a:prstGeom prst="roundRect">
            <a:avLst>
              <a:gd name="adj" fmla="val 8000"/>
            </a:avLst>
          </a:prstGeom>
          <a:solidFill>
            <a:srgbClr val="1F3A3D"/>
          </a:solidFill>
          <a:ln w="12700">
            <a:solidFill>
              <a:srgbClr val="1F3A3D"/>
            </a:solidFill>
            <a:prstDash val="solid"/>
          </a:ln>
        </p:spPr>
      </p:sp>
      <p:sp>
        <p:nvSpPr>
          <p:cNvPr id="7" name="Text 5"/>
          <p:cNvSpPr txBox="1"/>
          <p:nvPr/>
        </p:nvSpPr>
        <p:spPr>
          <a:xfrm>
            <a:off x="3017520" y="1234440"/>
            <a:ext cx="3108960" cy="68580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Orchestrator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fixed order, limits, exact work</a:t>
            </a:r>
            <a:endParaRPr lang="en-US" sz="1200" dirty="0"/>
          </a:p>
        </p:txBody>
      </p:sp>
      <p:sp>
        <p:nvSpPr>
          <p:cNvPr id="8" name="Shape 6"/>
          <p:cNvSpPr/>
          <p:nvPr/>
        </p:nvSpPr>
        <p:spPr>
          <a:xfrm>
            <a:off x="457200" y="2377440"/>
            <a:ext cx="1828800" cy="685800"/>
          </a:xfrm>
          <a:prstGeom prst="roundRect">
            <a:avLst>
              <a:gd name="adj" fmla="val 8000"/>
            </a:avLst>
          </a:prstGeom>
          <a:solidFill>
            <a:srgbClr val="D9963A"/>
          </a:solidFill>
          <a:ln w="12700">
            <a:solidFill>
              <a:srgbClr val="D9963A"/>
            </a:solidFill>
            <a:prstDash val="solid"/>
          </a:ln>
        </p:spPr>
      </p:sp>
      <p:sp>
        <p:nvSpPr>
          <p:cNvPr id="9" name="Text 7"/>
          <p:cNvSpPr txBox="1"/>
          <p:nvPr/>
        </p:nvSpPr>
        <p:spPr>
          <a:xfrm>
            <a:off x="457200" y="2377440"/>
            <a:ext cx="1828800" cy="685800"/>
          </a:xfrm>
          <a:prstGeom prst="rect">
            <a:avLst/>
          </a:prstGeom>
          <a:noFill/>
          <a:ln/>
        </p:spPr>
        <p:txBody>
          <a:bodyPr wrap="square" lIns="508" tIns="508" rIns="508" bIns="508" rtlCol="0" anchor="ctr"/>
          <a:lstStyle/>
          <a:p>
            <a:pPr algn="ctr" indent="0" marL="0">
              <a:buNone/>
            </a:pPr>
            <a:r>
              <a:rPr lang="en-US" sz="1200" b="1" dirty="0">
                <a:solidFill>
                  <a:srgbClr val="1F3A3D"/>
                </a:solidFill>
                <a:latin typeface="Calibri" pitchFamily="34" charset="0"/>
                <a:ea typeface="Calibri" pitchFamily="34" charset="-122"/>
                <a:cs typeface="Calibri" pitchFamily="34" charset="-120"/>
              </a:rPr>
              <a:t>Planning Agent</a:t>
            </a:r>
            <a:endParaRPr lang="en-US" sz="1200" dirty="0"/>
          </a:p>
          <a:p>
            <a:pPr algn="ctr" indent="0" marL="0">
              <a:buNone/>
            </a:pPr>
            <a:r>
              <a:rPr lang="en-US" sz="1200" b="1" dirty="0">
                <a:solidFill>
                  <a:srgbClr val="1F3A3D"/>
                </a:solidFill>
                <a:latin typeface="Calibri" pitchFamily="34" charset="0"/>
                <a:ea typeface="Calibri" pitchFamily="34" charset="-122"/>
                <a:cs typeface="Calibri" pitchFamily="34" charset="-120"/>
              </a:rPr>
              <a:t>uses the LLM</a:t>
            </a:r>
            <a:endParaRPr lang="en-US" sz="1200" dirty="0"/>
          </a:p>
        </p:txBody>
      </p:sp>
      <p:sp>
        <p:nvSpPr>
          <p:cNvPr id="10" name="Shape 8"/>
          <p:cNvSpPr/>
          <p:nvPr/>
        </p:nvSpPr>
        <p:spPr>
          <a:xfrm>
            <a:off x="2468880" y="2377440"/>
            <a:ext cx="1828800" cy="685800"/>
          </a:xfrm>
          <a:prstGeom prst="roundRect">
            <a:avLst>
              <a:gd name="adj" fmla="val 8000"/>
            </a:avLst>
          </a:prstGeom>
          <a:solidFill>
            <a:srgbClr val="3E6366"/>
          </a:solidFill>
          <a:ln w="12700">
            <a:solidFill>
              <a:srgbClr val="3E6366"/>
            </a:solidFill>
            <a:prstDash val="solid"/>
          </a:ln>
        </p:spPr>
      </p:sp>
      <p:sp>
        <p:nvSpPr>
          <p:cNvPr id="11" name="Text 9"/>
          <p:cNvSpPr txBox="1"/>
          <p:nvPr/>
        </p:nvSpPr>
        <p:spPr>
          <a:xfrm>
            <a:off x="2468880" y="2377440"/>
            <a:ext cx="1828800" cy="68580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Retrieval Agent</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no LLM</a:t>
            </a:r>
            <a:endParaRPr lang="en-US" sz="1200" dirty="0"/>
          </a:p>
        </p:txBody>
      </p:sp>
      <p:sp>
        <p:nvSpPr>
          <p:cNvPr id="12" name="Shape 10"/>
          <p:cNvSpPr/>
          <p:nvPr/>
        </p:nvSpPr>
        <p:spPr>
          <a:xfrm>
            <a:off x="4480560" y="2377440"/>
            <a:ext cx="2377440" cy="685800"/>
          </a:xfrm>
          <a:prstGeom prst="roundRect">
            <a:avLst>
              <a:gd name="adj" fmla="val 8000"/>
            </a:avLst>
          </a:prstGeom>
          <a:solidFill>
            <a:srgbClr val="D9963A"/>
          </a:solidFill>
          <a:ln w="12700">
            <a:solidFill>
              <a:srgbClr val="D9963A"/>
            </a:solidFill>
            <a:prstDash val="solid"/>
          </a:ln>
        </p:spPr>
      </p:sp>
      <p:sp>
        <p:nvSpPr>
          <p:cNvPr id="13" name="Text 11"/>
          <p:cNvSpPr txBox="1"/>
          <p:nvPr/>
        </p:nvSpPr>
        <p:spPr>
          <a:xfrm>
            <a:off x="4480560" y="2377440"/>
            <a:ext cx="2377440" cy="685800"/>
          </a:xfrm>
          <a:prstGeom prst="rect">
            <a:avLst/>
          </a:prstGeom>
          <a:noFill/>
          <a:ln/>
        </p:spPr>
        <p:txBody>
          <a:bodyPr wrap="square" lIns="508" tIns="508" rIns="508" bIns="508" rtlCol="0" anchor="ctr"/>
          <a:lstStyle/>
          <a:p>
            <a:pPr algn="ctr" indent="0" marL="0">
              <a:buNone/>
            </a:pPr>
            <a:r>
              <a:rPr lang="en-US" sz="1200" b="1" dirty="0">
                <a:solidFill>
                  <a:srgbClr val="1F3A3D"/>
                </a:solidFill>
                <a:latin typeface="Calibri" pitchFamily="34" charset="0"/>
                <a:ea typeface="Calibri" pitchFamily="34" charset="-122"/>
                <a:cs typeface="Calibri" pitchFamily="34" charset="-120"/>
              </a:rPr>
              <a:t>Evaluation &amp; Synthesis Agent</a:t>
            </a:r>
            <a:endParaRPr lang="en-US" sz="1200" dirty="0"/>
          </a:p>
          <a:p>
            <a:pPr algn="ctr" indent="0" marL="0">
              <a:buNone/>
            </a:pPr>
            <a:r>
              <a:rPr lang="en-US" sz="1200" b="1" dirty="0">
                <a:solidFill>
                  <a:srgbClr val="1F3A3D"/>
                </a:solidFill>
                <a:latin typeface="Calibri" pitchFamily="34" charset="0"/>
                <a:ea typeface="Calibri" pitchFamily="34" charset="-122"/>
                <a:cs typeface="Calibri" pitchFamily="34" charset="-120"/>
              </a:rPr>
              <a:t>uses the LLM</a:t>
            </a:r>
            <a:endParaRPr lang="en-US" sz="1200" dirty="0"/>
          </a:p>
        </p:txBody>
      </p:sp>
      <p:sp>
        <p:nvSpPr>
          <p:cNvPr id="14" name="Shape 12"/>
          <p:cNvSpPr/>
          <p:nvPr/>
        </p:nvSpPr>
        <p:spPr>
          <a:xfrm>
            <a:off x="4572000" y="1920240"/>
            <a:ext cx="0" cy="228600"/>
          </a:xfrm>
          <a:prstGeom prst="line">
            <a:avLst/>
          </a:prstGeom>
          <a:noFill/>
          <a:ln w="15875">
            <a:solidFill>
              <a:srgbClr val="B7C4C3"/>
            </a:solidFill>
            <a:prstDash val="solid"/>
          </a:ln>
        </p:spPr>
      </p:sp>
      <p:sp>
        <p:nvSpPr>
          <p:cNvPr id="15" name="Shape 13"/>
          <p:cNvSpPr/>
          <p:nvPr/>
        </p:nvSpPr>
        <p:spPr>
          <a:xfrm>
            <a:off x="1371600" y="2148840"/>
            <a:ext cx="4297680" cy="0"/>
          </a:xfrm>
          <a:prstGeom prst="line">
            <a:avLst/>
          </a:prstGeom>
          <a:noFill/>
          <a:ln w="15875">
            <a:solidFill>
              <a:srgbClr val="B7C4C3"/>
            </a:solidFill>
            <a:prstDash val="solid"/>
          </a:ln>
        </p:spPr>
      </p:sp>
      <p:sp>
        <p:nvSpPr>
          <p:cNvPr id="16" name="Shape 14"/>
          <p:cNvSpPr/>
          <p:nvPr/>
        </p:nvSpPr>
        <p:spPr>
          <a:xfrm>
            <a:off x="1371600" y="2148840"/>
            <a:ext cx="0" cy="228600"/>
          </a:xfrm>
          <a:prstGeom prst="line">
            <a:avLst/>
          </a:prstGeom>
          <a:noFill/>
          <a:ln w="15875">
            <a:solidFill>
              <a:srgbClr val="B7C4C3"/>
            </a:solidFill>
            <a:prstDash val="solid"/>
          </a:ln>
        </p:spPr>
      </p:sp>
      <p:sp>
        <p:nvSpPr>
          <p:cNvPr id="17" name="Shape 15"/>
          <p:cNvSpPr/>
          <p:nvPr/>
        </p:nvSpPr>
        <p:spPr>
          <a:xfrm>
            <a:off x="3383280" y="2148840"/>
            <a:ext cx="0" cy="228600"/>
          </a:xfrm>
          <a:prstGeom prst="line">
            <a:avLst/>
          </a:prstGeom>
          <a:noFill/>
          <a:ln w="15875">
            <a:solidFill>
              <a:srgbClr val="B7C4C3"/>
            </a:solidFill>
            <a:prstDash val="solid"/>
          </a:ln>
        </p:spPr>
      </p:sp>
      <p:sp>
        <p:nvSpPr>
          <p:cNvPr id="18" name="Shape 16"/>
          <p:cNvSpPr/>
          <p:nvPr/>
        </p:nvSpPr>
        <p:spPr>
          <a:xfrm>
            <a:off x="5669280" y="2148840"/>
            <a:ext cx="0" cy="228600"/>
          </a:xfrm>
          <a:prstGeom prst="line">
            <a:avLst/>
          </a:prstGeom>
          <a:noFill/>
          <a:ln w="15875">
            <a:solidFill>
              <a:srgbClr val="B7C4C3"/>
            </a:solidFill>
            <a:prstDash val="solid"/>
          </a:ln>
        </p:spPr>
      </p:sp>
      <p:sp>
        <p:nvSpPr>
          <p:cNvPr id="19" name="Text 17"/>
          <p:cNvSpPr txBox="1"/>
          <p:nvPr/>
        </p:nvSpPr>
        <p:spPr>
          <a:xfrm>
            <a:off x="457200" y="3200400"/>
            <a:ext cx="6583680" cy="365760"/>
          </a:xfrm>
          <a:prstGeom prst="rect">
            <a:avLst/>
          </a:prstGeom>
          <a:noFill/>
          <a:ln/>
        </p:spPr>
        <p:txBody>
          <a:bodyPr wrap="square" lIns="0" tIns="0" rIns="0" bIns="0" rtlCol="0" anchor="t"/>
          <a:lstStyle/>
          <a:p>
            <a:pPr indent="0" marL="0">
              <a:buNone/>
            </a:pPr>
            <a:r>
              <a:rPr lang="en-US" sz="1050" dirty="0">
                <a:solidFill>
                  <a:srgbClr val="5F6F70"/>
                </a:solidFill>
                <a:latin typeface="Calibri" pitchFamily="34" charset="0"/>
                <a:ea typeface="Calibri" pitchFamily="34" charset="-122"/>
                <a:cs typeface="Calibri" pitchFamily="34" charset="-120"/>
              </a:rPr>
              <a:t>Data passed between them: SubQuestion · Paper · Assessment · Brief  (the classes from Diagram 1, as Pydantic models)</a:t>
            </a:r>
            <a:endParaRPr lang="en-US" sz="1050" dirty="0"/>
          </a:p>
        </p:txBody>
      </p:sp>
      <p:sp>
        <p:nvSpPr>
          <p:cNvPr id="20" name="Text 18"/>
          <p:cNvSpPr txBox="1"/>
          <p:nvPr/>
        </p:nvSpPr>
        <p:spPr>
          <a:xfrm>
            <a:off x="457200" y="3611880"/>
            <a:ext cx="6583680" cy="10972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3A3D"/>
                </a:solidFill>
                <a:latin typeface="Calibri" pitchFamily="34" charset="0"/>
                <a:ea typeface="Calibri" pitchFamily="34" charset="-122"/>
                <a:cs typeface="Calibri" pitchFamily="34" charset="-120"/>
              </a:rPr>
              <a:t>Decomposing, scoring and summarising are judgement tasks - the model does those</a:t>
            </a:r>
            <a:endParaRPr lang="en-US" sz="1150" dirty="0"/>
          </a:p>
          <a:p>
            <a:pPr marL="342900" indent="-342900">
              <a:spcAft>
                <a:spcPts val="500"/>
              </a:spcAft>
              <a:buSzPct val="100000"/>
              <a:buChar char="•"/>
            </a:pPr>
            <a:r>
              <a:rPr lang="en-US" sz="1150" dirty="0">
                <a:solidFill>
                  <a:srgbClr val="1F3A3D"/>
                </a:solidFill>
                <a:latin typeface="Calibri" pitchFamily="34" charset="0"/>
                <a:ea typeface="Calibri" pitchFamily="34" charset="-122"/>
                <a:cs typeface="Calibri" pitchFamily="34" charset="-120"/>
              </a:rPr>
              <a:t>Counting, de-duplicating, verifying DOIs, applying cut-offs - plain code does those</a:t>
            </a:r>
            <a:endParaRPr lang="en-US" sz="1150" dirty="0"/>
          </a:p>
          <a:p>
            <a:pPr marL="342900" indent="-342900">
              <a:spcAft>
                <a:spcPts val="500"/>
              </a:spcAft>
              <a:buSzPct val="100000"/>
              <a:buChar char="•"/>
            </a:pPr>
            <a:r>
              <a:rPr lang="en-US" sz="1150" dirty="0">
                <a:solidFill>
                  <a:srgbClr val="1F3A3D"/>
                </a:solidFill>
                <a:latin typeface="Calibri" pitchFamily="34" charset="0"/>
                <a:ea typeface="Calibri" pitchFamily="34" charset="-122"/>
                <a:cs typeface="Calibri" pitchFamily="34" charset="-120"/>
              </a:rPr>
              <a:t>Every model reply is validated against a schema; one repair retry, then the run stops</a:t>
            </a:r>
            <a:endParaRPr lang="en-US" sz="1150" dirty="0"/>
          </a:p>
        </p:txBody>
      </p:sp>
      <p:sp>
        <p:nvSpPr>
          <p:cNvPr id="21" name="Shape 19"/>
          <p:cNvSpPr/>
          <p:nvPr/>
        </p:nvSpPr>
        <p:spPr>
          <a:xfrm>
            <a:off x="7223760" y="1234440"/>
            <a:ext cx="1463040" cy="3474720"/>
          </a:xfrm>
          <a:prstGeom prst="roundRect">
            <a:avLst>
              <a:gd name="adj" fmla="val 5000"/>
            </a:avLst>
          </a:prstGeom>
          <a:solidFill>
            <a:srgbClr val="EEF3F2"/>
          </a:solidFill>
          <a:ln w="9525">
            <a:solidFill>
              <a:srgbClr val="DDE4E3"/>
            </a:solidFill>
            <a:prstDash val="solid"/>
          </a:ln>
        </p:spPr>
      </p:sp>
      <p:sp>
        <p:nvSpPr>
          <p:cNvPr id="22" name="Text 20"/>
          <p:cNvSpPr txBox="1"/>
          <p:nvPr/>
        </p:nvSpPr>
        <p:spPr>
          <a:xfrm>
            <a:off x="7269480" y="1325880"/>
            <a:ext cx="1371600" cy="411480"/>
          </a:xfrm>
          <a:prstGeom prst="rect">
            <a:avLst/>
          </a:prstGeom>
          <a:noFill/>
          <a:ln/>
        </p:spPr>
        <p:txBody>
          <a:bodyPr wrap="square" lIns="0" tIns="0" rIns="0" bIns="0" rtlCol="0" anchor="ctr"/>
          <a:lstStyle/>
          <a:p>
            <a:pPr algn="ctr" indent="0" marL="0">
              <a:buNone/>
            </a:pPr>
            <a:r>
              <a:rPr lang="en-US" sz="2200" b="1" dirty="0">
                <a:solidFill>
                  <a:srgbClr val="1F3A3D"/>
                </a:solidFill>
                <a:latin typeface="Cambria" pitchFamily="34" charset="0"/>
                <a:ea typeface="Cambria" pitchFamily="34" charset="-122"/>
                <a:cs typeface="Cambria" pitchFamily="34" charset="-120"/>
              </a:rPr>
              <a:t>3-5</a:t>
            </a:r>
            <a:endParaRPr lang="en-US" sz="2200" dirty="0"/>
          </a:p>
        </p:txBody>
      </p:sp>
      <p:sp>
        <p:nvSpPr>
          <p:cNvPr id="23" name="Text 21"/>
          <p:cNvSpPr txBox="1"/>
          <p:nvPr/>
        </p:nvSpPr>
        <p:spPr>
          <a:xfrm>
            <a:off x="7269480" y="1719072"/>
            <a:ext cx="1371600" cy="365760"/>
          </a:xfrm>
          <a:prstGeom prst="rect">
            <a:avLst/>
          </a:prstGeom>
          <a:noFill/>
          <a:ln/>
        </p:spPr>
        <p:txBody>
          <a:bodyPr wrap="square" lIns="0" tIns="0" rIns="0" bIns="0" rtlCol="0" anchor="t"/>
          <a:lstStyle/>
          <a:p>
            <a:pPr algn="ctr" indent="0" marL="0">
              <a:buNone/>
            </a:pPr>
            <a:r>
              <a:rPr lang="en-US" sz="950" dirty="0">
                <a:solidFill>
                  <a:srgbClr val="5F6F70"/>
                </a:solidFill>
                <a:latin typeface="Calibri" pitchFamily="34" charset="0"/>
                <a:ea typeface="Calibri" pitchFamily="34" charset="-122"/>
                <a:cs typeface="Calibri" pitchFamily="34" charset="-120"/>
              </a:rPr>
              <a:t>sub-questions</a:t>
            </a:r>
            <a:endParaRPr lang="en-US" sz="950" dirty="0"/>
          </a:p>
        </p:txBody>
      </p:sp>
      <p:sp>
        <p:nvSpPr>
          <p:cNvPr id="24" name="Text 22"/>
          <p:cNvSpPr txBox="1"/>
          <p:nvPr/>
        </p:nvSpPr>
        <p:spPr>
          <a:xfrm>
            <a:off x="7269480" y="2176272"/>
            <a:ext cx="1371600" cy="411480"/>
          </a:xfrm>
          <a:prstGeom prst="rect">
            <a:avLst/>
          </a:prstGeom>
          <a:noFill/>
          <a:ln/>
        </p:spPr>
        <p:txBody>
          <a:bodyPr wrap="square" lIns="0" tIns="0" rIns="0" bIns="0" rtlCol="0" anchor="ctr"/>
          <a:lstStyle/>
          <a:p>
            <a:pPr algn="ctr" indent="0" marL="0">
              <a:buNone/>
            </a:pPr>
            <a:r>
              <a:rPr lang="en-US" sz="2200" b="1" dirty="0">
                <a:solidFill>
                  <a:srgbClr val="1F3A3D"/>
                </a:solidFill>
                <a:latin typeface="Cambria" pitchFamily="34" charset="0"/>
                <a:ea typeface="Cambria" pitchFamily="34" charset="-122"/>
                <a:cs typeface="Cambria" pitchFamily="34" charset="-120"/>
              </a:rPr>
              <a:t>1</a:t>
            </a:r>
            <a:endParaRPr lang="en-US" sz="2200" dirty="0"/>
          </a:p>
        </p:txBody>
      </p:sp>
      <p:sp>
        <p:nvSpPr>
          <p:cNvPr id="25" name="Text 23"/>
          <p:cNvSpPr txBox="1"/>
          <p:nvPr/>
        </p:nvSpPr>
        <p:spPr>
          <a:xfrm>
            <a:off x="7269480" y="2569464"/>
            <a:ext cx="1371600" cy="365760"/>
          </a:xfrm>
          <a:prstGeom prst="rect">
            <a:avLst/>
          </a:prstGeom>
          <a:noFill/>
          <a:ln/>
        </p:spPr>
        <p:txBody>
          <a:bodyPr wrap="square" lIns="0" tIns="0" rIns="0" bIns="0" rtlCol="0" anchor="t"/>
          <a:lstStyle/>
          <a:p>
            <a:pPr algn="ctr" indent="0" marL="0">
              <a:buNone/>
            </a:pPr>
            <a:r>
              <a:rPr lang="en-US" sz="950" dirty="0">
                <a:solidFill>
                  <a:srgbClr val="5F6F70"/>
                </a:solidFill>
                <a:latin typeface="Calibri" pitchFamily="34" charset="0"/>
                <a:ea typeface="Calibri" pitchFamily="34" charset="-122"/>
                <a:cs typeface="Calibri" pitchFamily="34" charset="-120"/>
              </a:rPr>
              <a:t>query retry per sub-question</a:t>
            </a:r>
            <a:endParaRPr lang="en-US" sz="950" dirty="0"/>
          </a:p>
        </p:txBody>
      </p:sp>
      <p:sp>
        <p:nvSpPr>
          <p:cNvPr id="26" name="Text 24"/>
          <p:cNvSpPr txBox="1"/>
          <p:nvPr/>
        </p:nvSpPr>
        <p:spPr>
          <a:xfrm>
            <a:off x="7269480" y="3026664"/>
            <a:ext cx="1371600" cy="411480"/>
          </a:xfrm>
          <a:prstGeom prst="rect">
            <a:avLst/>
          </a:prstGeom>
          <a:noFill/>
          <a:ln/>
        </p:spPr>
        <p:txBody>
          <a:bodyPr wrap="square" lIns="0" tIns="0" rIns="0" bIns="0" rtlCol="0" anchor="ctr"/>
          <a:lstStyle/>
          <a:p>
            <a:pPr algn="ctr" indent="0" marL="0">
              <a:buNone/>
            </a:pPr>
            <a:r>
              <a:rPr lang="en-US" sz="2200" b="1" dirty="0">
                <a:solidFill>
                  <a:srgbClr val="1F3A3D"/>
                </a:solidFill>
                <a:latin typeface="Cambria" pitchFamily="34" charset="0"/>
                <a:ea typeface="Cambria" pitchFamily="34" charset="-122"/>
                <a:cs typeface="Cambria" pitchFamily="34" charset="-120"/>
              </a:rPr>
              <a:t>1</a:t>
            </a:r>
            <a:endParaRPr lang="en-US" sz="2200" dirty="0"/>
          </a:p>
        </p:txBody>
      </p:sp>
      <p:sp>
        <p:nvSpPr>
          <p:cNvPr id="27" name="Text 25"/>
          <p:cNvSpPr txBox="1"/>
          <p:nvPr/>
        </p:nvSpPr>
        <p:spPr>
          <a:xfrm>
            <a:off x="7269480" y="3419856"/>
            <a:ext cx="1371600" cy="365760"/>
          </a:xfrm>
          <a:prstGeom prst="rect">
            <a:avLst/>
          </a:prstGeom>
          <a:noFill/>
          <a:ln/>
        </p:spPr>
        <p:txBody>
          <a:bodyPr wrap="square" lIns="0" tIns="0" rIns="0" bIns="0" rtlCol="0" anchor="t"/>
          <a:lstStyle/>
          <a:p>
            <a:pPr algn="ctr" indent="0" marL="0">
              <a:buNone/>
            </a:pPr>
            <a:r>
              <a:rPr lang="en-US" sz="950" dirty="0">
                <a:solidFill>
                  <a:srgbClr val="5F6F70"/>
                </a:solidFill>
                <a:latin typeface="Calibri" pitchFamily="34" charset="0"/>
                <a:ea typeface="Calibri" pitchFamily="34" charset="-122"/>
                <a:cs typeface="Calibri" pitchFamily="34" charset="-120"/>
              </a:rPr>
              <a:t>scope revision per run</a:t>
            </a:r>
            <a:endParaRPr lang="en-US" sz="950" dirty="0"/>
          </a:p>
        </p:txBody>
      </p:sp>
      <p:sp>
        <p:nvSpPr>
          <p:cNvPr id="28" name="Text 26"/>
          <p:cNvSpPr txBox="1"/>
          <p:nvPr/>
        </p:nvSpPr>
        <p:spPr>
          <a:xfrm>
            <a:off x="7269480" y="3877056"/>
            <a:ext cx="1371600" cy="411480"/>
          </a:xfrm>
          <a:prstGeom prst="rect">
            <a:avLst/>
          </a:prstGeom>
          <a:noFill/>
          <a:ln/>
        </p:spPr>
        <p:txBody>
          <a:bodyPr wrap="square" lIns="0" tIns="0" rIns="0" bIns="0" rtlCol="0" anchor="ctr"/>
          <a:lstStyle/>
          <a:p>
            <a:pPr algn="ctr" indent="0" marL="0">
              <a:buNone/>
            </a:pPr>
            <a:r>
              <a:rPr lang="en-US" sz="2200" b="1" dirty="0">
                <a:solidFill>
                  <a:srgbClr val="1F3A3D"/>
                </a:solidFill>
                <a:latin typeface="Cambria" pitchFamily="34" charset="0"/>
                <a:ea typeface="Cambria" pitchFamily="34" charset="-122"/>
                <a:cs typeface="Cambria" pitchFamily="34" charset="-120"/>
              </a:rPr>
              <a:t>3 / 5</a:t>
            </a:r>
            <a:endParaRPr lang="en-US" sz="2200" dirty="0"/>
          </a:p>
        </p:txBody>
      </p:sp>
      <p:sp>
        <p:nvSpPr>
          <p:cNvPr id="29" name="Text 27"/>
          <p:cNvSpPr txBox="1"/>
          <p:nvPr/>
        </p:nvSpPr>
        <p:spPr>
          <a:xfrm>
            <a:off x="7269480" y="4270248"/>
            <a:ext cx="1371600" cy="365760"/>
          </a:xfrm>
          <a:prstGeom prst="rect">
            <a:avLst/>
          </a:prstGeom>
          <a:noFill/>
          <a:ln/>
        </p:spPr>
        <p:txBody>
          <a:bodyPr wrap="square" lIns="0" tIns="0" rIns="0" bIns="0" rtlCol="0" anchor="t"/>
          <a:lstStyle/>
          <a:p>
            <a:pPr algn="ctr" indent="0" marL="0">
              <a:buNone/>
            </a:pPr>
            <a:r>
              <a:rPr lang="en-US" sz="950" dirty="0">
                <a:solidFill>
                  <a:srgbClr val="5F6F70"/>
                </a:solidFill>
                <a:latin typeface="Calibri" pitchFamily="34" charset="0"/>
                <a:ea typeface="Calibri" pitchFamily="34" charset="-122"/>
                <a:cs typeface="Calibri" pitchFamily="34" charset="-120"/>
              </a:rPr>
              <a:t>relevance cut-off</a:t>
            </a:r>
            <a:endParaRPr lang="en-US" sz="950" dirty="0"/>
          </a:p>
        </p:txBody>
      </p:sp>
      <p:sp>
        <p:nvSpPr>
          <p:cNvPr id="30" name="Text 28"/>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How one run flows</a:t>
            </a:r>
            <a:endParaRPr lang="en-US" sz="3000" dirty="0"/>
          </a:p>
        </p:txBody>
      </p:sp>
      <p:sp>
        <p:nvSpPr>
          <p:cNvPr id="3" name="Shape 1"/>
          <p:cNvSpPr/>
          <p:nvPr/>
        </p:nvSpPr>
        <p:spPr>
          <a:xfrm>
            <a:off x="457200" y="1371600"/>
            <a:ext cx="1115568" cy="457200"/>
          </a:xfrm>
          <a:prstGeom prst="roundRect">
            <a:avLst>
              <a:gd name="adj" fmla="val 12000"/>
            </a:avLst>
          </a:prstGeom>
          <a:solidFill>
            <a:srgbClr val="1F3A3D"/>
          </a:solidFill>
          <a:ln w="12700">
            <a:solidFill>
              <a:srgbClr val="1F3A3D"/>
            </a:solidFill>
            <a:prstDash val="solid"/>
          </a:ln>
        </p:spPr>
      </p:sp>
      <p:sp>
        <p:nvSpPr>
          <p:cNvPr id="4" name="Text 2"/>
          <p:cNvSpPr txBox="1"/>
          <p:nvPr/>
        </p:nvSpPr>
        <p:spPr>
          <a:xfrm>
            <a:off x="45720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  Plan</a:t>
            </a:r>
            <a:endParaRPr lang="en-US" sz="1150" dirty="0"/>
          </a:p>
        </p:txBody>
      </p:sp>
      <p:sp>
        <p:nvSpPr>
          <p:cNvPr id="5" name="Text 3"/>
          <p:cNvSpPr txBox="1"/>
          <p:nvPr/>
        </p:nvSpPr>
        <p:spPr>
          <a:xfrm>
            <a:off x="45720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question → 3-5 sub-questions with search queries</a:t>
            </a:r>
            <a:endParaRPr lang="en-US" sz="950" dirty="0"/>
          </a:p>
        </p:txBody>
      </p:sp>
      <p:sp>
        <p:nvSpPr>
          <p:cNvPr id="6" name="Shape 4"/>
          <p:cNvSpPr/>
          <p:nvPr/>
        </p:nvSpPr>
        <p:spPr>
          <a:xfrm>
            <a:off x="1645920" y="1371600"/>
            <a:ext cx="1115568" cy="457200"/>
          </a:xfrm>
          <a:prstGeom prst="roundRect">
            <a:avLst>
              <a:gd name="adj" fmla="val 12000"/>
            </a:avLst>
          </a:prstGeom>
          <a:solidFill>
            <a:srgbClr val="D9963A"/>
          </a:solidFill>
          <a:ln w="12700">
            <a:solidFill>
              <a:srgbClr val="D9963A"/>
            </a:solidFill>
            <a:prstDash val="solid"/>
          </a:ln>
        </p:spPr>
      </p:sp>
      <p:sp>
        <p:nvSpPr>
          <p:cNvPr id="7" name="Text 5"/>
          <p:cNvSpPr txBox="1"/>
          <p:nvPr/>
        </p:nvSpPr>
        <p:spPr>
          <a:xfrm>
            <a:off x="164592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1F3A3D"/>
                </a:solidFill>
                <a:latin typeface="Calibri" pitchFamily="34" charset="0"/>
                <a:ea typeface="Calibri" pitchFamily="34" charset="-122"/>
                <a:cs typeface="Calibri" pitchFamily="34" charset="-120"/>
              </a:rPr>
              <a:t>Review 1</a:t>
            </a:r>
            <a:endParaRPr lang="en-US" sz="1150" dirty="0"/>
          </a:p>
        </p:txBody>
      </p:sp>
      <p:sp>
        <p:nvSpPr>
          <p:cNvPr id="8" name="Text 6"/>
          <p:cNvSpPr txBox="1"/>
          <p:nvPr/>
        </p:nvSpPr>
        <p:spPr>
          <a:xfrm>
            <a:off x="164592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approve, or describe the change → re-plan</a:t>
            </a:r>
            <a:endParaRPr lang="en-US" sz="950" dirty="0"/>
          </a:p>
        </p:txBody>
      </p:sp>
      <p:sp>
        <p:nvSpPr>
          <p:cNvPr id="9" name="Shape 7"/>
          <p:cNvSpPr/>
          <p:nvPr/>
        </p:nvSpPr>
        <p:spPr>
          <a:xfrm>
            <a:off x="2834640" y="1371600"/>
            <a:ext cx="1115568" cy="457200"/>
          </a:xfrm>
          <a:prstGeom prst="roundRect">
            <a:avLst>
              <a:gd name="adj" fmla="val 12000"/>
            </a:avLst>
          </a:prstGeom>
          <a:solidFill>
            <a:srgbClr val="1F3A3D"/>
          </a:solidFill>
          <a:ln w="12700">
            <a:solidFill>
              <a:srgbClr val="1F3A3D"/>
            </a:solidFill>
            <a:prstDash val="solid"/>
          </a:ln>
        </p:spPr>
      </p:sp>
      <p:sp>
        <p:nvSpPr>
          <p:cNvPr id="10" name="Text 8"/>
          <p:cNvSpPr txBox="1"/>
          <p:nvPr/>
        </p:nvSpPr>
        <p:spPr>
          <a:xfrm>
            <a:off x="283464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  Retrieve</a:t>
            </a:r>
            <a:endParaRPr lang="en-US" sz="1150" dirty="0"/>
          </a:p>
        </p:txBody>
      </p:sp>
      <p:sp>
        <p:nvSpPr>
          <p:cNvPr id="11" name="Text 9"/>
          <p:cNvSpPr txBox="1"/>
          <p:nvPr/>
        </p:nvSpPr>
        <p:spPr>
          <a:xfrm>
            <a:off x="283464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OpenAlex, 20 records per sub-question</a:t>
            </a:r>
            <a:endParaRPr lang="en-US" sz="950" dirty="0"/>
          </a:p>
        </p:txBody>
      </p:sp>
      <p:sp>
        <p:nvSpPr>
          <p:cNvPr id="12" name="Shape 10"/>
          <p:cNvSpPr/>
          <p:nvPr/>
        </p:nvSpPr>
        <p:spPr>
          <a:xfrm>
            <a:off x="4023360" y="1371600"/>
            <a:ext cx="1115568" cy="457200"/>
          </a:xfrm>
          <a:prstGeom prst="roundRect">
            <a:avLst>
              <a:gd name="adj" fmla="val 12000"/>
            </a:avLst>
          </a:prstGeom>
          <a:solidFill>
            <a:srgbClr val="1F3A3D"/>
          </a:solidFill>
          <a:ln w="12700">
            <a:solidFill>
              <a:srgbClr val="1F3A3D"/>
            </a:solidFill>
            <a:prstDash val="solid"/>
          </a:ln>
        </p:spPr>
      </p:sp>
      <p:sp>
        <p:nvSpPr>
          <p:cNvPr id="13" name="Text 11"/>
          <p:cNvSpPr txBox="1"/>
          <p:nvPr/>
        </p:nvSpPr>
        <p:spPr>
          <a:xfrm>
            <a:off x="402336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  Verify</a:t>
            </a:r>
            <a:endParaRPr lang="en-US" sz="1150" dirty="0"/>
          </a:p>
        </p:txBody>
      </p:sp>
      <p:sp>
        <p:nvSpPr>
          <p:cNvPr id="14" name="Text 12"/>
          <p:cNvSpPr txBox="1"/>
          <p:nvPr/>
        </p:nvSpPr>
        <p:spPr>
          <a:xfrm>
            <a:off x="402336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de-duplicate by DOI; check each DOI in Crossref</a:t>
            </a:r>
            <a:endParaRPr lang="en-US" sz="950" dirty="0"/>
          </a:p>
        </p:txBody>
      </p:sp>
      <p:sp>
        <p:nvSpPr>
          <p:cNvPr id="15" name="Shape 13"/>
          <p:cNvSpPr/>
          <p:nvPr/>
        </p:nvSpPr>
        <p:spPr>
          <a:xfrm>
            <a:off x="5212080" y="1371600"/>
            <a:ext cx="1115568" cy="457200"/>
          </a:xfrm>
          <a:prstGeom prst="roundRect">
            <a:avLst>
              <a:gd name="adj" fmla="val 12000"/>
            </a:avLst>
          </a:prstGeom>
          <a:solidFill>
            <a:srgbClr val="1F3A3D"/>
          </a:solidFill>
          <a:ln w="12700">
            <a:solidFill>
              <a:srgbClr val="1F3A3D"/>
            </a:solidFill>
            <a:prstDash val="solid"/>
          </a:ln>
        </p:spPr>
      </p:sp>
      <p:sp>
        <p:nvSpPr>
          <p:cNvPr id="16" name="Text 14"/>
          <p:cNvSpPr txBox="1"/>
          <p:nvPr/>
        </p:nvSpPr>
        <p:spPr>
          <a:xfrm>
            <a:off x="521208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  Score</a:t>
            </a:r>
            <a:endParaRPr lang="en-US" sz="1150" dirty="0"/>
          </a:p>
        </p:txBody>
      </p:sp>
      <p:sp>
        <p:nvSpPr>
          <p:cNvPr id="17" name="Text 15"/>
          <p:cNvSpPr txBox="1"/>
          <p:nvPr/>
        </p:nvSpPr>
        <p:spPr>
          <a:xfrm>
            <a:off x="521208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relevance 1-5 with a reason, from the abstract</a:t>
            </a:r>
            <a:endParaRPr lang="en-US" sz="950" dirty="0"/>
          </a:p>
        </p:txBody>
      </p:sp>
      <p:sp>
        <p:nvSpPr>
          <p:cNvPr id="18" name="Shape 16"/>
          <p:cNvSpPr/>
          <p:nvPr/>
        </p:nvSpPr>
        <p:spPr>
          <a:xfrm>
            <a:off x="6400800" y="1371600"/>
            <a:ext cx="1115568" cy="457200"/>
          </a:xfrm>
          <a:prstGeom prst="roundRect">
            <a:avLst>
              <a:gd name="adj" fmla="val 12000"/>
            </a:avLst>
          </a:prstGeom>
          <a:solidFill>
            <a:srgbClr val="D9963A"/>
          </a:solidFill>
          <a:ln w="12700">
            <a:solidFill>
              <a:srgbClr val="D9963A"/>
            </a:solidFill>
            <a:prstDash val="solid"/>
          </a:ln>
        </p:spPr>
      </p:sp>
      <p:sp>
        <p:nvSpPr>
          <p:cNvPr id="19" name="Text 17"/>
          <p:cNvSpPr txBox="1"/>
          <p:nvPr/>
        </p:nvSpPr>
        <p:spPr>
          <a:xfrm>
            <a:off x="640080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1F3A3D"/>
                </a:solidFill>
                <a:latin typeface="Calibri" pitchFamily="34" charset="0"/>
                <a:ea typeface="Calibri" pitchFamily="34" charset="-122"/>
                <a:cs typeface="Calibri" pitchFamily="34" charset="-120"/>
              </a:rPr>
              <a:t>Review 2</a:t>
            </a:r>
            <a:endParaRPr lang="en-US" sz="1150" dirty="0"/>
          </a:p>
        </p:txBody>
      </p:sp>
      <p:sp>
        <p:nvSpPr>
          <p:cNvPr id="20" name="Text 18"/>
          <p:cNvSpPr txBox="1"/>
          <p:nvPr/>
        </p:nvSpPr>
        <p:spPr>
          <a:xfrm>
            <a:off x="640080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approve · drop papers · reject scope (once)</a:t>
            </a:r>
            <a:endParaRPr lang="en-US" sz="950" dirty="0"/>
          </a:p>
        </p:txBody>
      </p:sp>
      <p:sp>
        <p:nvSpPr>
          <p:cNvPr id="21" name="Shape 19"/>
          <p:cNvSpPr/>
          <p:nvPr/>
        </p:nvSpPr>
        <p:spPr>
          <a:xfrm>
            <a:off x="7589520" y="1371600"/>
            <a:ext cx="1115568" cy="457200"/>
          </a:xfrm>
          <a:prstGeom prst="roundRect">
            <a:avLst>
              <a:gd name="adj" fmla="val 12000"/>
            </a:avLst>
          </a:prstGeom>
          <a:solidFill>
            <a:srgbClr val="1F3A3D"/>
          </a:solidFill>
          <a:ln w="12700">
            <a:solidFill>
              <a:srgbClr val="1F3A3D"/>
            </a:solidFill>
            <a:prstDash val="solid"/>
          </a:ln>
        </p:spPr>
      </p:sp>
      <p:sp>
        <p:nvSpPr>
          <p:cNvPr id="22" name="Text 20"/>
          <p:cNvSpPr txBox="1"/>
          <p:nvPr/>
        </p:nvSpPr>
        <p:spPr>
          <a:xfrm>
            <a:off x="7589520" y="1371600"/>
            <a:ext cx="1115568" cy="457200"/>
          </a:xfrm>
          <a:prstGeom prst="rect">
            <a:avLst/>
          </a:prstGeom>
          <a:noFill/>
          <a:ln/>
        </p:spPr>
        <p:txBody>
          <a:bodyPr wrap="square" lIns="508" tIns="508" rIns="508" bIns="508"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  Synthesise</a:t>
            </a:r>
            <a:endParaRPr lang="en-US" sz="1150" dirty="0"/>
          </a:p>
        </p:txBody>
      </p:sp>
      <p:sp>
        <p:nvSpPr>
          <p:cNvPr id="23" name="Text 21"/>
          <p:cNvSpPr txBox="1"/>
          <p:nvPr/>
        </p:nvSpPr>
        <p:spPr>
          <a:xfrm>
            <a:off x="7589520" y="1920240"/>
            <a:ext cx="1115568" cy="100584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notes, themes with citations, gaps, limitations</a:t>
            </a:r>
            <a:endParaRPr lang="en-US" sz="950" dirty="0"/>
          </a:p>
        </p:txBody>
      </p:sp>
      <p:sp>
        <p:nvSpPr>
          <p:cNvPr id="24" name="Shape 22"/>
          <p:cNvSpPr/>
          <p:nvPr/>
        </p:nvSpPr>
        <p:spPr>
          <a:xfrm>
            <a:off x="457200" y="3063240"/>
            <a:ext cx="3931920" cy="1554480"/>
          </a:xfrm>
          <a:prstGeom prst="roundRect">
            <a:avLst>
              <a:gd name="adj" fmla="val 4706"/>
            </a:avLst>
          </a:prstGeom>
          <a:solidFill>
            <a:srgbClr val="F7F9F9"/>
          </a:solidFill>
          <a:ln w="9525">
            <a:solidFill>
              <a:srgbClr val="DDE4E3"/>
            </a:solidFill>
            <a:prstDash val="solid"/>
          </a:ln>
        </p:spPr>
      </p:sp>
      <p:sp>
        <p:nvSpPr>
          <p:cNvPr id="25" name="Text 23"/>
          <p:cNvSpPr txBox="1"/>
          <p:nvPr/>
        </p:nvSpPr>
        <p:spPr>
          <a:xfrm>
            <a:off x="640080" y="3154680"/>
            <a:ext cx="3657600" cy="274320"/>
          </a:xfrm>
          <a:prstGeom prst="rect">
            <a:avLst/>
          </a:prstGeom>
          <a:noFill/>
          <a:ln/>
        </p:spPr>
        <p:txBody>
          <a:bodyPr wrap="square" lIns="0" tIns="0" rIns="0" bIns="0" rtlCol="0" anchor="t"/>
          <a:lstStyle/>
          <a:p>
            <a:pPr indent="0" marL="0">
              <a:buNone/>
            </a:pPr>
            <a:r>
              <a:rPr lang="en-US" sz="1250" b="1" dirty="0">
                <a:solidFill>
                  <a:srgbClr val="1F3A3D"/>
                </a:solidFill>
                <a:latin typeface="Calibri" pitchFamily="34" charset="0"/>
                <a:ea typeface="Calibri" pitchFamily="34" charset="-122"/>
                <a:cs typeface="Calibri" pitchFamily="34" charset="-120"/>
              </a:rPr>
              <a:t>If a search falls short</a:t>
            </a:r>
            <a:endParaRPr lang="en-US" sz="1250" dirty="0"/>
          </a:p>
        </p:txBody>
      </p:sp>
      <p:sp>
        <p:nvSpPr>
          <p:cNvPr id="26" name="Text 24"/>
          <p:cNvSpPr txBox="1"/>
          <p:nvPr/>
        </p:nvSpPr>
        <p:spPr>
          <a:xfrm>
            <a:off x="640080" y="3456432"/>
            <a:ext cx="3657600" cy="10972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3A3D"/>
                </a:solidFill>
                <a:latin typeface="Calibri" pitchFamily="34" charset="0"/>
                <a:ea typeface="Calibri" pitchFamily="34" charset="-122"/>
                <a:cs typeface="Calibri" pitchFamily="34" charset="-120"/>
              </a:rPr>
              <a:t>Fewer than 5 usable records, or fewer than 5 relevant after scoring</a:t>
            </a:r>
            <a:endParaRPr lang="en-US" sz="1050" dirty="0"/>
          </a:p>
          <a:p>
            <a:pPr marL="342900" indent="-342900">
              <a:spcAft>
                <a:spcPts val="500"/>
              </a:spcAft>
              <a:buSzPct val="100000"/>
              <a:buChar char="•"/>
            </a:pPr>
            <a:r>
              <a:rPr lang="en-US" sz="1050" dirty="0">
                <a:solidFill>
                  <a:srgbClr val="1F3A3D"/>
                </a:solidFill>
                <a:latin typeface="Calibri" pitchFamily="34" charset="0"/>
                <a:ea typeface="Calibri" pitchFamily="34" charset="-122"/>
                <a:cs typeface="Calibri" pitchFamily="34" charset="-120"/>
              </a:rPr>
              <a:t>The Planning Agent rewrites the query once, with the rejection reasons</a:t>
            </a:r>
            <a:endParaRPr lang="en-US" sz="1050" dirty="0"/>
          </a:p>
          <a:p>
            <a:pPr marL="342900" indent="-342900">
              <a:spcAft>
                <a:spcPts val="500"/>
              </a:spcAft>
              <a:buSzPct val="100000"/>
              <a:buChar char="•"/>
            </a:pPr>
            <a:r>
              <a:rPr lang="en-US" sz="1050" dirty="0">
                <a:solidFill>
                  <a:srgbClr val="1F3A3D"/>
                </a:solidFill>
                <a:latin typeface="Calibri" pitchFamily="34" charset="0"/>
                <a:ea typeface="Calibri" pitchFamily="34" charset="-122"/>
                <a:cs typeface="Calibri" pitchFamily="34" charset="-120"/>
              </a:rPr>
              <a:t>Never a second attempt - the researcher decides at Review 2</a:t>
            </a:r>
            <a:endParaRPr lang="en-US" sz="1050" dirty="0"/>
          </a:p>
        </p:txBody>
      </p:sp>
      <p:sp>
        <p:nvSpPr>
          <p:cNvPr id="27" name="Shape 25"/>
          <p:cNvSpPr/>
          <p:nvPr/>
        </p:nvSpPr>
        <p:spPr>
          <a:xfrm>
            <a:off x="4663440" y="3063240"/>
            <a:ext cx="4023360" cy="1554480"/>
          </a:xfrm>
          <a:prstGeom prst="roundRect">
            <a:avLst>
              <a:gd name="adj" fmla="val 4706"/>
            </a:avLst>
          </a:prstGeom>
          <a:solidFill>
            <a:srgbClr val="F7F9F9"/>
          </a:solidFill>
          <a:ln w="9525">
            <a:solidFill>
              <a:srgbClr val="DDE4E3"/>
            </a:solidFill>
            <a:prstDash val="solid"/>
          </a:ln>
        </p:spPr>
      </p:sp>
      <p:sp>
        <p:nvSpPr>
          <p:cNvPr id="28" name="Text 26"/>
          <p:cNvSpPr txBox="1"/>
          <p:nvPr/>
        </p:nvSpPr>
        <p:spPr>
          <a:xfrm>
            <a:off x="4846320" y="3154680"/>
            <a:ext cx="3657600" cy="274320"/>
          </a:xfrm>
          <a:prstGeom prst="rect">
            <a:avLst/>
          </a:prstGeom>
          <a:noFill/>
          <a:ln/>
        </p:spPr>
        <p:txBody>
          <a:bodyPr wrap="square" lIns="0" tIns="0" rIns="0" bIns="0" rtlCol="0" anchor="t"/>
          <a:lstStyle/>
          <a:p>
            <a:pPr indent="0" marL="0">
              <a:buNone/>
            </a:pPr>
            <a:r>
              <a:rPr lang="en-US" sz="1250" b="1" dirty="0">
                <a:solidFill>
                  <a:srgbClr val="1F3A3D"/>
                </a:solidFill>
                <a:latin typeface="Calibri" pitchFamily="34" charset="0"/>
                <a:ea typeface="Calibri" pitchFamily="34" charset="-122"/>
                <a:cs typeface="Calibri" pitchFamily="34" charset="-120"/>
              </a:rPr>
              <a:t>Output</a:t>
            </a:r>
            <a:endParaRPr lang="en-US" sz="1250" dirty="0"/>
          </a:p>
        </p:txBody>
      </p:sp>
      <p:sp>
        <p:nvSpPr>
          <p:cNvPr id="29" name="Text 27"/>
          <p:cNvSpPr txBox="1"/>
          <p:nvPr/>
        </p:nvSpPr>
        <p:spPr>
          <a:xfrm>
            <a:off x="4846320" y="3456432"/>
            <a:ext cx="3657600" cy="10972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3A3D"/>
                </a:solidFill>
                <a:latin typeface="Calibri" pitchFamily="34" charset="0"/>
                <a:ea typeface="Calibri" pitchFamily="34" charset="-122"/>
                <a:cs typeface="Calibri" pitchFamily="34" charset="-120"/>
              </a:rPr>
              <a:t>brief.md for reading, brief.json for machines</a:t>
            </a:r>
            <a:endParaRPr lang="en-US" sz="1050" dirty="0"/>
          </a:p>
          <a:p>
            <a:pPr marL="342900" indent="-342900">
              <a:spcAft>
                <a:spcPts val="500"/>
              </a:spcAft>
              <a:buSzPct val="100000"/>
              <a:buChar char="•"/>
            </a:pPr>
            <a:r>
              <a:rPr lang="en-US" sz="1050" dirty="0">
                <a:solidFill>
                  <a:srgbClr val="1F3A3D"/>
                </a:solidFill>
                <a:latin typeface="Calibri" pitchFamily="34" charset="0"/>
                <a:ea typeface="Calibri" pitchFamily="34" charset="-122"/>
                <a:cs typeface="Calibri" pitchFamily="34" charset="-120"/>
              </a:rPr>
              <a:t>Numbered papers; notes, themes and references share the numbering</a:t>
            </a:r>
            <a:endParaRPr lang="en-US" sz="1050" dirty="0"/>
          </a:p>
          <a:p>
            <a:pPr marL="342900" indent="-342900">
              <a:spcAft>
                <a:spcPts val="500"/>
              </a:spcAft>
              <a:buSzPct val="100000"/>
              <a:buChar char="•"/>
            </a:pPr>
            <a:r>
              <a:rPr lang="en-US" sz="1050" dirty="0">
                <a:solidFill>
                  <a:srgbClr val="1F3A3D"/>
                </a:solidFill>
                <a:latin typeface="Calibri" pitchFamily="34" charset="0"/>
                <a:ea typeface="Calibri" pitchFamily="34" charset="-122"/>
                <a:cs typeface="Calibri" pitchFamily="34" charset="-120"/>
              </a:rPr>
              <a:t>run.log records every decision the agents made</a:t>
            </a:r>
            <a:endParaRPr lang="en-US" sz="1050" dirty="0"/>
          </a:p>
        </p:txBody>
      </p:sp>
      <p:sp>
        <p:nvSpPr>
          <p:cNvPr id="30" name="Text 28"/>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Demo 1 - planning and the first review</a:t>
            </a:r>
            <a:endParaRPr lang="en-US" sz="3000" dirty="0"/>
          </a:p>
        </p:txBody>
      </p:sp>
      <p:pic>
        <p:nvPicPr>
          <p:cNvPr id="3" name="Image 0" descr="/sessions/kind-adoring-hypatia/mnt/outputs/deck/demo1_review1.png">    </p:cNvPr>
          <p:cNvPicPr>
            <a:picLocks noChangeAspect="1"/>
          </p:cNvPicPr>
          <p:nvPr/>
        </p:nvPicPr>
        <p:blipFill>
          <a:blip r:embed="rId1"/>
          <a:stretch>
            <a:fillRect/>
          </a:stretch>
        </p:blipFill>
        <p:spPr>
          <a:xfrm>
            <a:off x="457200" y="1097280"/>
            <a:ext cx="8229600" cy="1805940"/>
          </a:xfrm>
          <a:prstGeom prst="rect">
            <a:avLst/>
          </a:prstGeom>
        </p:spPr>
      </p:pic>
      <p:sp>
        <p:nvSpPr>
          <p:cNvPr id="4" name="Shape 1"/>
          <p:cNvSpPr/>
          <p:nvPr/>
        </p:nvSpPr>
        <p:spPr>
          <a:xfrm>
            <a:off x="457200" y="3017520"/>
            <a:ext cx="2560320" cy="1600200"/>
          </a:xfrm>
          <a:prstGeom prst="roundRect">
            <a:avLst>
              <a:gd name="adj" fmla="val 4571"/>
            </a:avLst>
          </a:prstGeom>
          <a:solidFill>
            <a:srgbClr val="F7F9F9"/>
          </a:solidFill>
          <a:ln w="9525">
            <a:solidFill>
              <a:srgbClr val="DDE4E3"/>
            </a:solidFill>
            <a:prstDash val="solid"/>
          </a:ln>
        </p:spPr>
      </p:sp>
      <p:sp>
        <p:nvSpPr>
          <p:cNvPr id="5" name="Text 2"/>
          <p:cNvSpPr txBox="1"/>
          <p:nvPr/>
        </p:nvSpPr>
        <p:spPr>
          <a:xfrm>
            <a:off x="594360" y="3108960"/>
            <a:ext cx="2286000" cy="457200"/>
          </a:xfrm>
          <a:prstGeom prst="rect">
            <a:avLst/>
          </a:prstGeom>
          <a:noFill/>
          <a:ln/>
        </p:spPr>
        <p:txBody>
          <a:bodyPr wrap="square" lIns="0" tIns="0" rIns="0" bIns="0" rtlCol="0" anchor="t"/>
          <a:lstStyle/>
          <a:p>
            <a:pPr indent="0" marL="0">
              <a:buNone/>
            </a:pPr>
            <a:r>
              <a:rPr lang="en-US" sz="1150" b="1" dirty="0">
                <a:solidFill>
                  <a:srgbClr val="1F3A3D"/>
                </a:solidFill>
                <a:latin typeface="Calibri" pitchFamily="34" charset="0"/>
                <a:ea typeface="Calibri" pitchFamily="34" charset="-122"/>
                <a:cs typeface="Calibri" pitchFamily="34" charset="-120"/>
              </a:rPr>
              <a:t>The plan is shown before anything is searched</a:t>
            </a:r>
            <a:endParaRPr lang="en-US" sz="1150" dirty="0"/>
          </a:p>
        </p:txBody>
      </p:sp>
      <p:sp>
        <p:nvSpPr>
          <p:cNvPr id="6" name="Text 3"/>
          <p:cNvSpPr txBox="1"/>
          <p:nvPr/>
        </p:nvSpPr>
        <p:spPr>
          <a:xfrm>
            <a:off x="594360" y="3566160"/>
            <a:ext cx="2286000" cy="1005840"/>
          </a:xfrm>
          <a:prstGeom prst="rect">
            <a:avLst/>
          </a:prstGeom>
          <a:noFill/>
          <a:ln/>
        </p:spPr>
        <p:txBody>
          <a:bodyPr wrap="square" lIns="0" tIns="0" rIns="0" bIns="0" rtlCol="0" anchor="t"/>
          <a:lstStyle/>
          <a:p>
            <a:pPr indent="0" marL="0">
              <a:buNone/>
            </a:pPr>
            <a:r>
              <a:rPr lang="en-US" sz="1000" dirty="0">
                <a:solidFill>
                  <a:srgbClr val="5F6F70"/>
                </a:solidFill>
                <a:latin typeface="Calibri" pitchFamily="34" charset="0"/>
                <a:ea typeface="Calibri" pitchFamily="34" charset="-122"/>
                <a:cs typeface="Calibri" pitchFamily="34" charset="-120"/>
              </a:rPr>
              <a:t>Interpretation, four sub-questions, one query each - the researcher sees exactly what will be searched.</a:t>
            </a:r>
            <a:endParaRPr lang="en-US" sz="1000" dirty="0"/>
          </a:p>
        </p:txBody>
      </p:sp>
      <p:sp>
        <p:nvSpPr>
          <p:cNvPr id="7" name="Shape 4"/>
          <p:cNvSpPr/>
          <p:nvPr/>
        </p:nvSpPr>
        <p:spPr>
          <a:xfrm>
            <a:off x="3291840" y="3017520"/>
            <a:ext cx="2560320" cy="1600200"/>
          </a:xfrm>
          <a:prstGeom prst="roundRect">
            <a:avLst>
              <a:gd name="adj" fmla="val 4571"/>
            </a:avLst>
          </a:prstGeom>
          <a:solidFill>
            <a:srgbClr val="F7F9F9"/>
          </a:solidFill>
          <a:ln w="9525">
            <a:solidFill>
              <a:srgbClr val="DDE4E3"/>
            </a:solidFill>
            <a:prstDash val="solid"/>
          </a:ln>
        </p:spPr>
      </p:sp>
      <p:sp>
        <p:nvSpPr>
          <p:cNvPr id="8" name="Text 5"/>
          <p:cNvSpPr txBox="1"/>
          <p:nvPr/>
        </p:nvSpPr>
        <p:spPr>
          <a:xfrm>
            <a:off x="3429000" y="3108960"/>
            <a:ext cx="2286000" cy="457200"/>
          </a:xfrm>
          <a:prstGeom prst="rect">
            <a:avLst/>
          </a:prstGeom>
          <a:noFill/>
          <a:ln/>
        </p:spPr>
        <p:txBody>
          <a:bodyPr wrap="square" lIns="0" tIns="0" rIns="0" bIns="0" rtlCol="0" anchor="t"/>
          <a:lstStyle/>
          <a:p>
            <a:pPr indent="0" marL="0">
              <a:buNone/>
            </a:pPr>
            <a:r>
              <a:rPr lang="en-US" sz="1150" b="1" dirty="0">
                <a:solidFill>
                  <a:srgbClr val="1F3A3D"/>
                </a:solidFill>
                <a:latin typeface="Calibri" pitchFamily="34" charset="0"/>
                <a:ea typeface="Calibri" pitchFamily="34" charset="-122"/>
                <a:cs typeface="Calibri" pitchFamily="34" charset="-120"/>
              </a:rPr>
              <a:t>Revision costs nothing</a:t>
            </a:r>
            <a:endParaRPr lang="en-US" sz="1150" dirty="0"/>
          </a:p>
        </p:txBody>
      </p:sp>
      <p:sp>
        <p:nvSpPr>
          <p:cNvPr id="9" name="Text 6"/>
          <p:cNvSpPr txBox="1"/>
          <p:nvPr/>
        </p:nvSpPr>
        <p:spPr>
          <a:xfrm>
            <a:off x="3429000" y="3566160"/>
            <a:ext cx="2286000" cy="1005840"/>
          </a:xfrm>
          <a:prstGeom prst="rect">
            <a:avLst/>
          </a:prstGeom>
          <a:noFill/>
          <a:ln/>
        </p:spPr>
        <p:txBody>
          <a:bodyPr wrap="square" lIns="0" tIns="0" rIns="0" bIns="0" rtlCol="0" anchor="t"/>
          <a:lstStyle/>
          <a:p>
            <a:pPr indent="0" marL="0">
              <a:buNone/>
            </a:pPr>
            <a:r>
              <a:rPr lang="en-US" sz="1000" dirty="0">
                <a:solidFill>
                  <a:srgbClr val="5F6F70"/>
                </a:solidFill>
                <a:latin typeface="Calibri" pitchFamily="34" charset="0"/>
                <a:ea typeface="Calibri" pitchFamily="34" charset="-122"/>
                <a:cs typeface="Calibri" pitchFamily="34" charset="-120"/>
              </a:rPr>
              <a:t>At this point no quota has been spent, so the review loop is unlimited. Feedback in a sentence produces a new plan.</a:t>
            </a:r>
            <a:endParaRPr lang="en-US" sz="1000" dirty="0"/>
          </a:p>
        </p:txBody>
      </p:sp>
      <p:sp>
        <p:nvSpPr>
          <p:cNvPr id="10" name="Shape 7"/>
          <p:cNvSpPr/>
          <p:nvPr/>
        </p:nvSpPr>
        <p:spPr>
          <a:xfrm>
            <a:off x="6126480" y="3017520"/>
            <a:ext cx="2560320" cy="1600200"/>
          </a:xfrm>
          <a:prstGeom prst="roundRect">
            <a:avLst>
              <a:gd name="adj" fmla="val 4571"/>
            </a:avLst>
          </a:prstGeom>
          <a:solidFill>
            <a:srgbClr val="F7F9F9"/>
          </a:solidFill>
          <a:ln w="9525">
            <a:solidFill>
              <a:srgbClr val="DDE4E3"/>
            </a:solidFill>
            <a:prstDash val="solid"/>
          </a:ln>
        </p:spPr>
      </p:sp>
      <p:sp>
        <p:nvSpPr>
          <p:cNvPr id="11" name="Text 8"/>
          <p:cNvSpPr txBox="1"/>
          <p:nvPr/>
        </p:nvSpPr>
        <p:spPr>
          <a:xfrm>
            <a:off x="6263640" y="3108960"/>
            <a:ext cx="2286000" cy="457200"/>
          </a:xfrm>
          <a:prstGeom prst="rect">
            <a:avLst/>
          </a:prstGeom>
          <a:noFill/>
          <a:ln/>
        </p:spPr>
        <p:txBody>
          <a:bodyPr wrap="square" lIns="0" tIns="0" rIns="0" bIns="0" rtlCol="0" anchor="t"/>
          <a:lstStyle/>
          <a:p>
            <a:pPr indent="0" marL="0">
              <a:buNone/>
            </a:pPr>
            <a:r>
              <a:rPr lang="en-US" sz="1150" b="1" dirty="0">
                <a:solidFill>
                  <a:srgbClr val="1F3A3D"/>
                </a:solidFill>
                <a:latin typeface="Calibri" pitchFamily="34" charset="0"/>
                <a:ea typeface="Calibri" pitchFamily="34" charset="-122"/>
                <a:cs typeface="Calibri" pitchFamily="34" charset="-120"/>
              </a:rPr>
              <a:t>Constraints travel with every prompt</a:t>
            </a:r>
            <a:endParaRPr lang="en-US" sz="1150" dirty="0"/>
          </a:p>
        </p:txBody>
      </p:sp>
      <p:sp>
        <p:nvSpPr>
          <p:cNvPr id="12" name="Text 9"/>
          <p:cNvSpPr txBox="1"/>
          <p:nvPr/>
        </p:nvSpPr>
        <p:spPr>
          <a:xfrm>
            <a:off x="6263640" y="3566160"/>
            <a:ext cx="2286000" cy="1005840"/>
          </a:xfrm>
          <a:prstGeom prst="rect">
            <a:avLst/>
          </a:prstGeom>
          <a:noFill/>
          <a:ln/>
        </p:spPr>
        <p:txBody>
          <a:bodyPr wrap="square" lIns="0" tIns="0" rIns="0" bIns="0" rtlCol="0" anchor="t"/>
          <a:lstStyle/>
          <a:p>
            <a:pPr indent="0" marL="0">
              <a:buNone/>
            </a:pPr>
            <a:r>
              <a:rPr lang="en-US" sz="1000" dirty="0">
                <a:solidFill>
                  <a:srgbClr val="5F6F70"/>
                </a:solidFill>
                <a:latin typeface="Calibri" pitchFamily="34" charset="0"/>
                <a:ea typeface="Calibri" pitchFamily="34" charset="-122"/>
                <a:cs typeface="Calibri" pitchFamily="34" charset="-120"/>
              </a:rPr>
              <a:t>User constraints are re-applied on each call, not left in the model's memory - so they cannot be forgotten.</a:t>
            </a:r>
            <a:endParaRPr lang="en-US" sz="1000" dirty="0"/>
          </a:p>
        </p:txBody>
      </p:sp>
      <p:sp>
        <p:nvSpPr>
          <p:cNvPr id="13" name="Text 10"/>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Demo 2 - retrieve, verify, score, retry once</a:t>
            </a:r>
            <a:endParaRPr lang="en-US" sz="3000" dirty="0"/>
          </a:p>
        </p:txBody>
      </p:sp>
      <p:pic>
        <p:nvPicPr>
          <p:cNvPr id="3" name="Image 0" descr="/sessions/kind-adoring-hypatia/mnt/outputs/deck/demo2_scoring.png">    </p:cNvPr>
          <p:cNvPicPr>
            <a:picLocks noChangeAspect="1"/>
          </p:cNvPicPr>
          <p:nvPr/>
        </p:nvPicPr>
        <p:blipFill>
          <a:blip r:embed="rId1"/>
          <a:stretch>
            <a:fillRect/>
          </a:stretch>
        </p:blipFill>
        <p:spPr>
          <a:xfrm>
            <a:off x="457200" y="1097280"/>
            <a:ext cx="5669280" cy="1616659"/>
          </a:xfrm>
          <a:prstGeom prst="rect">
            <a:avLst/>
          </a:prstGeom>
        </p:spPr>
      </p:pic>
      <p:sp>
        <p:nvSpPr>
          <p:cNvPr id="4" name="Shape 1"/>
          <p:cNvSpPr/>
          <p:nvPr/>
        </p:nvSpPr>
        <p:spPr>
          <a:xfrm>
            <a:off x="457200" y="2880360"/>
            <a:ext cx="5669280" cy="1325880"/>
          </a:xfrm>
          <a:prstGeom prst="roundRect">
            <a:avLst>
              <a:gd name="adj" fmla="val 4138"/>
            </a:avLst>
          </a:prstGeom>
          <a:solidFill>
            <a:srgbClr val="17292B"/>
          </a:solidFill>
          <a:ln w="12700">
            <a:solidFill>
              <a:srgbClr val="17292B"/>
            </a:solidFill>
            <a:prstDash val="solid"/>
          </a:ln>
        </p:spPr>
      </p:sp>
      <p:sp>
        <p:nvSpPr>
          <p:cNvPr id="5" name="Text 2"/>
          <p:cNvSpPr txBox="1"/>
          <p:nvPr/>
        </p:nvSpPr>
        <p:spPr>
          <a:xfrm>
            <a:off x="566928" y="2953512"/>
            <a:ext cx="5449824" cy="1179576"/>
          </a:xfrm>
          <a:prstGeom prst="rect">
            <a:avLst/>
          </a:prstGeom>
          <a:noFill/>
          <a:ln/>
        </p:spPr>
        <p:txBody>
          <a:bodyPr wrap="square" lIns="0" tIns="0" rIns="0" bIns="0" rtlCol="0" anchor="t"/>
          <a:lstStyle/>
          <a:p>
            <a:pPr indent="0" marL="0">
              <a:buNone/>
            </a:pPr>
            <a:r>
              <a:rPr lang="en-US" sz="750" dirty="0">
                <a:solidFill>
                  <a:srgbClr val="8FB3AE"/>
                </a:solidFill>
                <a:latin typeface="Courier New" pitchFamily="34" charset="0"/>
                <a:ea typeface="Courier New" pitchFamily="34" charset="-122"/>
                <a:cs typeface="Courier New" pitchFamily="34" charset="-120"/>
              </a:rPr>
              <a:t># run.log, 22 Sept 09:44 - sub-question 4</a:t>
            </a:r>
            <a:endParaRPr lang="en-US" sz="750" dirty="0"/>
          </a:p>
          <a:p>
            <a:pPr indent="0" marL="0">
              <a:buNone/>
            </a:pPr>
            <a:r>
              <a:rPr lang="en-US" sz="750" dirty="0">
                <a:solidFill>
                  <a:srgbClr val="E6EFEE"/>
                </a:solidFill>
                <a:latin typeface="Courier New" pitchFamily="34" charset="0"/>
                <a:ea typeface="Courier New" pitchFamily="34" charset="-122"/>
                <a:cs typeface="Courier New" pitchFamily="34" charset="-120"/>
              </a:rPr>
              <a:t>evaluation   | evaluate summary | scored=12 | selected=1 | dropped=11 | cutoff=3</a:t>
            </a:r>
            <a:endParaRPr lang="en-US" sz="750" dirty="0"/>
          </a:p>
          <a:p>
            <a:pPr indent="0" marL="0">
              <a:buNone/>
            </a:pPr>
            <a:r>
              <a:rPr lang="en-US" sz="750" dirty="0">
                <a:solidFill>
                  <a:srgbClr val="E6EFEE"/>
                </a:solidFill>
                <a:latin typeface="Courier New" pitchFamily="34" charset="0"/>
                <a:ea typeface="Courier New" pitchFamily="34" charset="-122"/>
                <a:cs typeface="Courier New" pitchFamily="34" charset="-120"/>
              </a:rPr>
              <a:t>orchestrator | threshold | subquestion=4 | the query returned 12 records but only</a:t>
            </a:r>
            <a:endParaRPr lang="en-US" sz="750" dirty="0"/>
          </a:p>
          <a:p>
            <a:pPr indent="0" marL="0">
              <a:buNone/>
            </a:pPr>
            <a:r>
              <a:rPr lang="en-US" sz="750" dirty="0">
                <a:solidFill>
                  <a:srgbClr val="E6EFEE"/>
                </a:solidFill>
                <a:latin typeface="Courier New" pitchFamily="34" charset="0"/>
                <a:ea typeface="Courier New" pitchFamily="34" charset="-122"/>
                <a:cs typeface="Courier New" pitchFamily="34" charset="-120"/>
              </a:rPr>
              <a:t>               1 were relevant (minimum 5) | reformulating (1 of 1 allowed)</a:t>
            </a:r>
            <a:endParaRPr lang="en-US" sz="750" dirty="0"/>
          </a:p>
          <a:p>
            <a:pPr indent="0" marL="0">
              <a:buNone/>
            </a:pPr>
            <a:r>
              <a:rPr lang="en-US" sz="750" dirty="0">
                <a:solidFill>
                  <a:srgbClr val="E6EFEE"/>
                </a:solidFill>
                <a:latin typeface="Courier New" pitchFamily="34" charset="0"/>
                <a:ea typeface="Courier New" pitchFamily="34" charset="-122"/>
                <a:cs typeface="Courier New" pitchFamily="34" charset="-120"/>
              </a:rPr>
              <a:t>planning     | reformulated | subquestion=4</a:t>
            </a:r>
            <a:endParaRPr lang="en-US" sz="750" dirty="0"/>
          </a:p>
          <a:p>
            <a:pPr indent="0" marL="0">
              <a:buNone/>
            </a:pPr>
            <a:r>
              <a:rPr lang="en-US" sz="750" dirty="0">
                <a:solidFill>
                  <a:srgbClr val="E6EFEE"/>
                </a:solidFill>
                <a:latin typeface="Courier New" pitchFamily="34" charset="0"/>
                <a:ea typeface="Courier New" pitchFamily="34" charset="-122"/>
                <a:cs typeface="Courier New" pitchFamily="34" charset="-120"/>
              </a:rPr>
              <a:t>               old='benchmarking detecting hallucination evaluation metrics ...'</a:t>
            </a:r>
            <a:endParaRPr lang="en-US" sz="750" dirty="0"/>
          </a:p>
          <a:p>
            <a:pPr indent="0" marL="0">
              <a:buNone/>
            </a:pPr>
            <a:r>
              <a:rPr lang="en-US" sz="750" dirty="0">
                <a:solidFill>
                  <a:srgbClr val="E6EFEE"/>
                </a:solidFill>
                <a:latin typeface="Courier New" pitchFamily="34" charset="0"/>
                <a:ea typeface="Courier New" pitchFamily="34" charset="-122"/>
                <a:cs typeface="Courier New" pitchFamily="34" charset="-120"/>
              </a:rPr>
              <a:t>               new='hallucination benchmark evaluation long horizon ... detection'</a:t>
            </a:r>
            <a:endParaRPr lang="en-US" sz="750" dirty="0"/>
          </a:p>
          <a:p>
            <a:pPr indent="0" marL="0">
              <a:buNone/>
            </a:pPr>
            <a:r>
              <a:rPr lang="en-US" sz="750" dirty="0">
                <a:solidFill>
                  <a:srgbClr val="E6EFEE"/>
                </a:solidFill>
                <a:latin typeface="Courier New" pitchFamily="34" charset="0"/>
                <a:ea typeface="Courier New" pitchFamily="34" charset="-122"/>
                <a:cs typeface="Courier New" pitchFamily="34" charset="-120"/>
              </a:rPr>
              <a:t>orchestrator | threshold | subquestion=4 | after reformulation: 13 new, 2 relevant</a:t>
            </a:r>
            <a:endParaRPr lang="en-US" sz="750" dirty="0"/>
          </a:p>
        </p:txBody>
      </p:sp>
      <p:sp>
        <p:nvSpPr>
          <p:cNvPr id="6" name="Text 3"/>
          <p:cNvSpPr txBox="1"/>
          <p:nvPr/>
        </p:nvSpPr>
        <p:spPr>
          <a:xfrm>
            <a:off x="457200" y="4279392"/>
            <a:ext cx="5669280" cy="365760"/>
          </a:xfrm>
          <a:prstGeom prst="rect">
            <a:avLst/>
          </a:prstGeom>
          <a:noFill/>
          <a:ln/>
        </p:spPr>
        <p:txBody>
          <a:bodyPr wrap="square" lIns="0" tIns="0" rIns="0" bIns="0" rtlCol="0" anchor="t"/>
          <a:lstStyle/>
          <a:p>
            <a:pPr indent="0" marL="0">
              <a:buNone/>
            </a:pPr>
            <a:r>
              <a:rPr lang="en-US" sz="950" i="1" dirty="0">
                <a:solidFill>
                  <a:srgbClr val="5F6F70"/>
                </a:solidFill>
                <a:latin typeface="Calibri" pitchFamily="34" charset="0"/>
                <a:ea typeface="Calibri" pitchFamily="34" charset="-122"/>
                <a:cs typeface="Calibri" pitchFamily="34" charset="-120"/>
              </a:rPr>
              <a:t>Above: one score per paper with its reason.  Below: the single automatic retry, with the rejection reasons passed to the planner.</a:t>
            </a:r>
            <a:endParaRPr lang="en-US" sz="950" dirty="0"/>
          </a:p>
        </p:txBody>
      </p:sp>
      <p:sp>
        <p:nvSpPr>
          <p:cNvPr id="7" name="Shape 4"/>
          <p:cNvSpPr/>
          <p:nvPr/>
        </p:nvSpPr>
        <p:spPr>
          <a:xfrm>
            <a:off x="6400800" y="1097280"/>
            <a:ext cx="2286000" cy="3520440"/>
          </a:xfrm>
          <a:prstGeom prst="roundRect">
            <a:avLst>
              <a:gd name="adj" fmla="val 3200"/>
            </a:avLst>
          </a:prstGeom>
          <a:solidFill>
            <a:srgbClr val="EEF3F2"/>
          </a:solidFill>
          <a:ln w="9525">
            <a:solidFill>
              <a:srgbClr val="DDE4E3"/>
            </a:solidFill>
            <a:prstDash val="solid"/>
          </a:ln>
        </p:spPr>
      </p:sp>
      <p:sp>
        <p:nvSpPr>
          <p:cNvPr id="8" name="Text 5"/>
          <p:cNvSpPr txBox="1"/>
          <p:nvPr/>
        </p:nvSpPr>
        <p:spPr>
          <a:xfrm>
            <a:off x="6492240" y="1188720"/>
            <a:ext cx="2103120" cy="365760"/>
          </a:xfrm>
          <a:prstGeom prst="rect">
            <a:avLst/>
          </a:prstGeom>
          <a:noFill/>
          <a:ln/>
        </p:spPr>
        <p:txBody>
          <a:bodyPr wrap="square" lIns="0" tIns="0" rIns="0" bIns="0" rtlCol="0" anchor="ctr"/>
          <a:lstStyle/>
          <a:p>
            <a:pPr indent="0" marL="0">
              <a:buNone/>
            </a:pPr>
            <a:r>
              <a:rPr lang="en-US" sz="1900" b="1" dirty="0">
                <a:solidFill>
                  <a:srgbClr val="1F3A3D"/>
                </a:solidFill>
                <a:latin typeface="Cambria" pitchFamily="34" charset="0"/>
                <a:ea typeface="Cambria" pitchFamily="34" charset="-122"/>
                <a:cs typeface="Cambria" pitchFamily="34" charset="-120"/>
              </a:rPr>
              <a:t>80 → 65</a:t>
            </a:r>
            <a:endParaRPr lang="en-US" sz="1900" dirty="0"/>
          </a:p>
        </p:txBody>
      </p:sp>
      <p:sp>
        <p:nvSpPr>
          <p:cNvPr id="9" name="Text 6"/>
          <p:cNvSpPr txBox="1"/>
          <p:nvPr/>
        </p:nvSpPr>
        <p:spPr>
          <a:xfrm>
            <a:off x="6492240" y="1554480"/>
            <a:ext cx="2103120" cy="45720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records → unique papers</a:t>
            </a:r>
            <a:endParaRPr lang="en-US" sz="950" dirty="0"/>
          </a:p>
        </p:txBody>
      </p:sp>
      <p:sp>
        <p:nvSpPr>
          <p:cNvPr id="10" name="Text 7"/>
          <p:cNvSpPr txBox="1"/>
          <p:nvPr/>
        </p:nvSpPr>
        <p:spPr>
          <a:xfrm>
            <a:off x="6492240" y="2057400"/>
            <a:ext cx="2103120" cy="365760"/>
          </a:xfrm>
          <a:prstGeom prst="rect">
            <a:avLst/>
          </a:prstGeom>
          <a:noFill/>
          <a:ln/>
        </p:spPr>
        <p:txBody>
          <a:bodyPr wrap="square" lIns="0" tIns="0" rIns="0" bIns="0" rtlCol="0" anchor="ctr"/>
          <a:lstStyle/>
          <a:p>
            <a:pPr indent="0" marL="0">
              <a:buNone/>
            </a:pPr>
            <a:r>
              <a:rPr lang="en-US" sz="1900" b="1" dirty="0">
                <a:solidFill>
                  <a:srgbClr val="1F3A3D"/>
                </a:solidFill>
                <a:latin typeface="Cambria" pitchFamily="34" charset="0"/>
                <a:ea typeface="Cambria" pitchFamily="34" charset="-122"/>
                <a:cs typeface="Cambria" pitchFamily="34" charset="-120"/>
              </a:rPr>
              <a:t>46 / 65</a:t>
            </a:r>
            <a:endParaRPr lang="en-US" sz="1900" dirty="0"/>
          </a:p>
        </p:txBody>
      </p:sp>
      <p:sp>
        <p:nvSpPr>
          <p:cNvPr id="11" name="Text 8"/>
          <p:cNvSpPr txBox="1"/>
          <p:nvPr/>
        </p:nvSpPr>
        <p:spPr>
          <a:xfrm>
            <a:off x="6492240" y="2423160"/>
            <a:ext cx="2103120" cy="45720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DOIs registered in Crossref; the rest flagged, never dropped</a:t>
            </a:r>
            <a:endParaRPr lang="en-US" sz="950" dirty="0"/>
          </a:p>
        </p:txBody>
      </p:sp>
      <p:sp>
        <p:nvSpPr>
          <p:cNvPr id="12" name="Text 9"/>
          <p:cNvSpPr txBox="1"/>
          <p:nvPr/>
        </p:nvSpPr>
        <p:spPr>
          <a:xfrm>
            <a:off x="6492240" y="2926080"/>
            <a:ext cx="2103120" cy="365760"/>
          </a:xfrm>
          <a:prstGeom prst="rect">
            <a:avLst/>
          </a:prstGeom>
          <a:noFill/>
          <a:ln/>
        </p:spPr>
        <p:txBody>
          <a:bodyPr wrap="square" lIns="0" tIns="0" rIns="0" bIns="0" rtlCol="0" anchor="ctr"/>
          <a:lstStyle/>
          <a:p>
            <a:pPr indent="0" marL="0">
              <a:buNone/>
            </a:pPr>
            <a:r>
              <a:rPr lang="en-US" sz="1900" b="1" dirty="0">
                <a:solidFill>
                  <a:srgbClr val="1F3A3D"/>
                </a:solidFill>
                <a:latin typeface="Cambria" pitchFamily="34" charset="0"/>
                <a:ea typeface="Cambria" pitchFamily="34" charset="-122"/>
                <a:cs typeface="Cambria" pitchFamily="34" charset="-120"/>
              </a:rPr>
              <a:t>26 kept</a:t>
            </a:r>
            <a:endParaRPr lang="en-US" sz="1900" dirty="0"/>
          </a:p>
        </p:txBody>
      </p:sp>
      <p:sp>
        <p:nvSpPr>
          <p:cNvPr id="13" name="Text 10"/>
          <p:cNvSpPr txBox="1"/>
          <p:nvPr/>
        </p:nvSpPr>
        <p:spPr>
          <a:xfrm>
            <a:off x="6492240" y="3291840"/>
            <a:ext cx="2103120" cy="45720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of 78 retrieved, at cut-off 3/5, each with a reason</a:t>
            </a:r>
            <a:endParaRPr lang="en-US" sz="950" dirty="0"/>
          </a:p>
        </p:txBody>
      </p:sp>
      <p:sp>
        <p:nvSpPr>
          <p:cNvPr id="14" name="Text 11"/>
          <p:cNvSpPr txBox="1"/>
          <p:nvPr/>
        </p:nvSpPr>
        <p:spPr>
          <a:xfrm>
            <a:off x="6492240" y="3794760"/>
            <a:ext cx="2103120" cy="365760"/>
          </a:xfrm>
          <a:prstGeom prst="rect">
            <a:avLst/>
          </a:prstGeom>
          <a:noFill/>
          <a:ln/>
        </p:spPr>
        <p:txBody>
          <a:bodyPr wrap="square" lIns="0" tIns="0" rIns="0" bIns="0" rtlCol="0" anchor="ctr"/>
          <a:lstStyle/>
          <a:p>
            <a:pPr indent="0" marL="0">
              <a:buNone/>
            </a:pPr>
            <a:r>
              <a:rPr lang="en-US" sz="1900" b="1" dirty="0">
                <a:solidFill>
                  <a:srgbClr val="1F3A3D"/>
                </a:solidFill>
                <a:latin typeface="Cambria" pitchFamily="34" charset="0"/>
                <a:ea typeface="Cambria" pitchFamily="34" charset="-122"/>
                <a:cs typeface="Cambria" pitchFamily="34" charset="-120"/>
              </a:rPr>
              <a:t>1 → 3</a:t>
            </a:r>
            <a:endParaRPr lang="en-US" sz="1900" dirty="0"/>
          </a:p>
        </p:txBody>
      </p:sp>
      <p:sp>
        <p:nvSpPr>
          <p:cNvPr id="15" name="Text 12"/>
          <p:cNvSpPr txBox="1"/>
          <p:nvPr/>
        </p:nvSpPr>
        <p:spPr>
          <a:xfrm>
            <a:off x="6492240" y="4160520"/>
            <a:ext cx="2103120" cy="457200"/>
          </a:xfrm>
          <a:prstGeom prst="rect">
            <a:avLst/>
          </a:prstGeom>
          <a:noFill/>
          <a:ln/>
        </p:spPr>
        <p:txBody>
          <a:bodyPr wrap="square" lIns="0" tIns="0" rIns="0" bIns="0" rtlCol="0" anchor="t"/>
          <a:lstStyle/>
          <a:p>
            <a:pPr indent="0" marL="0">
              <a:buNone/>
            </a:pPr>
            <a:r>
              <a:rPr lang="en-US" sz="950" dirty="0">
                <a:solidFill>
                  <a:srgbClr val="5F6F70"/>
                </a:solidFill>
                <a:latin typeface="Calibri" pitchFamily="34" charset="0"/>
                <a:ea typeface="Calibri" pitchFamily="34" charset="-122"/>
                <a:cs typeface="Calibri" pitchFamily="34" charset="-120"/>
              </a:rPr>
              <a:t>relevant papers for sub-question 4 after the single retry</a:t>
            </a:r>
            <a:endParaRPr lang="en-US" sz="950" dirty="0"/>
          </a:p>
        </p:txBody>
      </p:sp>
      <p:sp>
        <p:nvSpPr>
          <p:cNvPr id="16" name="Text 13"/>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Demo 3 - the second review and the brief</a:t>
            </a:r>
            <a:endParaRPr lang="en-US" sz="3000" dirty="0"/>
          </a:p>
        </p:txBody>
      </p:sp>
      <p:sp>
        <p:nvSpPr>
          <p:cNvPr id="3" name="Shape 1"/>
          <p:cNvSpPr/>
          <p:nvPr/>
        </p:nvSpPr>
        <p:spPr>
          <a:xfrm>
            <a:off x="457200" y="1097280"/>
            <a:ext cx="4937760" cy="2286000"/>
          </a:xfrm>
          <a:prstGeom prst="roundRect">
            <a:avLst>
              <a:gd name="adj" fmla="val 2400"/>
            </a:avLst>
          </a:prstGeom>
          <a:solidFill>
            <a:srgbClr val="17292B"/>
          </a:solidFill>
          <a:ln w="12700">
            <a:solidFill>
              <a:srgbClr val="17292B"/>
            </a:solidFill>
            <a:prstDash val="solid"/>
          </a:ln>
        </p:spPr>
      </p:sp>
      <p:sp>
        <p:nvSpPr>
          <p:cNvPr id="4" name="Text 2"/>
          <p:cNvSpPr txBox="1"/>
          <p:nvPr/>
        </p:nvSpPr>
        <p:spPr>
          <a:xfrm>
            <a:off x="566928" y="1170432"/>
            <a:ext cx="4718304" cy="2139696"/>
          </a:xfrm>
          <a:prstGeom prst="rect">
            <a:avLst/>
          </a:prstGeom>
          <a:noFill/>
          <a:ln/>
        </p:spPr>
        <p:txBody>
          <a:bodyPr wrap="square" lIns="0" tIns="0" rIns="0" bIns="0" rtlCol="0" anchor="t"/>
          <a:lstStyle/>
          <a:p>
            <a:pPr indent="0" marL="0">
              <a:buNone/>
            </a:pPr>
            <a:r>
              <a:rPr lang="en-US" sz="700" dirty="0">
                <a:solidFill>
                  <a:srgbClr val="E6EFEE"/>
                </a:solidFill>
                <a:latin typeface="Courier New" pitchFamily="34" charset="0"/>
                <a:ea typeface="Courier New" pitchFamily="34" charset="-122"/>
                <a:cs typeface="Courier New" pitchFamily="34" charset="-120"/>
              </a:rPr>
              <a:t>=== Review 2: selected evidence ===</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Sub-question 4: How are hallucinations in autonomous agents benchmarked,</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detected, and evaluated ...? (query reformulated once: ... )</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24. [3/5] A survey on large language model based autonomous agents (2024)</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 DOI verified</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25. [3/5] Benchmark Evaluations, Applications, and Challenges of Large</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Vision Language Models: A Survey (2025) - DOI verified</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26. [4/5] Exploring Autonomous Agents through the Lens of Large Language</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Models: A Review (2024) - DOI UNVERIFIED</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26 papers selected; 52 screened out (reasons are recorded in the brief).</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Type 'approve' to write the brief, or 'drop 3, 7' ..., or 'reject' ...</a:t>
            </a:r>
            <a:endParaRPr lang="en-US" sz="700" dirty="0"/>
          </a:p>
          <a:p>
            <a:pPr indent="0" marL="0">
              <a:buNone/>
            </a:pPr>
            <a:r>
              <a:rPr lang="en-US" sz="700" dirty="0">
                <a:solidFill>
                  <a:srgbClr val="F2C572"/>
                </a:solidFill>
                <a:latin typeface="Courier New" pitchFamily="34" charset="0"/>
                <a:ea typeface="Courier New" pitchFamily="34" charset="-122"/>
                <a:cs typeface="Courier New" pitchFamily="34" charset="-120"/>
              </a:rPr>
              <a:t>&gt; approve</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evaluation   | summarising | subquestion=1 | batch=1/1 | papers=9</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evaluation   | summarised | papers=26</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evaluation   | synthesised | themes=3 | gaps=3</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78 unique papers across 4 sub-questions | 55 DOIs verified</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  | 26 approved, 52 excluded | 3 themes, 3 gaps | reformulations: 1</a:t>
            </a:r>
            <a:endParaRPr lang="en-US" sz="700" dirty="0"/>
          </a:p>
          <a:p>
            <a:pPr indent="0" marL="0">
              <a:buNone/>
            </a:pPr>
            <a:r>
              <a:rPr lang="en-US" sz="700" dirty="0">
                <a:solidFill>
                  <a:srgbClr val="E6EFEE"/>
                </a:solidFill>
                <a:latin typeface="Courier New" pitchFamily="34" charset="0"/>
                <a:ea typeface="Courier New" pitchFamily="34" charset="-122"/>
                <a:cs typeface="Courier New" pitchFamily="34" charset="-120"/>
              </a:rPr>
              <a:t>Stage 6 complete - brief written.</a:t>
            </a:r>
            <a:endParaRPr lang="en-US" sz="700" dirty="0"/>
          </a:p>
        </p:txBody>
      </p:sp>
      <p:sp>
        <p:nvSpPr>
          <p:cNvPr id="5" name="Shape 3"/>
          <p:cNvSpPr/>
          <p:nvPr/>
        </p:nvSpPr>
        <p:spPr>
          <a:xfrm>
            <a:off x="5669280" y="1097280"/>
            <a:ext cx="3017520" cy="3520440"/>
          </a:xfrm>
          <a:prstGeom prst="roundRect">
            <a:avLst>
              <a:gd name="adj" fmla="val 2424"/>
            </a:avLst>
          </a:prstGeom>
          <a:solidFill>
            <a:srgbClr val="F7F9F9"/>
          </a:solidFill>
          <a:ln w="9525">
            <a:solidFill>
              <a:srgbClr val="DDE4E3"/>
            </a:solidFill>
            <a:prstDash val="solid"/>
          </a:ln>
        </p:spPr>
      </p:sp>
      <p:sp>
        <p:nvSpPr>
          <p:cNvPr id="6" name="Text 4"/>
          <p:cNvSpPr txBox="1"/>
          <p:nvPr/>
        </p:nvSpPr>
        <p:spPr>
          <a:xfrm>
            <a:off x="5806440" y="1170432"/>
            <a:ext cx="2743200" cy="274320"/>
          </a:xfrm>
          <a:prstGeom prst="rect">
            <a:avLst/>
          </a:prstGeom>
          <a:noFill/>
          <a:ln/>
        </p:spPr>
        <p:txBody>
          <a:bodyPr wrap="square" lIns="0" tIns="0" rIns="0" bIns="0" rtlCol="0" anchor="t"/>
          <a:lstStyle/>
          <a:p>
            <a:pPr indent="0" marL="0">
              <a:buNone/>
            </a:pPr>
            <a:r>
              <a:rPr lang="en-US" sz="1150" b="1" dirty="0">
                <a:solidFill>
                  <a:srgbClr val="1F3A3D"/>
                </a:solidFill>
                <a:latin typeface="Calibri" pitchFamily="34" charset="0"/>
                <a:ea typeface="Calibri" pitchFamily="34" charset="-122"/>
                <a:cs typeface="Calibri" pitchFamily="34" charset="-120"/>
              </a:rPr>
              <a:t>From the brief (22 Sept run, abridged)</a:t>
            </a:r>
            <a:endParaRPr lang="en-US" sz="1150" dirty="0"/>
          </a:p>
        </p:txBody>
      </p:sp>
      <p:sp>
        <p:nvSpPr>
          <p:cNvPr id="7" name="Text 5"/>
          <p:cNvSpPr txBox="1"/>
          <p:nvPr/>
        </p:nvSpPr>
        <p:spPr>
          <a:xfrm>
            <a:off x="5806440" y="1463040"/>
            <a:ext cx="2743200" cy="3108960"/>
          </a:xfrm>
          <a:prstGeom prst="rect">
            <a:avLst/>
          </a:prstGeom>
          <a:noFill/>
          <a:ln/>
        </p:spPr>
        <p:txBody>
          <a:bodyPr wrap="square" lIns="0" tIns="0" rIns="0" bIns="0" rtlCol="0" anchor="t"/>
          <a:lstStyle/>
          <a:p>
            <a:pPr indent="0" marL="0">
              <a:buNone/>
            </a:pPr>
            <a:r>
              <a:rPr lang="en-US" sz="950" b="1" dirty="0">
                <a:solidFill>
                  <a:srgbClr val="8A5A17"/>
                </a:solidFill>
                <a:latin typeface="Calibri" pitchFamily="34" charset="0"/>
                <a:ea typeface="Calibri" pitchFamily="34" charset="-122"/>
                <a:cs typeface="Calibri" pitchFamily="34" charset="-120"/>
              </a:rPr>
              <a:t>Evidence note [5]  </a:t>
            </a:r>
            <a:pPr indent="0" marL="0">
              <a:buNone/>
            </a:pPr>
            <a:r>
              <a:rPr lang="en-US" sz="950" dirty="0">
                <a:solidFill>
                  <a:srgbClr val="1F3A3D"/>
                </a:solidFill>
                <a:latin typeface="Calibri" pitchFamily="34" charset="0"/>
                <a:ea typeface="Calibri" pitchFamily="34" charset="-122"/>
                <a:cs typeface="Calibri" pitchFamily="34" charset="-120"/>
              </a:rPr>
              <a:t>RAG-based legal tools reduce hallucinations versus GPT-4 but still hallucinate 17-33% of the time - every figure is in the paper's abstract.</a:t>
            </a:r>
            <a:pPr indent="0" marL="0">
              <a:buNone/>
            </a:pPr>
            <a:endParaRPr lang="en-US" sz="950" dirty="0"/>
          </a:p>
          <a:p>
            <a:pPr indent="0" marL="0">
              <a:buNone/>
            </a:pPr>
            <a:endParaRPr lang="en-US" sz="950" dirty="0"/>
          </a:p>
          <a:p>
            <a:pPr indent="0" marL="0">
              <a:buNone/>
            </a:pPr>
            <a:r>
              <a:rPr lang="en-US" sz="950" b="1" dirty="0">
                <a:solidFill>
                  <a:srgbClr val="8A5A17"/>
                </a:solidFill>
                <a:latin typeface="Calibri" pitchFamily="34" charset="0"/>
                <a:ea typeface="Calibri" pitchFamily="34" charset="-122"/>
                <a:cs typeface="Calibri" pitchFamily="34" charset="-120"/>
              </a:rPr>
              <a:t>Theme  </a:t>
            </a:r>
            <a:endParaRPr lang="en-US" sz="950" dirty="0"/>
          </a:p>
          <a:p>
            <a:pPr indent="0" marL="0">
              <a:buNone/>
            </a:pPr>
            <a:r>
              <a:rPr lang="en-US" sz="950" dirty="0">
                <a:solidFill>
                  <a:srgbClr val="1F3A3D"/>
                </a:solidFill>
                <a:latin typeface="Calibri" pitchFamily="34" charset="0"/>
                <a:ea typeface="Calibri" pitchFamily="34" charset="-122"/>
                <a:cs typeface="Calibri" pitchFamily="34" charset="-120"/>
              </a:rPr>
              <a:t>Self-reflection and multi-agent consensus reduce unfaithful reasoning through iterative verification loops. [10, 11, 14, 16, 17]</a:t>
            </a:r>
            <a:pPr indent="0" marL="0">
              <a:buNone/>
            </a:pPr>
            <a:endParaRPr lang="en-US" sz="950" dirty="0"/>
          </a:p>
          <a:p>
            <a:pPr indent="0" marL="0">
              <a:buNone/>
            </a:pPr>
            <a:endParaRPr lang="en-US" sz="950" dirty="0"/>
          </a:p>
          <a:p>
            <a:pPr indent="0" marL="0">
              <a:buNone/>
            </a:pPr>
            <a:r>
              <a:rPr lang="en-US" sz="950" b="1" dirty="0">
                <a:solidFill>
                  <a:srgbClr val="8A5A17"/>
                </a:solidFill>
                <a:latin typeface="Calibri" pitchFamily="34" charset="0"/>
                <a:ea typeface="Calibri" pitchFamily="34" charset="-122"/>
                <a:cs typeface="Calibri" pitchFamily="34" charset="-120"/>
              </a:rPr>
              <a:t>Gap  </a:t>
            </a:r>
            <a:endParaRPr lang="en-US" sz="950" dirty="0"/>
          </a:p>
          <a:p>
            <a:pPr indent="0" marL="0">
              <a:buNone/>
            </a:pPr>
            <a:r>
              <a:rPr lang="en-US" sz="950" dirty="0">
                <a:solidFill>
                  <a:srgbClr val="1F3A3D"/>
                </a:solidFill>
                <a:latin typeface="Calibri" pitchFamily="34" charset="0"/>
                <a:ea typeface="Calibri" pitchFamily="34" charset="-122"/>
                <a:cs typeface="Calibri" pitchFamily="34" charset="-120"/>
              </a:rPr>
              <a:t>Sub-question 4 lacks direct empirical work on long-horizon agent tasks; most evidence is surveys.</a:t>
            </a:r>
            <a:pPr indent="0" marL="0">
              <a:buNone/>
            </a:pPr>
            <a:endParaRPr lang="en-US" sz="950" dirty="0"/>
          </a:p>
          <a:p>
            <a:pPr indent="0" marL="0">
              <a:buNone/>
            </a:pPr>
            <a:endParaRPr lang="en-US" sz="950" dirty="0"/>
          </a:p>
          <a:p>
            <a:pPr indent="0" marL="0">
              <a:buNone/>
            </a:pPr>
            <a:r>
              <a:rPr lang="en-US" sz="950" b="1" dirty="0">
                <a:solidFill>
                  <a:srgbClr val="8A5A17"/>
                </a:solidFill>
                <a:latin typeface="Calibri" pitchFamily="34" charset="0"/>
                <a:ea typeface="Calibri" pitchFamily="34" charset="-122"/>
                <a:cs typeface="Calibri" pitchFamily="34" charset="-120"/>
              </a:rPr>
              <a:t>Limitation  </a:t>
            </a:r>
            <a:endParaRPr lang="en-US" sz="950" dirty="0"/>
          </a:p>
          <a:p>
            <a:pPr indent="0" marL="0">
              <a:buNone/>
            </a:pPr>
            <a:r>
              <a:rPr lang="en-US" sz="950" dirty="0">
                <a:solidFill>
                  <a:srgbClr val="1F3A3D"/>
                </a:solidFill>
                <a:latin typeface="Calibri" pitchFamily="34" charset="0"/>
                <a:ea typeface="Calibri" pitchFamily="34" charset="-122"/>
                <a:cs typeface="Calibri" pitchFamily="34" charset="-120"/>
              </a:rPr>
              <a:t>Sub-question(s) 4 (3 papers) ended with fewer than 5 approved papers; conclusions there rest on thin evidence.</a:t>
            </a:r>
            <a:endParaRPr lang="en-US" sz="950" dirty="0"/>
          </a:p>
        </p:txBody>
      </p:sp>
      <p:sp>
        <p:nvSpPr>
          <p:cNvPr id="8" name="Text 6"/>
          <p:cNvSpPr txBox="1"/>
          <p:nvPr/>
        </p:nvSpPr>
        <p:spPr>
          <a:xfrm>
            <a:off x="457200" y="3566160"/>
            <a:ext cx="4937760" cy="640080"/>
          </a:xfrm>
          <a:prstGeom prst="rect">
            <a:avLst/>
          </a:prstGeom>
          <a:noFill/>
          <a:ln/>
        </p:spPr>
        <p:txBody>
          <a:bodyPr wrap="square" lIns="0" tIns="0" rIns="0" bIns="0" rtlCol="0" anchor="t"/>
          <a:lstStyle/>
          <a:p>
            <a:pPr indent="0" marL="0">
              <a:buNone/>
            </a:pPr>
            <a:r>
              <a:rPr lang="en-US" sz="1100" b="1" dirty="0">
                <a:solidFill>
                  <a:srgbClr val="1F3A3D"/>
                </a:solidFill>
                <a:latin typeface="Calibri" pitchFamily="34" charset="0"/>
                <a:ea typeface="Calibri" pitchFamily="34" charset="-122"/>
                <a:cs typeface="Calibri" pitchFamily="34" charset="-120"/>
              </a:rPr>
              <a:t>The reference list is built from the records' own metadata - the model never writes a citation.</a:t>
            </a:r>
            <a:endParaRPr lang="en-US" sz="1100" dirty="0"/>
          </a:p>
        </p:txBody>
      </p:sp>
      <p:sp>
        <p:nvSpPr>
          <p:cNvPr id="9" name="Text 7"/>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Testing: three layers of evidence</a:t>
            </a:r>
            <a:endParaRPr lang="en-US" sz="3000" dirty="0"/>
          </a:p>
        </p:txBody>
      </p:sp>
      <p:sp>
        <p:nvSpPr>
          <p:cNvPr id="3" name="Shape 1"/>
          <p:cNvSpPr/>
          <p:nvPr/>
        </p:nvSpPr>
        <p:spPr>
          <a:xfrm>
            <a:off x="457200" y="1188720"/>
            <a:ext cx="2651760" cy="2697480"/>
          </a:xfrm>
          <a:prstGeom prst="roundRect">
            <a:avLst>
              <a:gd name="adj" fmla="val 2759"/>
            </a:avLst>
          </a:prstGeom>
          <a:solidFill>
            <a:srgbClr val="F7F9F9"/>
          </a:solidFill>
          <a:ln w="9525">
            <a:solidFill>
              <a:srgbClr val="DDE4E3"/>
            </a:solidFill>
            <a:prstDash val="solid"/>
          </a:ln>
        </p:spPr>
      </p:sp>
      <p:sp>
        <p:nvSpPr>
          <p:cNvPr id="4" name="Text 2"/>
          <p:cNvSpPr txBox="1"/>
          <p:nvPr/>
        </p:nvSpPr>
        <p:spPr>
          <a:xfrm>
            <a:off x="594360" y="1280160"/>
            <a:ext cx="2377440" cy="685800"/>
          </a:xfrm>
          <a:prstGeom prst="rect">
            <a:avLst/>
          </a:prstGeom>
          <a:noFill/>
          <a:ln/>
        </p:spPr>
        <p:txBody>
          <a:bodyPr wrap="square" lIns="0" tIns="0" rIns="0" bIns="0" rtlCol="0" anchor="ctr"/>
          <a:lstStyle/>
          <a:p>
            <a:pPr indent="0" marL="0">
              <a:buNone/>
            </a:pPr>
            <a:r>
              <a:rPr lang="en-US" sz="4400" b="1" dirty="0">
                <a:solidFill>
                  <a:srgbClr val="1F3A3D"/>
                </a:solidFill>
                <a:latin typeface="Cambria" pitchFamily="34" charset="0"/>
                <a:ea typeface="Cambria" pitchFamily="34" charset="-122"/>
                <a:cs typeface="Cambria" pitchFamily="34" charset="-120"/>
              </a:rPr>
              <a:t>56</a:t>
            </a:r>
            <a:endParaRPr lang="en-US" sz="4400" dirty="0"/>
          </a:p>
        </p:txBody>
      </p:sp>
      <p:sp>
        <p:nvSpPr>
          <p:cNvPr id="5" name="Text 3"/>
          <p:cNvSpPr txBox="1"/>
          <p:nvPr/>
        </p:nvSpPr>
        <p:spPr>
          <a:xfrm>
            <a:off x="594360" y="1938528"/>
            <a:ext cx="2377440" cy="320040"/>
          </a:xfrm>
          <a:prstGeom prst="rect">
            <a:avLst/>
          </a:prstGeom>
          <a:noFill/>
          <a:ln/>
        </p:spPr>
        <p:txBody>
          <a:bodyPr wrap="square" lIns="0" tIns="0" rIns="0" bIns="0" rtlCol="0" anchor="ctr"/>
          <a:lstStyle/>
          <a:p>
            <a:pPr indent="0" marL="0">
              <a:buNone/>
            </a:pPr>
            <a:r>
              <a:rPr lang="en-US" sz="1300" b="1" dirty="0">
                <a:solidFill>
                  <a:srgbClr val="8A5A17"/>
                </a:solidFill>
                <a:latin typeface="Calibri" pitchFamily="34" charset="0"/>
                <a:ea typeface="Calibri" pitchFamily="34" charset="-122"/>
                <a:cs typeface="Calibri" pitchFamily="34" charset="-120"/>
              </a:rPr>
              <a:t>unit tests</a:t>
            </a:r>
            <a:endParaRPr lang="en-US" sz="1300" dirty="0"/>
          </a:p>
        </p:txBody>
      </p:sp>
      <p:sp>
        <p:nvSpPr>
          <p:cNvPr id="6" name="Text 4"/>
          <p:cNvSpPr txBox="1"/>
          <p:nvPr/>
        </p:nvSpPr>
        <p:spPr>
          <a:xfrm>
            <a:off x="594360" y="2286000"/>
            <a:ext cx="2377440" cy="1554480"/>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pytest, no network. Recorded API replies in tests/fixtures. Data models, abstract reconstruction, de-duplication and DOI checks, the 3-5 rule, schema validation and repair, review loops, threshold and retry caps, cut-off, batching, themes citing non-existent papers, retry policies, brief layout.</a:t>
            </a:r>
            <a:endParaRPr lang="en-US" sz="1000" dirty="0"/>
          </a:p>
        </p:txBody>
      </p:sp>
      <p:sp>
        <p:nvSpPr>
          <p:cNvPr id="7" name="Shape 5"/>
          <p:cNvSpPr/>
          <p:nvPr/>
        </p:nvSpPr>
        <p:spPr>
          <a:xfrm>
            <a:off x="3246120" y="1188720"/>
            <a:ext cx="2651760" cy="2697480"/>
          </a:xfrm>
          <a:prstGeom prst="roundRect">
            <a:avLst>
              <a:gd name="adj" fmla="val 2759"/>
            </a:avLst>
          </a:prstGeom>
          <a:solidFill>
            <a:srgbClr val="EEF3F2"/>
          </a:solidFill>
          <a:ln w="9525">
            <a:solidFill>
              <a:srgbClr val="DDE4E3"/>
            </a:solidFill>
            <a:prstDash val="solid"/>
          </a:ln>
        </p:spPr>
      </p:sp>
      <p:sp>
        <p:nvSpPr>
          <p:cNvPr id="8" name="Text 6"/>
          <p:cNvSpPr txBox="1"/>
          <p:nvPr/>
        </p:nvSpPr>
        <p:spPr>
          <a:xfrm>
            <a:off x="3383280" y="1280160"/>
            <a:ext cx="2377440" cy="685800"/>
          </a:xfrm>
          <a:prstGeom prst="rect">
            <a:avLst/>
          </a:prstGeom>
          <a:noFill/>
          <a:ln/>
        </p:spPr>
        <p:txBody>
          <a:bodyPr wrap="square" lIns="0" tIns="0" rIns="0" bIns="0" rtlCol="0" anchor="ctr"/>
          <a:lstStyle/>
          <a:p>
            <a:pPr indent="0" marL="0">
              <a:buNone/>
            </a:pPr>
            <a:r>
              <a:rPr lang="en-US" sz="4400" b="1" dirty="0">
                <a:solidFill>
                  <a:srgbClr val="1F3A3D"/>
                </a:solidFill>
                <a:latin typeface="Cambria" pitchFamily="34" charset="0"/>
                <a:ea typeface="Cambria" pitchFamily="34" charset="-122"/>
                <a:cs typeface="Cambria" pitchFamily="34" charset="-120"/>
              </a:rPr>
              <a:t>9</a:t>
            </a:r>
            <a:endParaRPr lang="en-US" sz="4400" dirty="0"/>
          </a:p>
        </p:txBody>
      </p:sp>
      <p:sp>
        <p:nvSpPr>
          <p:cNvPr id="9" name="Text 7"/>
          <p:cNvSpPr txBox="1"/>
          <p:nvPr/>
        </p:nvSpPr>
        <p:spPr>
          <a:xfrm>
            <a:off x="3383280" y="1938528"/>
            <a:ext cx="2377440" cy="320040"/>
          </a:xfrm>
          <a:prstGeom prst="rect">
            <a:avLst/>
          </a:prstGeom>
          <a:noFill/>
          <a:ln/>
        </p:spPr>
        <p:txBody>
          <a:bodyPr wrap="square" lIns="0" tIns="0" rIns="0" bIns="0" rtlCol="0" anchor="ctr"/>
          <a:lstStyle/>
          <a:p>
            <a:pPr indent="0" marL="0">
              <a:buNone/>
            </a:pPr>
            <a:r>
              <a:rPr lang="en-US" sz="1300" b="1" dirty="0">
                <a:solidFill>
                  <a:srgbClr val="8A5A17"/>
                </a:solidFill>
                <a:latin typeface="Calibri" pitchFamily="34" charset="0"/>
                <a:ea typeface="Calibri" pitchFamily="34" charset="-122"/>
                <a:cs typeface="Calibri" pitchFamily="34" charset="-120"/>
              </a:rPr>
              <a:t>functional tests</a:t>
            </a:r>
            <a:endParaRPr lang="en-US" sz="1300" dirty="0"/>
          </a:p>
        </p:txBody>
      </p:sp>
      <p:sp>
        <p:nvSpPr>
          <p:cNvPr id="10" name="Text 8"/>
          <p:cNvSpPr txBox="1"/>
          <p:nvPr/>
        </p:nvSpPr>
        <p:spPr>
          <a:xfrm>
            <a:off x="3383280" y="2286000"/>
            <a:ext cx="2377440" cy="1554480"/>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Live, against the real services, each with command, expected and observed result. Missing key; drop at Review 2; revise at Review 1; reject scope once then refused; full run; threshold retry; transient errors; daily quota stop; malformed-JSON repair. All pass.</a:t>
            </a:r>
            <a:endParaRPr lang="en-US" sz="1000" dirty="0"/>
          </a:p>
        </p:txBody>
      </p:sp>
      <p:sp>
        <p:nvSpPr>
          <p:cNvPr id="11" name="Shape 9"/>
          <p:cNvSpPr/>
          <p:nvPr/>
        </p:nvSpPr>
        <p:spPr>
          <a:xfrm>
            <a:off x="6035040" y="1188720"/>
            <a:ext cx="2651760" cy="2697480"/>
          </a:xfrm>
          <a:prstGeom prst="roundRect">
            <a:avLst>
              <a:gd name="adj" fmla="val 2759"/>
            </a:avLst>
          </a:prstGeom>
          <a:solidFill>
            <a:srgbClr val="F7F9F9"/>
          </a:solidFill>
          <a:ln w="9525">
            <a:solidFill>
              <a:srgbClr val="DDE4E3"/>
            </a:solidFill>
            <a:prstDash val="solid"/>
          </a:ln>
        </p:spPr>
      </p:sp>
      <p:sp>
        <p:nvSpPr>
          <p:cNvPr id="12" name="Text 10"/>
          <p:cNvSpPr txBox="1"/>
          <p:nvPr/>
        </p:nvSpPr>
        <p:spPr>
          <a:xfrm>
            <a:off x="6172200" y="1280160"/>
            <a:ext cx="2377440" cy="685800"/>
          </a:xfrm>
          <a:prstGeom prst="rect">
            <a:avLst/>
          </a:prstGeom>
          <a:noFill/>
          <a:ln/>
        </p:spPr>
        <p:txBody>
          <a:bodyPr wrap="square" lIns="0" tIns="0" rIns="0" bIns="0" rtlCol="0" anchor="ctr"/>
          <a:lstStyle/>
          <a:p>
            <a:pPr indent="0" marL="0">
              <a:buNone/>
            </a:pPr>
            <a:r>
              <a:rPr lang="en-US" sz="4400" b="1" dirty="0">
                <a:solidFill>
                  <a:srgbClr val="1F3A3D"/>
                </a:solidFill>
                <a:latin typeface="Cambria" pitchFamily="34" charset="0"/>
                <a:ea typeface="Cambria" pitchFamily="34" charset="-122"/>
                <a:cs typeface="Cambria" pitchFamily="34" charset="-120"/>
              </a:rPr>
              <a:t>11</a:t>
            </a:r>
            <a:endParaRPr lang="en-US" sz="4400" dirty="0"/>
          </a:p>
        </p:txBody>
      </p:sp>
      <p:sp>
        <p:nvSpPr>
          <p:cNvPr id="13" name="Text 11"/>
          <p:cNvSpPr txBox="1"/>
          <p:nvPr/>
        </p:nvSpPr>
        <p:spPr>
          <a:xfrm>
            <a:off x="6172200" y="1938528"/>
            <a:ext cx="2377440" cy="320040"/>
          </a:xfrm>
          <a:prstGeom prst="rect">
            <a:avLst/>
          </a:prstGeom>
          <a:noFill/>
          <a:ln/>
        </p:spPr>
        <p:txBody>
          <a:bodyPr wrap="square" lIns="0" tIns="0" rIns="0" bIns="0" rtlCol="0" anchor="ctr"/>
          <a:lstStyle/>
          <a:p>
            <a:pPr indent="0" marL="0">
              <a:buNone/>
            </a:pPr>
            <a:r>
              <a:rPr lang="en-US" sz="1300" b="1" dirty="0">
                <a:solidFill>
                  <a:srgbClr val="8A5A17"/>
                </a:solidFill>
                <a:latin typeface="Calibri" pitchFamily="34" charset="0"/>
                <a:ea typeface="Calibri" pitchFamily="34" charset="-122"/>
                <a:cs typeface="Calibri" pitchFamily="34" charset="-120"/>
              </a:rPr>
              <a:t>remediation entries</a:t>
            </a:r>
            <a:endParaRPr lang="en-US" sz="1300" dirty="0"/>
          </a:p>
        </p:txBody>
      </p:sp>
      <p:sp>
        <p:nvSpPr>
          <p:cNvPr id="14" name="Text 12"/>
          <p:cNvSpPr txBox="1"/>
          <p:nvPr/>
        </p:nvSpPr>
        <p:spPr>
          <a:xfrm>
            <a:off x="6172200" y="2286000"/>
            <a:ext cx="2377440" cy="1554480"/>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Every problem met during development, its cause, the change made, and how the fix was verified - the model retirement, 503s, timeouts, quotas, OpenAlex's policy change, a typo that re-planned.</a:t>
            </a:r>
            <a:endParaRPr lang="en-US" sz="1000" dirty="0"/>
          </a:p>
        </p:txBody>
      </p:sp>
      <p:sp>
        <p:nvSpPr>
          <p:cNvPr id="15" name="Shape 13"/>
          <p:cNvSpPr/>
          <p:nvPr/>
        </p:nvSpPr>
        <p:spPr>
          <a:xfrm>
            <a:off x="457200" y="4023360"/>
            <a:ext cx="8229600" cy="640080"/>
          </a:xfrm>
          <a:prstGeom prst="roundRect">
            <a:avLst>
              <a:gd name="adj" fmla="val 8571"/>
            </a:avLst>
          </a:prstGeom>
          <a:solidFill>
            <a:srgbClr val="17292B"/>
          </a:solidFill>
          <a:ln w="12700">
            <a:solidFill>
              <a:srgbClr val="17292B"/>
            </a:solidFill>
            <a:prstDash val="solid"/>
          </a:ln>
        </p:spPr>
      </p:sp>
      <p:sp>
        <p:nvSpPr>
          <p:cNvPr id="16" name="Text 14"/>
          <p:cNvSpPr txBox="1"/>
          <p:nvPr/>
        </p:nvSpPr>
        <p:spPr>
          <a:xfrm>
            <a:off x="566928" y="4096512"/>
            <a:ext cx="8010144" cy="493776"/>
          </a:xfrm>
          <a:prstGeom prst="rect">
            <a:avLst/>
          </a:prstGeom>
          <a:noFill/>
          <a:ln/>
        </p:spPr>
        <p:txBody>
          <a:bodyPr wrap="square" lIns="0" tIns="0" rIns="0" bIns="0" rtlCol="0" anchor="t"/>
          <a:lstStyle/>
          <a:p>
            <a:pPr indent="0" marL="0">
              <a:buNone/>
            </a:pPr>
            <a:r>
              <a:rPr lang="en-US" sz="800" dirty="0">
                <a:solidFill>
                  <a:srgbClr val="E6EFEE"/>
                </a:solidFill>
                <a:latin typeface="Courier New" pitchFamily="34" charset="0"/>
                <a:ea typeface="Courier New" pitchFamily="34" charset="-122"/>
                <a:cs typeface="Courier New" pitchFamily="34" charset="-120"/>
              </a:rPr>
              <a:t>$ pytest</a:t>
            </a:r>
            <a:endParaRPr lang="en-US" sz="800" dirty="0"/>
          </a:p>
          <a:p>
            <a:pPr indent="0" marL="0">
              <a:buNone/>
            </a:pPr>
            <a:r>
              <a:rPr lang="en-US" sz="800" dirty="0">
                <a:solidFill>
                  <a:srgbClr val="E6EFEE"/>
                </a:solidFill>
                <a:latin typeface="Courier New" pitchFamily="34" charset="0"/>
                <a:ea typeface="Courier New" pitchFamily="34" charset="-122"/>
                <a:cs typeface="Courier New" pitchFamily="34" charset="-120"/>
              </a:rPr>
              <a:t>collected 56 items   (evaluation 13 . http 5 . models 5 . planning 6 . search_client 4 . stage5 8 . storage 1 . synthesis 9 . validation 5)</a:t>
            </a:r>
            <a:endParaRPr lang="en-US" sz="800" dirty="0"/>
          </a:p>
          <a:p>
            <a:pPr indent="0" marL="0">
              <a:buNone/>
            </a:pPr>
            <a:r>
              <a:rPr lang="en-US" sz="800" dirty="0">
                <a:solidFill>
                  <a:srgbClr val="E6EFEE"/>
                </a:solidFill>
                <a:latin typeface="Courier New" pitchFamily="34" charset="0"/>
                <a:ea typeface="Courier New" pitchFamily="34" charset="-122"/>
                <a:cs typeface="Courier New" pitchFamily="34" charset="-120"/>
              </a:rPr>
              <a:t>56 passed in 0.33s</a:t>
            </a:r>
            <a:endParaRPr lang="en-US" sz="800" dirty="0"/>
          </a:p>
        </p:txBody>
      </p:sp>
      <p:sp>
        <p:nvSpPr>
          <p:cNvPr id="17" name="Text 15"/>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F3A3D"/>
                </a:solidFill>
                <a:latin typeface="Cambria" pitchFamily="34" charset="0"/>
                <a:ea typeface="Cambria" pitchFamily="34" charset="-122"/>
                <a:cs typeface="Cambria" pitchFamily="34" charset="-120"/>
              </a:rPr>
              <a:t>What went wrong, and what changed</a:t>
            </a:r>
            <a:endParaRPr lang="en-US" sz="3000" dirty="0"/>
          </a:p>
        </p:txBody>
      </p:sp>
      <p:sp>
        <p:nvSpPr>
          <p:cNvPr id="3" name="Text 1"/>
          <p:cNvSpPr txBox="1"/>
          <p:nvPr/>
        </p:nvSpPr>
        <p:spPr>
          <a:xfrm>
            <a:off x="457200" y="1188720"/>
            <a:ext cx="914400" cy="274320"/>
          </a:xfrm>
          <a:prstGeom prst="rect">
            <a:avLst/>
          </a:prstGeom>
          <a:noFill/>
          <a:ln/>
        </p:spPr>
        <p:txBody>
          <a:bodyPr wrap="square" lIns="0" tIns="0" rIns="0" bIns="0" rtlCol="0" anchor="t"/>
          <a:lstStyle/>
          <a:p>
            <a:pPr indent="0" marL="0">
              <a:buNone/>
            </a:pPr>
            <a:r>
              <a:rPr lang="en-US" sz="1050" b="1" dirty="0">
                <a:solidFill>
                  <a:srgbClr val="5F6F70"/>
                </a:solidFill>
                <a:latin typeface="Calibri" pitchFamily="34" charset="0"/>
                <a:ea typeface="Calibri" pitchFamily="34" charset="-122"/>
                <a:cs typeface="Calibri" pitchFamily="34" charset="-120"/>
              </a:rPr>
              <a:t>When</a:t>
            </a:r>
            <a:endParaRPr lang="en-US" sz="1050" dirty="0"/>
          </a:p>
        </p:txBody>
      </p:sp>
      <p:sp>
        <p:nvSpPr>
          <p:cNvPr id="4" name="Text 2"/>
          <p:cNvSpPr txBox="1"/>
          <p:nvPr/>
        </p:nvSpPr>
        <p:spPr>
          <a:xfrm>
            <a:off x="1417320" y="1188720"/>
            <a:ext cx="3566160" cy="274320"/>
          </a:xfrm>
          <a:prstGeom prst="rect">
            <a:avLst/>
          </a:prstGeom>
          <a:noFill/>
          <a:ln/>
        </p:spPr>
        <p:txBody>
          <a:bodyPr wrap="square" lIns="0" tIns="0" rIns="0" bIns="0" rtlCol="0" anchor="t"/>
          <a:lstStyle/>
          <a:p>
            <a:pPr indent="0" marL="0">
              <a:buNone/>
            </a:pPr>
            <a:r>
              <a:rPr lang="en-US" sz="1050" b="1" dirty="0">
                <a:solidFill>
                  <a:srgbClr val="5F6F70"/>
                </a:solidFill>
                <a:latin typeface="Calibri" pitchFamily="34" charset="0"/>
                <a:ea typeface="Calibri" pitchFamily="34" charset="-122"/>
                <a:cs typeface="Calibri" pitchFamily="34" charset="-120"/>
              </a:rPr>
              <a:t>What happened</a:t>
            </a:r>
            <a:endParaRPr lang="en-US" sz="1050" dirty="0"/>
          </a:p>
        </p:txBody>
      </p:sp>
      <p:sp>
        <p:nvSpPr>
          <p:cNvPr id="5" name="Text 3"/>
          <p:cNvSpPr txBox="1"/>
          <p:nvPr/>
        </p:nvSpPr>
        <p:spPr>
          <a:xfrm>
            <a:off x="5120640" y="1188720"/>
            <a:ext cx="3566160" cy="274320"/>
          </a:xfrm>
          <a:prstGeom prst="rect">
            <a:avLst/>
          </a:prstGeom>
          <a:noFill/>
          <a:ln/>
        </p:spPr>
        <p:txBody>
          <a:bodyPr wrap="square" lIns="0" tIns="0" rIns="0" bIns="0" rtlCol="0" anchor="t"/>
          <a:lstStyle/>
          <a:p>
            <a:pPr indent="0" marL="0">
              <a:buNone/>
            </a:pPr>
            <a:r>
              <a:rPr lang="en-US" sz="1050" b="1" dirty="0">
                <a:solidFill>
                  <a:srgbClr val="5F6F70"/>
                </a:solidFill>
                <a:latin typeface="Calibri" pitchFamily="34" charset="0"/>
                <a:ea typeface="Calibri" pitchFamily="34" charset="-122"/>
                <a:cs typeface="Calibri" pitchFamily="34" charset="-120"/>
              </a:rPr>
              <a:t>What changed</a:t>
            </a:r>
            <a:endParaRPr lang="en-US" sz="1050" dirty="0"/>
          </a:p>
        </p:txBody>
      </p:sp>
      <p:sp>
        <p:nvSpPr>
          <p:cNvPr id="6" name="Shape 4"/>
          <p:cNvSpPr/>
          <p:nvPr/>
        </p:nvSpPr>
        <p:spPr>
          <a:xfrm>
            <a:off x="457200" y="1463040"/>
            <a:ext cx="8229600" cy="603504"/>
          </a:xfrm>
          <a:prstGeom prst="rect">
            <a:avLst/>
          </a:prstGeom>
          <a:solidFill>
            <a:srgbClr val="F7F9F9"/>
          </a:solidFill>
          <a:ln w="12700">
            <a:solidFill>
              <a:srgbClr val="F7F9F9"/>
            </a:solidFill>
            <a:prstDash val="solid"/>
          </a:ln>
        </p:spPr>
      </p:sp>
      <p:sp>
        <p:nvSpPr>
          <p:cNvPr id="7" name="Text 5"/>
          <p:cNvSpPr txBox="1"/>
          <p:nvPr/>
        </p:nvSpPr>
        <p:spPr>
          <a:xfrm>
            <a:off x="502920" y="1508760"/>
            <a:ext cx="914400" cy="512064"/>
          </a:xfrm>
          <a:prstGeom prst="rect">
            <a:avLst/>
          </a:prstGeom>
          <a:noFill/>
          <a:ln/>
        </p:spPr>
        <p:txBody>
          <a:bodyPr wrap="square" lIns="0" tIns="0" rIns="0" bIns="0" rtlCol="0" anchor="t"/>
          <a:lstStyle/>
          <a:p>
            <a:pPr indent="0" marL="0">
              <a:buNone/>
            </a:pPr>
            <a:r>
              <a:rPr lang="en-US" sz="1000" b="1" dirty="0">
                <a:solidFill>
                  <a:srgbClr val="1F3A3D"/>
                </a:solidFill>
                <a:latin typeface="Calibri" pitchFamily="34" charset="0"/>
                <a:ea typeface="Calibri" pitchFamily="34" charset="-122"/>
                <a:cs typeface="Calibri" pitchFamily="34" charset="-120"/>
              </a:rPr>
              <a:t>14 Sept</a:t>
            </a:r>
            <a:endParaRPr lang="en-US" sz="1000" dirty="0"/>
          </a:p>
        </p:txBody>
      </p:sp>
      <p:sp>
        <p:nvSpPr>
          <p:cNvPr id="8" name="Text 6"/>
          <p:cNvSpPr txBox="1"/>
          <p:nvPr/>
        </p:nvSpPr>
        <p:spPr>
          <a:xfrm>
            <a:off x="1417320" y="1508760"/>
            <a:ext cx="3566160" cy="512064"/>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First Gemini call: HTTP 404 - the model chosen at design time had been retired by the provider</a:t>
            </a:r>
            <a:endParaRPr lang="en-US" sz="1000" dirty="0"/>
          </a:p>
        </p:txBody>
      </p:sp>
      <p:sp>
        <p:nvSpPr>
          <p:cNvPr id="9" name="Text 7"/>
          <p:cNvSpPr txBox="1"/>
          <p:nvPr/>
        </p:nvSpPr>
        <p:spPr>
          <a:xfrm>
            <a:off x="5120640" y="1508760"/>
            <a:ext cx="3520440" cy="512064"/>
          </a:xfrm>
          <a:prstGeom prst="rect">
            <a:avLst/>
          </a:prstGeom>
          <a:noFill/>
          <a:ln/>
        </p:spPr>
        <p:txBody>
          <a:bodyPr wrap="square" lIns="0" tIns="0" rIns="0" bIns="0" rtlCol="0" anchor="t"/>
          <a:lstStyle/>
          <a:p>
            <a:pPr indent="0" marL="0">
              <a:buNone/>
            </a:pPr>
            <a:r>
              <a:rPr lang="en-US" sz="1000" dirty="0">
                <a:solidFill>
                  <a:srgbClr val="8A5A17"/>
                </a:solidFill>
                <a:latin typeface="Calibri" pitchFamily="34" charset="0"/>
                <a:ea typeface="Calibri" pitchFamily="34" charset="-122"/>
                <a:cs typeface="Calibri" pitchFamily="34" charset="-120"/>
              </a:rPr>
              <a:t>Model name was already in configuration: one line in .env</a:t>
            </a:r>
            <a:endParaRPr lang="en-US" sz="1000" dirty="0"/>
          </a:p>
        </p:txBody>
      </p:sp>
      <p:sp>
        <p:nvSpPr>
          <p:cNvPr id="10" name="Text 8"/>
          <p:cNvSpPr txBox="1"/>
          <p:nvPr/>
        </p:nvSpPr>
        <p:spPr>
          <a:xfrm>
            <a:off x="502920" y="2112264"/>
            <a:ext cx="914400" cy="512064"/>
          </a:xfrm>
          <a:prstGeom prst="rect">
            <a:avLst/>
          </a:prstGeom>
          <a:noFill/>
          <a:ln/>
        </p:spPr>
        <p:txBody>
          <a:bodyPr wrap="square" lIns="0" tIns="0" rIns="0" bIns="0" rtlCol="0" anchor="t"/>
          <a:lstStyle/>
          <a:p>
            <a:pPr indent="0" marL="0">
              <a:buNone/>
            </a:pPr>
            <a:r>
              <a:rPr lang="en-US" sz="1000" b="1" dirty="0">
                <a:solidFill>
                  <a:srgbClr val="1F3A3D"/>
                </a:solidFill>
                <a:latin typeface="Calibri" pitchFamily="34" charset="0"/>
                <a:ea typeface="Calibri" pitchFamily="34" charset="-122"/>
                <a:cs typeface="Calibri" pitchFamily="34" charset="-120"/>
              </a:rPr>
              <a:t>17 Sept</a:t>
            </a:r>
            <a:endParaRPr lang="en-US" sz="1000" dirty="0"/>
          </a:p>
        </p:txBody>
      </p:sp>
      <p:sp>
        <p:nvSpPr>
          <p:cNvPr id="11" name="Text 9"/>
          <p:cNvSpPr txBox="1"/>
          <p:nvPr/>
        </p:nvSpPr>
        <p:spPr>
          <a:xfrm>
            <a:off x="1417320" y="2112264"/>
            <a:ext cx="3566160" cy="512064"/>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Run died mid-scoring on 503, then on a read timeout</a:t>
            </a:r>
            <a:endParaRPr lang="en-US" sz="1000" dirty="0"/>
          </a:p>
        </p:txBody>
      </p:sp>
      <p:sp>
        <p:nvSpPr>
          <p:cNvPr id="12" name="Text 10"/>
          <p:cNvSpPr txBox="1"/>
          <p:nvPr/>
        </p:nvSpPr>
        <p:spPr>
          <a:xfrm>
            <a:off x="5120640" y="2112264"/>
            <a:ext cx="3520440" cy="512064"/>
          </a:xfrm>
          <a:prstGeom prst="rect">
            <a:avLst/>
          </a:prstGeom>
          <a:noFill/>
          <a:ln/>
        </p:spPr>
        <p:txBody>
          <a:bodyPr wrap="square" lIns="0" tIns="0" rIns="0" bIns="0" rtlCol="0" anchor="t"/>
          <a:lstStyle/>
          <a:p>
            <a:pPr indent="0" marL="0">
              <a:buNone/>
            </a:pPr>
            <a:r>
              <a:rPr lang="en-US" sz="1000" dirty="0">
                <a:solidFill>
                  <a:srgbClr val="8A5A17"/>
                </a:solidFill>
                <a:latin typeface="Calibri" pitchFamily="34" charset="0"/>
                <a:ea typeface="Calibri" pitchFamily="34" charset="-122"/>
                <a:cs typeface="Calibri" pitchFamily="34" charset="-120"/>
              </a:rPr>
              <a:t>Transient-error retry with back-off; 'busy' and 'wrong' errors treated differently</a:t>
            </a:r>
            <a:endParaRPr lang="en-US" sz="1000" dirty="0"/>
          </a:p>
        </p:txBody>
      </p:sp>
      <p:sp>
        <p:nvSpPr>
          <p:cNvPr id="13" name="Shape 11"/>
          <p:cNvSpPr/>
          <p:nvPr/>
        </p:nvSpPr>
        <p:spPr>
          <a:xfrm>
            <a:off x="457200" y="2670048"/>
            <a:ext cx="8229600" cy="603504"/>
          </a:xfrm>
          <a:prstGeom prst="rect">
            <a:avLst/>
          </a:prstGeom>
          <a:solidFill>
            <a:srgbClr val="F7F9F9"/>
          </a:solidFill>
          <a:ln w="12700">
            <a:solidFill>
              <a:srgbClr val="F7F9F9"/>
            </a:solidFill>
            <a:prstDash val="solid"/>
          </a:ln>
        </p:spPr>
      </p:sp>
      <p:sp>
        <p:nvSpPr>
          <p:cNvPr id="14" name="Text 12"/>
          <p:cNvSpPr txBox="1"/>
          <p:nvPr/>
        </p:nvSpPr>
        <p:spPr>
          <a:xfrm>
            <a:off x="502920" y="2715768"/>
            <a:ext cx="914400" cy="512064"/>
          </a:xfrm>
          <a:prstGeom prst="rect">
            <a:avLst/>
          </a:prstGeom>
          <a:noFill/>
          <a:ln/>
        </p:spPr>
        <p:txBody>
          <a:bodyPr wrap="square" lIns="0" tIns="0" rIns="0" bIns="0" rtlCol="0" anchor="t"/>
          <a:lstStyle/>
          <a:p>
            <a:pPr indent="0" marL="0">
              <a:buNone/>
            </a:pPr>
            <a:r>
              <a:rPr lang="en-US" sz="1000" b="1" dirty="0">
                <a:solidFill>
                  <a:srgbClr val="1F3A3D"/>
                </a:solidFill>
                <a:latin typeface="Calibri" pitchFamily="34" charset="0"/>
                <a:ea typeface="Calibri" pitchFamily="34" charset="-122"/>
                <a:cs typeface="Calibri" pitchFamily="34" charset="-120"/>
              </a:rPr>
              <a:t>17-23 Sept</a:t>
            </a:r>
            <a:endParaRPr lang="en-US" sz="1000" dirty="0"/>
          </a:p>
        </p:txBody>
      </p:sp>
      <p:sp>
        <p:nvSpPr>
          <p:cNvPr id="15" name="Text 13"/>
          <p:cNvSpPr txBox="1"/>
          <p:nvPr/>
        </p:nvSpPr>
        <p:spPr>
          <a:xfrm>
            <a:off x="1417320" y="2715768"/>
            <a:ext cx="3566160" cy="512064"/>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429 - a 20-requests-a-day free quota, burned by retries</a:t>
            </a:r>
            <a:endParaRPr lang="en-US" sz="1000" dirty="0"/>
          </a:p>
        </p:txBody>
      </p:sp>
      <p:sp>
        <p:nvSpPr>
          <p:cNvPr id="16" name="Text 14"/>
          <p:cNvSpPr txBox="1"/>
          <p:nvPr/>
        </p:nvSpPr>
        <p:spPr>
          <a:xfrm>
            <a:off x="5120640" y="2715768"/>
            <a:ext cx="3520440" cy="512064"/>
          </a:xfrm>
          <a:prstGeom prst="rect">
            <a:avLst/>
          </a:prstGeom>
          <a:noFill/>
          <a:ln/>
        </p:spPr>
        <p:txBody>
          <a:bodyPr wrap="square" lIns="0" tIns="0" rIns="0" bIns="0" rtlCol="0" anchor="t"/>
          <a:lstStyle/>
          <a:p>
            <a:pPr indent="0" marL="0">
              <a:buNone/>
            </a:pPr>
            <a:r>
              <a:rPr lang="en-US" sz="1000" dirty="0">
                <a:solidFill>
                  <a:srgbClr val="8A5A17"/>
                </a:solidFill>
                <a:latin typeface="Calibri" pitchFamily="34" charset="0"/>
                <a:ea typeface="Calibri" pitchFamily="34" charset="-122"/>
                <a:cs typeface="Calibri" pitchFamily="34" charset="-120"/>
              </a:rPr>
              <a:t>Quota id logged; per-day limit stops at once; switched to a 500-a-day model</a:t>
            </a:r>
            <a:endParaRPr lang="en-US" sz="1000" dirty="0"/>
          </a:p>
        </p:txBody>
      </p:sp>
      <p:sp>
        <p:nvSpPr>
          <p:cNvPr id="17" name="Text 15"/>
          <p:cNvSpPr txBox="1"/>
          <p:nvPr/>
        </p:nvSpPr>
        <p:spPr>
          <a:xfrm>
            <a:off x="502920" y="3319272"/>
            <a:ext cx="914400" cy="512064"/>
          </a:xfrm>
          <a:prstGeom prst="rect">
            <a:avLst/>
          </a:prstGeom>
          <a:noFill/>
          <a:ln/>
        </p:spPr>
        <p:txBody>
          <a:bodyPr wrap="square" lIns="0" tIns="0" rIns="0" bIns="0" rtlCol="0" anchor="t"/>
          <a:lstStyle/>
          <a:p>
            <a:pPr indent="0" marL="0">
              <a:buNone/>
            </a:pPr>
            <a:r>
              <a:rPr lang="en-US" sz="1000" b="1" dirty="0">
                <a:solidFill>
                  <a:srgbClr val="1F3A3D"/>
                </a:solidFill>
                <a:latin typeface="Calibri" pitchFamily="34" charset="0"/>
                <a:ea typeface="Calibri" pitchFamily="34" charset="-122"/>
                <a:cs typeface="Calibri" pitchFamily="34" charset="-120"/>
              </a:rPr>
              <a:t>23 Sept</a:t>
            </a:r>
            <a:endParaRPr lang="en-US" sz="1000" dirty="0"/>
          </a:p>
        </p:txBody>
      </p:sp>
      <p:sp>
        <p:nvSpPr>
          <p:cNvPr id="18" name="Text 16"/>
          <p:cNvSpPr txBox="1"/>
          <p:nvPr/>
        </p:nvSpPr>
        <p:spPr>
          <a:xfrm>
            <a:off x="1417320" y="3319272"/>
            <a:ext cx="3566160" cy="512064"/>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OpenAlex 429: keyless access now capped at $0.10/day</a:t>
            </a:r>
            <a:endParaRPr lang="en-US" sz="1000" dirty="0"/>
          </a:p>
        </p:txBody>
      </p:sp>
      <p:sp>
        <p:nvSpPr>
          <p:cNvPr id="19" name="Text 17"/>
          <p:cNvSpPr txBox="1"/>
          <p:nvPr/>
        </p:nvSpPr>
        <p:spPr>
          <a:xfrm>
            <a:off x="5120640" y="3319272"/>
            <a:ext cx="3520440" cy="512064"/>
          </a:xfrm>
          <a:prstGeom prst="rect">
            <a:avLst/>
          </a:prstGeom>
          <a:noFill/>
          <a:ln/>
        </p:spPr>
        <p:txBody>
          <a:bodyPr wrap="square" lIns="0" tIns="0" rIns="0" bIns="0" rtlCol="0" anchor="t"/>
          <a:lstStyle/>
          <a:p>
            <a:pPr indent="0" marL="0">
              <a:buNone/>
            </a:pPr>
            <a:r>
              <a:rPr lang="en-US" sz="1000" dirty="0">
                <a:solidFill>
                  <a:srgbClr val="8A5A17"/>
                </a:solidFill>
                <a:latin typeface="Calibri" pitchFamily="34" charset="0"/>
                <a:ea typeface="Calibri" pitchFamily="34" charset="-122"/>
                <a:cs typeface="Calibri" pitchFamily="34" charset="-120"/>
              </a:rPr>
              <a:t>Free API key added to configuration; one shared retry policy for OpenAlex and Crossref</a:t>
            </a:r>
            <a:endParaRPr lang="en-US" sz="1000" dirty="0"/>
          </a:p>
        </p:txBody>
      </p:sp>
      <p:sp>
        <p:nvSpPr>
          <p:cNvPr id="20" name="Shape 18"/>
          <p:cNvSpPr/>
          <p:nvPr/>
        </p:nvSpPr>
        <p:spPr>
          <a:xfrm>
            <a:off x="457200" y="3877056"/>
            <a:ext cx="8229600" cy="603504"/>
          </a:xfrm>
          <a:prstGeom prst="rect">
            <a:avLst/>
          </a:prstGeom>
          <a:solidFill>
            <a:srgbClr val="F7F9F9"/>
          </a:solidFill>
          <a:ln w="12700">
            <a:solidFill>
              <a:srgbClr val="F7F9F9"/>
            </a:solidFill>
            <a:prstDash val="solid"/>
          </a:ln>
        </p:spPr>
      </p:sp>
      <p:sp>
        <p:nvSpPr>
          <p:cNvPr id="21" name="Text 19"/>
          <p:cNvSpPr txBox="1"/>
          <p:nvPr/>
        </p:nvSpPr>
        <p:spPr>
          <a:xfrm>
            <a:off x="502920" y="3922776"/>
            <a:ext cx="914400" cy="512064"/>
          </a:xfrm>
          <a:prstGeom prst="rect">
            <a:avLst/>
          </a:prstGeom>
          <a:noFill/>
          <a:ln/>
        </p:spPr>
        <p:txBody>
          <a:bodyPr wrap="square" lIns="0" tIns="0" rIns="0" bIns="0" rtlCol="0" anchor="t"/>
          <a:lstStyle/>
          <a:p>
            <a:pPr indent="0" marL="0">
              <a:buNone/>
            </a:pPr>
            <a:r>
              <a:rPr lang="en-US" sz="1000" b="1" dirty="0">
                <a:solidFill>
                  <a:srgbClr val="1F3A3D"/>
                </a:solidFill>
                <a:latin typeface="Calibri" pitchFamily="34" charset="0"/>
                <a:ea typeface="Calibri" pitchFamily="34" charset="-122"/>
                <a:cs typeface="Calibri" pitchFamily="34" charset="-120"/>
              </a:rPr>
              <a:t>23 Sept</a:t>
            </a:r>
            <a:endParaRPr lang="en-US" sz="1000" dirty="0"/>
          </a:p>
        </p:txBody>
      </p:sp>
      <p:sp>
        <p:nvSpPr>
          <p:cNvPr id="22" name="Text 20"/>
          <p:cNvSpPr txBox="1"/>
          <p:nvPr/>
        </p:nvSpPr>
        <p:spPr>
          <a:xfrm>
            <a:off x="1417320" y="3922776"/>
            <a:ext cx="3566160" cy="512064"/>
          </a:xfrm>
          <a:prstGeom prst="rect">
            <a:avLst/>
          </a:prstGeom>
          <a:noFill/>
          <a:ln/>
        </p:spPr>
        <p:txBody>
          <a:bodyPr wrap="square" lIns="0" tIns="0" rIns="0" bIns="0" rtlCol="0" anchor="t"/>
          <a:lstStyle/>
          <a:p>
            <a:pPr indent="0" marL="0">
              <a:buNone/>
            </a:pPr>
            <a:r>
              <a:rPr lang="en-US" sz="1000" dirty="0">
                <a:solidFill>
                  <a:srgbClr val="1F3A3D"/>
                </a:solidFill>
                <a:latin typeface="Calibri" pitchFamily="34" charset="0"/>
                <a:ea typeface="Calibri" pitchFamily="34" charset="-122"/>
                <a:cs typeface="Calibri" pitchFamily="34" charset="-120"/>
              </a:rPr>
              <a:t>The typo 'approv' was taken as feedback and re-planned</a:t>
            </a:r>
            <a:endParaRPr lang="en-US" sz="1000" dirty="0"/>
          </a:p>
        </p:txBody>
      </p:sp>
      <p:sp>
        <p:nvSpPr>
          <p:cNvPr id="23" name="Text 21"/>
          <p:cNvSpPr txBox="1"/>
          <p:nvPr/>
        </p:nvSpPr>
        <p:spPr>
          <a:xfrm>
            <a:off x="5120640" y="3922776"/>
            <a:ext cx="3520440" cy="512064"/>
          </a:xfrm>
          <a:prstGeom prst="rect">
            <a:avLst/>
          </a:prstGeom>
          <a:noFill/>
          <a:ln/>
        </p:spPr>
        <p:txBody>
          <a:bodyPr wrap="square" lIns="0" tIns="0" rIns="0" bIns="0" rtlCol="0" anchor="t"/>
          <a:lstStyle/>
          <a:p>
            <a:pPr indent="0" marL="0">
              <a:buNone/>
            </a:pPr>
            <a:r>
              <a:rPr lang="en-US" sz="1000" dirty="0">
                <a:solidFill>
                  <a:srgbClr val="8A5A17"/>
                </a:solidFill>
                <a:latin typeface="Calibri" pitchFamily="34" charset="0"/>
                <a:ea typeface="Calibri" pitchFamily="34" charset="-122"/>
                <a:cs typeface="Calibri" pitchFamily="34" charset="-120"/>
              </a:rPr>
              <a:t>Short unrecognised input is re-asked instead of sent to the planner</a:t>
            </a:r>
            <a:endParaRPr lang="en-US" sz="1000" dirty="0"/>
          </a:p>
        </p:txBody>
      </p:sp>
      <p:sp>
        <p:nvSpPr>
          <p:cNvPr id="24" name="Text 22"/>
          <p:cNvSpPr txBox="1"/>
          <p:nvPr/>
        </p:nvSpPr>
        <p:spPr>
          <a:xfrm>
            <a:off x="457200" y="4343400"/>
            <a:ext cx="8229600" cy="457200"/>
          </a:xfrm>
          <a:prstGeom prst="rect">
            <a:avLst/>
          </a:prstGeom>
          <a:noFill/>
          <a:ln/>
        </p:spPr>
        <p:txBody>
          <a:bodyPr wrap="square" lIns="0" tIns="0" rIns="0" bIns="0" rtlCol="0" anchor="t"/>
          <a:lstStyle/>
          <a:p>
            <a:pPr indent="0" marL="0">
              <a:buNone/>
            </a:pPr>
            <a:r>
              <a:rPr lang="en-US" sz="1050" i="1" dirty="0">
                <a:solidFill>
                  <a:srgbClr val="1F3A3D"/>
                </a:solidFill>
                <a:latin typeface="Calibri" pitchFamily="34" charset="0"/>
                <a:ea typeface="Calibri" pitchFamily="34" charset="-122"/>
                <a:cs typeface="Calibri" pitchFamily="34" charset="-120"/>
              </a:rPr>
              <a:t>None of these needed a rewrite. Keeping every tunable in one configuration module, and every external call behind one small client, is what made each fix a line or two - 13 commits across September.</a:t>
            </a:r>
            <a:endParaRPr lang="en-US" sz="1050" dirty="0"/>
          </a:p>
        </p:txBody>
      </p:sp>
      <p:sp>
        <p:nvSpPr>
          <p:cNvPr id="25" name="Text 23"/>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5F6F70"/>
                </a:solidFill>
                <a:latin typeface="Calibri" pitchFamily="34" charset="0"/>
                <a:ea typeface="Calibri" pitchFamily="34" charset="-122"/>
                <a:cs typeface="Calibri" pitchFamily="34" charset="-120"/>
              </a:rPr>
              <a:t>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A3D"/>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Against the design, and honestly</a:t>
            </a:r>
            <a:endParaRPr lang="en-US" sz="3000" dirty="0"/>
          </a:p>
        </p:txBody>
      </p:sp>
      <p:sp>
        <p:nvSpPr>
          <p:cNvPr id="3" name="Text 1"/>
          <p:cNvSpPr txBox="1"/>
          <p:nvPr/>
        </p:nvSpPr>
        <p:spPr>
          <a:xfrm>
            <a:off x="457200" y="1143000"/>
            <a:ext cx="2651760" cy="365760"/>
          </a:xfrm>
          <a:prstGeom prst="rect">
            <a:avLst/>
          </a:prstGeom>
          <a:noFill/>
          <a:ln/>
        </p:spPr>
        <p:txBody>
          <a:bodyPr wrap="square" lIns="0" tIns="0" rIns="0" bIns="0" rtlCol="0" anchor="ctr"/>
          <a:lstStyle/>
          <a:p>
            <a:pPr indent="0" marL="0">
              <a:buNone/>
            </a:pPr>
            <a:r>
              <a:rPr lang="en-US" sz="1300" b="1" dirty="0">
                <a:solidFill>
                  <a:srgbClr val="D9963A"/>
                </a:solidFill>
                <a:latin typeface="Calibri" pitchFamily="34" charset="0"/>
                <a:ea typeface="Calibri" pitchFamily="34" charset="-122"/>
                <a:cs typeface="Calibri" pitchFamily="34" charset="-120"/>
              </a:rPr>
              <a:t>Matches the design</a:t>
            </a:r>
            <a:endParaRPr lang="en-US" sz="1300" dirty="0"/>
          </a:p>
        </p:txBody>
      </p:sp>
      <p:sp>
        <p:nvSpPr>
          <p:cNvPr id="4" name="Text 2"/>
          <p:cNvSpPr txBox="1"/>
          <p:nvPr/>
        </p:nvSpPr>
        <p:spPr>
          <a:xfrm>
            <a:off x="457200" y="1554480"/>
            <a:ext cx="2651760" cy="26517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Three agents, orchestrator, the four data classes and Decision enum from Diagram 1</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Both review points, both autonomy caps</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Crossref verification; flagged, never dropped</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Brief with notes, themes, gaps, limitations, references</a:t>
            </a:r>
            <a:endParaRPr lang="en-US" sz="1150" dirty="0"/>
          </a:p>
        </p:txBody>
      </p:sp>
      <p:sp>
        <p:nvSpPr>
          <p:cNvPr id="5" name="Text 3"/>
          <p:cNvSpPr txBox="1"/>
          <p:nvPr/>
        </p:nvSpPr>
        <p:spPr>
          <a:xfrm>
            <a:off x="3246120" y="1143000"/>
            <a:ext cx="2651760" cy="365760"/>
          </a:xfrm>
          <a:prstGeom prst="rect">
            <a:avLst/>
          </a:prstGeom>
          <a:noFill/>
          <a:ln/>
        </p:spPr>
        <p:txBody>
          <a:bodyPr wrap="square" lIns="0" tIns="0" rIns="0" bIns="0" rtlCol="0" anchor="ctr"/>
          <a:lstStyle/>
          <a:p>
            <a:pPr indent="0" marL="0">
              <a:buNone/>
            </a:pPr>
            <a:r>
              <a:rPr lang="en-US" sz="1300" b="1" dirty="0">
                <a:solidFill>
                  <a:srgbClr val="D9963A"/>
                </a:solidFill>
                <a:latin typeface="Calibri" pitchFamily="34" charset="0"/>
                <a:ea typeface="Calibri" pitchFamily="34" charset="-122"/>
                <a:cs typeface="Calibri" pitchFamily="34" charset="-120"/>
              </a:rPr>
              <a:t>Where it departed, and why</a:t>
            </a:r>
            <a:endParaRPr lang="en-US" sz="1300" dirty="0"/>
          </a:p>
        </p:txBody>
      </p:sp>
      <p:sp>
        <p:nvSpPr>
          <p:cNvPr id="6" name="Text 4"/>
          <p:cNvSpPr txBox="1"/>
          <p:nvPr/>
        </p:nvSpPr>
        <p:spPr>
          <a:xfrm>
            <a:off x="3246120" y="1554480"/>
            <a:ext cx="2651760" cy="26517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A second retry trigger after scoring - a search can return 20 abstracts and 1 relevant paper</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A shared HTTP retry policy the design never mentioned - the services forced it</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previous_query kept on SubQuestion so the brief can show both queries</a:t>
            </a:r>
            <a:endParaRPr lang="en-US" sz="1150" dirty="0"/>
          </a:p>
        </p:txBody>
      </p:sp>
      <p:sp>
        <p:nvSpPr>
          <p:cNvPr id="7" name="Text 5"/>
          <p:cNvSpPr txBox="1"/>
          <p:nvPr/>
        </p:nvSpPr>
        <p:spPr>
          <a:xfrm>
            <a:off x="6035040" y="1143000"/>
            <a:ext cx="2651760" cy="365760"/>
          </a:xfrm>
          <a:prstGeom prst="rect">
            <a:avLst/>
          </a:prstGeom>
          <a:noFill/>
          <a:ln/>
        </p:spPr>
        <p:txBody>
          <a:bodyPr wrap="square" lIns="0" tIns="0" rIns="0" bIns="0" rtlCol="0" anchor="ctr"/>
          <a:lstStyle/>
          <a:p>
            <a:pPr indent="0" marL="0">
              <a:buNone/>
            </a:pPr>
            <a:r>
              <a:rPr lang="en-US" sz="1300" b="1" dirty="0">
                <a:solidFill>
                  <a:srgbClr val="D9963A"/>
                </a:solidFill>
                <a:latin typeface="Calibri" pitchFamily="34" charset="0"/>
                <a:ea typeface="Calibri" pitchFamily="34" charset="-122"/>
                <a:cs typeface="Calibri" pitchFamily="34" charset="-120"/>
              </a:rPr>
              <a:t>Limits and next steps</a:t>
            </a:r>
            <a:endParaRPr lang="en-US" sz="1300" dirty="0"/>
          </a:p>
        </p:txBody>
      </p:sp>
      <p:sp>
        <p:nvSpPr>
          <p:cNvPr id="8" name="Text 6"/>
          <p:cNvSpPr txBox="1"/>
          <p:nvPr/>
        </p:nvSpPr>
        <p:spPr>
          <a:xfrm>
            <a:off x="6035040" y="1554480"/>
            <a:ext cx="2651760" cy="26517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One source, abstracts only, 20 per query</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The Lite model keeps more papers (42 vs 26) - the cut-off may need tuning per model</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One retry lifted a thin sub-question from 1 to 3 papers, not 5</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Next: DataCite lookup, a second source, full-text where open</a:t>
            </a:r>
            <a:endParaRPr lang="en-US" sz="1150" dirty="0"/>
          </a:p>
        </p:txBody>
      </p:sp>
      <p:sp>
        <p:nvSpPr>
          <p:cNvPr id="9" name="Text 7"/>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100" dirty="0">
                <a:solidFill>
                  <a:srgbClr val="CFE0DD"/>
                </a:solidFill>
                <a:latin typeface="Courier New" pitchFamily="34" charset="0"/>
                <a:ea typeface="Courier New" pitchFamily="34" charset="-122"/>
                <a:cs typeface="Courier New" pitchFamily="34" charset="-120"/>
              </a:rPr>
              <a:t>github.com/sergio88mi/research-agent  ·  README covers setup, keys and how to run</a:t>
            </a:r>
            <a:endParaRPr lang="en-US" sz="1100" dirty="0"/>
          </a:p>
        </p:txBody>
      </p:sp>
      <p:sp>
        <p:nvSpPr>
          <p:cNvPr id="10" name="Text 8"/>
          <p:cNvSpPr txBox="1"/>
          <p:nvPr/>
        </p:nvSpPr>
        <p:spPr>
          <a:xfrm>
            <a:off x="8138160" y="4754880"/>
            <a:ext cx="640080" cy="274320"/>
          </a:xfrm>
          <a:prstGeom prst="rect">
            <a:avLst/>
          </a:prstGeom>
          <a:noFill/>
          <a:ln/>
        </p:spPr>
        <p:txBody>
          <a:bodyPr wrap="square" lIns="0" tIns="0" rIns="0" bIns="0" rtlCol="0" anchor="ctr"/>
          <a:lstStyle/>
          <a:p>
            <a:pPr algn="r" indent="0" marL="0">
              <a:buNone/>
            </a:pPr>
            <a:r>
              <a:rPr lang="en-US" sz="900" dirty="0">
                <a:solidFill>
                  <a:srgbClr val="CFE0DD"/>
                </a:solidFill>
                <a:latin typeface="Calibri" pitchFamily="34" charset="0"/>
                <a:ea typeface="Calibri" pitchFamily="34" charset="-122"/>
                <a:cs typeface="Calibri" pitchFamily="34" charset="-120"/>
              </a:rPr>
              <a:t>10 /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Agent - an LLM-powered planning agent for academic literature search</dc:title>
  <dc:subject/>
  <dc:creator>Sergei Misjura</dc:creator>
  <cp:lastModifiedBy>Sergei Misjura</cp:lastModifiedBy>
  <cp:revision>1</cp:revision>
  <dcterms:created xsi:type="dcterms:W3CDTF">2026-09-29T12:30:24Z</dcterms:created>
  <dcterms:modified xsi:type="dcterms:W3CDTF">2026-09-29T12:30:24Z</dcterms:modified>
</cp:coreProperties>
</file>