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and thanks for watching. This is my individual project for the Intelligent Agents module. Earlier in the module our group designed a research agent on paper. My job here was to build it, test it, and then, once that design had been marked, act on the feedback. The system takes a research question and turns it into an evidence brief that a researcher can check line by line. In this presentation I'll cover what the design asked for, how I built it, a real run, the testing, what went wrong, what I changed after the tutor's feedback, and where it still falls short. The code, the tests, the logs and the README are all in the GitHub repository on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starting point was our Group D design proposal. The design pinned down a lot before any code existed: three specialised agents and a coordinator that is deliberately not an agent; two human reviews; every DOI checked against Crossref; one automatic retry per sub-question and one scope revision per run; and a brief that has to say what it could not cover.</a:t>
            </a:r>
          </a:p>
          <a:p/>
          <a:p>
            <a:r>
              <a:t>All of that comes from one fear. Ask a language model for literature and it will give you plausible papers that don't exist - Walters and Wilder measured exactly that for ChatGPT in 2023. So in this system the model never writes a reference. It turns questions into search queries, scores relevance, summarises abstracts and draws themes from those summaries - nothing more. Anything with an exact answer - de-duplication, DOI checks, the reference list - is plain code.</a:t>
            </a:r>
          </a:p>
          <a:p/>
          <a:p>
            <a:r>
              <a:t>My task was to build that, test it, and show it working. The feedback on the design reached me at the end of September, with three points: justify the choice of model, set measurable quality targets, and use more than one literature source with automatic failover.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follows the class diagram from our proposal. The researcher talks to one boundary class for both reviews. Behind it, the orchestrator runs the steps in a fixed order, enforces the limits, and does the exact work itself. The Planning Agent uses the language model to turn the question into sub-questions and queries, and to rewrite a query when a search comes up short. The Retrieval Agent has no model at all: it searches two sources, OpenAlex and Semantic Scholar, for every sub-question, merges what comes back, and decides, by counting, whether it got enough usable records. The Evaluation and Synthesis Agent uses the model for judgement: scoring each paper's relevance with a reason, and later writing notes, themes and gaps from whatever was approved.</a:t>
            </a:r>
          </a:p>
          <a:p/>
          <a:p>
            <a:r>
              <a:t>Two choices here rest on the literature. Each agent has one goal of its own, the goal-directed behaviour Wooldridge and Jennings ask of an agent, and the split into roles follows the Gaia method. To be exact, only the Retrieval Agent checks its own goal; the plan is judged by the researcher, and the number of relevant papers by the orchestrator. And there is one coordinator on purpose: Kim and colleagues reported this year that designs without central verification pass errors on more strongly.</a:t>
            </a:r>
          </a:p>
          <a:p/>
          <a:p>
            <a:r>
              <a:t>Every model reply is checked against a schema, repaired once if needed, or the run stops. The numbers on the right are the limits the agents work within: the first three come from the design, the relevance cut-off was chosen during the build, and all four live in one configuration 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run starts with one command: python main dot py, and the question. The question is planned into three to five sub-questions with search queries, and that plan goes to the researcher at Review 1: approve, or say what to change. Each sub-question is then searched on both sources, twenty records from each. The results are merged and de-duplicated by DOI, every DOI is looked up in Crossref, and each paper is scored one to five from its abstract, with a reason. Review 2 shows every paper that reached the cut-off and offers three choices: approve, drop papers by number, or reject the scope and go back to planning. After approval the agent writes a note per paper, then themes and gaps, and the orchestrator adds limitations computed from the run and a reference list built from the records.</a:t>
            </a:r>
          </a:p>
          <a:p/>
          <a:p>
            <a:r>
              <a:t>If a search falls short - too few usable records, or too few relevant papers after scoring - the Planning Agent rewrites the query once, and only once. And if a source fails after its retries, the Retrieval Agent skips it for that query and tries it again on the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first review point, on the question 'What approaches reduce hallucination in LLM-based autonomous agents'. The screenshot is from the fifteenth of September, on the full Flash model: an interpretation and four sub-questions, each with a query. Nothing has been searched at this point, so the plan can be revised as often as needed; each revision is one more model request.</a:t>
            </a:r>
          </a:p>
          <a:p/>
          <a:p>
            <a:r>
              <a:t>When I moved to the Lite model, the same question produced a different plan, the one in the first box, and the run of the thirtieth on the next two slides used it. Two models, two plans for one question: that is why a person approves the plan.</a:t>
            </a:r>
          </a:p>
          <a:p/>
          <a:p>
            <a:r>
              <a:t>It was on that Lite plan that I tested a revision. I asked to merge sub-questions three and four into one about evaluation, and the next plan came back with exactly three, one of them on evaluation. Reading the code again on the first of October, I found that the revision prompt had never contained the plan it was revising. The model had followed my words, not the numbers: the old third sub-question, on self-correction and memory, was simply gone. The plan now travels with the feedback. On the second of October I ran the same request again: this time the first two sub-questions came back word for word, and the third and fourth were combined into one, on self-correction and evaluation. Only the memory part was lost.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run of the thirtieth of September, after the second source was added. Each sub-question went to both sources. OpenAlex answered all five searches, a hundred records. Semantic Scholar, used without a key, refused three of the five with 'too many requests'. Each time, after four retries, the Retrieval Agent logged the failure and carried on with OpenAlex. That is the failover the feedback asked for: the run didn't die, and the brief says how many searches each source answered.</a:t>
            </a:r>
          </a:p>
          <a:p/>
          <a:p>
            <a:r>
              <a:t>A hundred and forty records came back; a hundred and seventeen were unique. Seventy-eight DOIs were found in Crossref; the rest are mostly arXiv preprints, which register with DataCite instead, so they're flagged but kept. Every paper was then scored with a reason, and seventy-seven reached the cut-off.</a:t>
            </a:r>
          </a:p>
          <a:p/>
          <a:p>
            <a:r>
              <a:t>The code at the top is the part of the orchestrator that decides on a retry. There are two checks: the Retrieval Agent's own count of usable records, and, after scoring, a count of the relevant ones. The comment says why the second exists: a search can return plenty of abstracts of which only one answers the question. Both checks share a single retry.</a:t>
            </a:r>
          </a:p>
          <a:p/>
          <a:p>
            <a:r>
              <a:t>The lower panel is that retry doing its job. Sub-question 4, on evaluation, produced eight new records with only two relevant. The orchestrator asked for one reformulation. This time both sources answered the new query: thirty-three new records, twenty of them relevant, so that sub-question finished with twenty-two papers instead of two. A week earlier, with one source and the same plan and model, the same retry had taken it from two papers to six.</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2 lists every paper that passed, grouped and numbered, with score and reason. In the functional tests I tried all three choices - approve, drop, reject; a second reject was refused because that budget was used.</a:t>
            </a:r>
          </a:p>
          <a:p/>
          <a:p>
            <a:r>
              <a:t>After approval the seventy-seven papers were summarised in ten batches, and the themes and gaps took one more call. The note for paper seventy-six describes a practitioner audit built on forty-five recorded incidents; I checked, and that figure is in the paper's abstract - and that paper came from Semantic Scholar only, so the single-source system would never have seen it. Each theme cites paper numbers, and the schema rejects a theme that cites a number not in the list. The limitations are computed by the orchestrator, not written by the model, and they include what each source contributed. The reference list comes straight from the records' metadata. The model cites papers by number; it never writes a reference.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Testing happened at three levels. A hundred and thirteen unit tests run without any network; they cover every agent and every check, and the slide lists them. Sixteen functional tests were run live, each with its steps, the expected result and what actually happened. Eleven were run during development, from a missing API key to the two-source run with real failover; five more on the second of October, on the submitted code. All sixteen pass, two with a qualification: the early plan revision, as I said, and the constraint test, which showed that a constraint steers the search but does not filter the results. And a remediation log with twenty-one entries records every problem I hit, its cause, the change, and how it was checked.</a:t>
            </a:r>
          </a:p>
          <a:p/>
          <a:p>
            <a:r>
              <a:t>The feedback also asked for clear targets and the dataset to test them on. The README now states them: precision of at least zero point eight at the cut-off and recall of at least zero point six, measured on a gold set - the hundred and twenty or so records of this question judged by two people, and the studies included in a published review. That set has not been built, so I claim no result for either. Citation accuracy holds by construction, because a fabricated citation cannot reach the brief. De-duplication misses its target: four papers appear twice under different DOIs. And the proposal planned a varied set of test questions. For nearly all of the work I used one; on the last day I ran three others - telemedicine, food waste in retail, and a deliberately vague one. Each produced a complete brief, but no person has judged those briefs. For the telemedicine run I did get a second opinion: the full Gemini Flash model judged all sixty-five papers from the same titles and abstracts, without seeing the agent's scores. Of the thirty-five kept papers it answered clearly on, it would keep twenty-seven; across all its clear answers, kappa was zero point six five. Every kept paper it would not keep sat exactly at the cut-off. That is agreement between two models, not precision.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of the problems on this slide came from outside the code. The very first Gemini call returned a 404: the model I had configured had been retired by the provider. The name was in configuration, so the fix was a change of setting. Then runs died on a 503 and on a read timeout; that produced the retry for transient errors, while a wrong request still fails at once. Then came 429s: the free tier for that model allows twenty requests a day, retries included. The client now stops at once on a daily quota, and I switched to a Flash-Lite model with five hundred a day - again only a setting. On the twenty-third OpenAlex started refusing requests - keyless use is now capped - so a free key went into configuration and the retry logic into one shared policy for the scholarly APIs.</a:t>
            </a:r>
          </a:p>
          <a:p/>
          <a:p>
            <a:r>
              <a:t>None of this needed a rewrite: the settings sit in one module and each service behind one small client. The commit history starts on the ninth of September, roughly one commit per stage. The last ten entries in the log are of a different kind. On the first of October I read the code and the documents against each other and found a rejected model reply being kept in the cache, a title check that could not fail for titles in other scripts, the revision prompt I mentioned, and an error message that could have written an API key into the log. Those are fixed and unit-tested. The run of the thirtieth, replayed offline from the saved replies, produced the same papers, scores, notes and themes, and the five live tests of the second of October ran on the corrected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finish, a comparison with the design. Where it matters, the implementation matches the design: the agents, the orchestrator, both reviews, both limits, the Crossref check and the brief. The README lists every departure; these are the main ones. The proposal put Semantic Scholar first with OpenAlex as the fallback, and I built on OpenAlex alone until the last stage, because it needed no key when I started. Checking and scoring run one sub-question at a time, with a second retry trigger after scoring. Crossref compares the title, not all the metadata. And a second scope rejection is refused instead of stopping the run.</a:t>
            </a:r>
          </a:p>
          <a:p/>
          <a:p>
            <a:r>
              <a:t>The feedback had three points, and each has an answer. The model choice is now justified with the provider's own figures - context size against the size of my prompts, structured output, free-tier quota, price and benchmarks - with two caveats: function calling is not used at all, because the orchestrator calls the tools, and no benchmark measures abstract screening. The targets and their datasets are stated, as I said. And the third point was built: two sources for every search, failover between them, seventy-seven unique papers becoming a hundred and seventeen on the same plan and model.</a:t>
            </a:r>
          </a:p>
          <a:p/>
          <a:p>
            <a:r>
              <a:t>The limits: abstracts only, twenty per query per source. Without a key, Semantic Scholar refused every live search on the second of October, so the new searches of those runs rested on OpenAlex alone. The Lite model kept forty-two of seventy-seven papers where the full Flash model kept twenty-six of seventy-eight - each on its own plan - and the second opinion disagreed only around the cut-off, so the cut-off needs calibrating per model. One professional point: on the free tier the provider may use prompts to improve its products, so a confidential question needs a paid key. Next would be a DataCite lookup for the preprints, the gold set, and full text where it is open. Everything is in the repository; the references are in the README and the transcript. 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3D"/>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Research Agent</a:t>
            </a:r>
            <a:endParaRPr lang="en-US" sz="4400" dirty="0"/>
          </a:p>
        </p:txBody>
      </p:sp>
      <p:sp>
        <p:nvSpPr>
          <p:cNvPr id="3" name="Text 1"/>
          <p:cNvSpPr txBox="1"/>
          <p:nvPr/>
        </p:nvSpPr>
        <p:spPr>
          <a:xfrm>
            <a:off x="640080" y="1965960"/>
            <a:ext cx="7863840" cy="548640"/>
          </a:xfrm>
          <a:prstGeom prst="rect">
            <a:avLst/>
          </a:prstGeom>
          <a:noFill/>
          <a:ln/>
        </p:spPr>
        <p:txBody>
          <a:bodyPr wrap="square" lIns="0" tIns="0" rIns="0" bIns="0" rtlCol="0" anchor="ctr"/>
          <a:lstStyle/>
          <a:p>
            <a:pPr indent="0" marL="0">
              <a:buNone/>
            </a:pPr>
            <a:r>
              <a:rPr lang="en-US" sz="2000" dirty="0">
                <a:solidFill>
                  <a:srgbClr val="CFE0DD"/>
                </a:solidFill>
                <a:latin typeface="Calibri" pitchFamily="34" charset="0"/>
                <a:ea typeface="Calibri" pitchFamily="34" charset="-122"/>
                <a:cs typeface="Calibri" pitchFamily="34" charset="-120"/>
              </a:rPr>
              <a:t>An LLM-powered planning agent for academic literature search</a:t>
            </a:r>
            <a:endParaRPr lang="en-US" sz="2000" dirty="0"/>
          </a:p>
        </p:txBody>
      </p:sp>
      <p:sp>
        <p:nvSpPr>
          <p:cNvPr id="4" name="Text 2"/>
          <p:cNvSpPr txBox="1"/>
          <p:nvPr/>
        </p:nvSpPr>
        <p:spPr>
          <a:xfrm>
            <a:off x="640080" y="2880360"/>
            <a:ext cx="7863840" cy="320040"/>
          </a:xfrm>
          <a:prstGeom prst="rect">
            <a:avLst/>
          </a:prstGeom>
          <a:noFill/>
          <a:ln/>
        </p:spPr>
        <p:txBody>
          <a:bodyPr wrap="square" lIns="0" tIns="0" rIns="0" bIns="0" rtlCol="0" anchor="ctr"/>
          <a:lstStyle/>
          <a:p>
            <a:pPr indent="0" marL="0">
              <a:buNone/>
            </a:pPr>
            <a:r>
              <a:rPr lang="en-US" sz="1400" dirty="0">
                <a:solidFill>
                  <a:srgbClr val="D9963A"/>
                </a:solidFill>
                <a:latin typeface="Calibri" pitchFamily="34" charset="0"/>
                <a:ea typeface="Calibri" pitchFamily="34" charset="-122"/>
                <a:cs typeface="Calibri" pitchFamily="34" charset="-120"/>
              </a:rPr>
              <a:t>Individual project presentation</a:t>
            </a:r>
            <a:endParaRPr lang="en-US" sz="1400" dirty="0"/>
          </a:p>
        </p:txBody>
      </p:sp>
      <p:sp>
        <p:nvSpPr>
          <p:cNvPr id="5" name="Text 3"/>
          <p:cNvSpPr txBox="1"/>
          <p:nvPr/>
        </p:nvSpPr>
        <p:spPr>
          <a:xfrm>
            <a:off x="640080" y="3200400"/>
            <a:ext cx="786384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Intelligent Agents (PCOM7E), University of Essex Online  ·  October 2026</a:t>
            </a:r>
            <a:endParaRPr lang="en-US" sz="1300" dirty="0"/>
          </a:p>
        </p:txBody>
      </p:sp>
      <p:sp>
        <p:nvSpPr>
          <p:cNvPr id="6" name="Text 4"/>
          <p:cNvSpPr txBox="1"/>
          <p:nvPr/>
        </p:nvSpPr>
        <p:spPr>
          <a:xfrm>
            <a:off x="640080" y="4114800"/>
            <a:ext cx="7863840" cy="320040"/>
          </a:xfrm>
          <a:prstGeom prst="rect">
            <a:avLst/>
          </a:prstGeom>
          <a:noFill/>
          <a:ln/>
        </p:spPr>
        <p:txBody>
          <a:bodyPr wrap="square" lIns="0" tIns="0" rIns="0" bIns="0" rtlCol="0" anchor="ctr"/>
          <a:lstStyle/>
          <a:p>
            <a:pPr indent="0" marL="0">
              <a:buNone/>
            </a:pPr>
            <a:r>
              <a:rPr lang="en-US" sz="1300" dirty="0">
                <a:solidFill>
                  <a:srgbClr val="CFE0DD"/>
                </a:solidFill>
                <a:latin typeface="Courier New" pitchFamily="34" charset="0"/>
                <a:ea typeface="Courier New" pitchFamily="34" charset="-122"/>
                <a:cs typeface="Courier New" pitchFamily="34" charset="-120"/>
              </a:rPr>
              <a:t>github.com/sergio88mi/research-agent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The brief, and the design I was implementing</a:t>
            </a:r>
            <a:endParaRPr lang="en-US" sz="3000" dirty="0"/>
          </a:p>
        </p:txBody>
      </p:sp>
      <p:sp>
        <p:nvSpPr>
          <p:cNvPr id="3" name="Shape 1"/>
          <p:cNvSpPr/>
          <p:nvPr/>
        </p:nvSpPr>
        <p:spPr>
          <a:xfrm>
            <a:off x="457200" y="1234440"/>
            <a:ext cx="2103120" cy="548640"/>
          </a:xfrm>
          <a:prstGeom prst="roundRect">
            <a:avLst>
              <a:gd name="adj" fmla="val 10000"/>
            </a:avLst>
          </a:prstGeom>
          <a:solidFill>
            <a:srgbClr val="1F3A3D"/>
          </a:solidFill>
          <a:ln w="12700">
            <a:solidFill>
              <a:srgbClr val="1F3A3D"/>
            </a:solidFill>
            <a:prstDash val="solid"/>
          </a:ln>
        </p:spPr>
        <p:txBody>
          <a:bodyPr/>
          <a:p/>
        </p:txBody>
      </p:sp>
      <p:sp>
        <p:nvSpPr>
          <p:cNvPr id="4" name="Text 2"/>
          <p:cNvSpPr txBox="1"/>
          <p:nvPr/>
        </p:nvSpPr>
        <p:spPr>
          <a:xfrm>
            <a:off x="457200" y="1234440"/>
            <a:ext cx="2103120" cy="54864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 research question</a:t>
            </a:r>
            <a:endParaRPr lang="en-US" sz="1200" dirty="0"/>
          </a:p>
        </p:txBody>
      </p:sp>
      <p:sp>
        <p:nvSpPr>
          <p:cNvPr id="5" name="Shape 3"/>
          <p:cNvSpPr/>
          <p:nvPr/>
        </p:nvSpPr>
        <p:spPr>
          <a:xfrm>
            <a:off x="2651760" y="1408176"/>
            <a:ext cx="457200" cy="201168"/>
          </a:xfrm>
          <a:prstGeom prst="rightArrow">
            <a:avLst/>
          </a:prstGeom>
          <a:solidFill>
            <a:srgbClr val="B7C4C3"/>
          </a:solidFill>
          <a:ln w="12700">
            <a:solidFill>
              <a:srgbClr val="B7C4C3"/>
            </a:solidFill>
            <a:prstDash val="solid"/>
          </a:ln>
        </p:spPr>
        <p:txBody>
          <a:bodyPr/>
          <a:p/>
        </p:txBody>
      </p:sp>
      <p:sp>
        <p:nvSpPr>
          <p:cNvPr id="6" name="Shape 4"/>
          <p:cNvSpPr/>
          <p:nvPr/>
        </p:nvSpPr>
        <p:spPr>
          <a:xfrm>
            <a:off x="3200400" y="1234440"/>
            <a:ext cx="2103120" cy="548640"/>
          </a:xfrm>
          <a:prstGeom prst="roundRect">
            <a:avLst>
              <a:gd name="adj" fmla="val 10000"/>
            </a:avLst>
          </a:prstGeom>
          <a:solidFill>
            <a:srgbClr val="3E6366"/>
          </a:solidFill>
          <a:ln w="12700">
            <a:solidFill>
              <a:srgbClr val="3E6366"/>
            </a:solidFill>
            <a:prstDash val="solid"/>
          </a:ln>
        </p:spPr>
        <p:txBody>
          <a:bodyPr/>
          <a:p/>
        </p:txBody>
      </p:sp>
      <p:sp>
        <p:nvSpPr>
          <p:cNvPr id="7" name="Text 5"/>
          <p:cNvSpPr txBox="1"/>
          <p:nvPr/>
        </p:nvSpPr>
        <p:spPr>
          <a:xfrm>
            <a:off x="3200400" y="1234440"/>
            <a:ext cx="2103120" cy="54864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3-5 sub-questions</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 search queries</a:t>
            </a:r>
            <a:endParaRPr lang="en-US" sz="1200" dirty="0"/>
          </a:p>
        </p:txBody>
      </p:sp>
      <p:sp>
        <p:nvSpPr>
          <p:cNvPr id="8" name="Shape 6"/>
          <p:cNvSpPr/>
          <p:nvPr/>
        </p:nvSpPr>
        <p:spPr>
          <a:xfrm>
            <a:off x="5394960" y="1408176"/>
            <a:ext cx="457200" cy="201168"/>
          </a:xfrm>
          <a:prstGeom prst="rightArrow">
            <a:avLst/>
          </a:prstGeom>
          <a:solidFill>
            <a:srgbClr val="B7C4C3"/>
          </a:solidFill>
          <a:ln w="12700">
            <a:solidFill>
              <a:srgbClr val="B7C4C3"/>
            </a:solidFill>
            <a:prstDash val="solid"/>
          </a:ln>
        </p:spPr>
        <p:txBody>
          <a:bodyPr/>
          <a:p/>
        </p:txBody>
      </p:sp>
      <p:sp>
        <p:nvSpPr>
          <p:cNvPr id="9" name="Shape 7"/>
          <p:cNvSpPr/>
          <p:nvPr/>
        </p:nvSpPr>
        <p:spPr>
          <a:xfrm>
            <a:off x="5943600" y="1234440"/>
            <a:ext cx="2103120" cy="548640"/>
          </a:xfrm>
          <a:prstGeom prst="roundRect">
            <a:avLst>
              <a:gd name="adj" fmla="val 10000"/>
            </a:avLst>
          </a:prstGeom>
          <a:solidFill>
            <a:srgbClr val="D9963A"/>
          </a:solidFill>
          <a:ln w="12700">
            <a:solidFill>
              <a:srgbClr val="D9963A"/>
            </a:solidFill>
            <a:prstDash val="solid"/>
          </a:ln>
        </p:spPr>
        <p:txBody>
          <a:bodyPr/>
          <a:p/>
        </p:txBody>
      </p:sp>
      <p:sp>
        <p:nvSpPr>
          <p:cNvPr id="10" name="Text 8"/>
          <p:cNvSpPr txBox="1"/>
          <p:nvPr/>
        </p:nvSpPr>
        <p:spPr>
          <a:xfrm>
            <a:off x="5943600" y="1234440"/>
            <a:ext cx="2103120" cy="548640"/>
          </a:xfrm>
          <a:prstGeom prst="rect">
            <a:avLst/>
          </a:prstGeom>
          <a:noFill/>
          <a:ln/>
        </p:spPr>
        <p:txBody>
          <a:bodyPr wrap="square" lIns="508" tIns="508" rIns="508" bIns="508" rtlCol="0" anchor="ctr"/>
          <a:lstStyle/>
          <a:p>
            <a:pPr algn="ctr" indent="0" marL="0">
              <a:buNone/>
            </a:pPr>
            <a:r>
              <a:rPr lang="en-US" sz="1200" b="1" dirty="0">
                <a:solidFill>
                  <a:srgbClr val="1F3A3D"/>
                </a:solidFill>
                <a:latin typeface="Calibri" pitchFamily="34" charset="0"/>
                <a:ea typeface="Calibri" pitchFamily="34" charset="-122"/>
                <a:cs typeface="Calibri" pitchFamily="34" charset="-120"/>
              </a:rPr>
              <a:t>A traceable</a:t>
            </a:r>
            <a:endParaRPr lang="en-US" sz="1200" dirty="0"/>
          </a:p>
          <a:p>
            <a:pPr algn="ctr" indent="0" marL="0">
              <a:buNone/>
            </a:pPr>
            <a:r>
              <a:rPr lang="en-US" sz="1200" b="1" dirty="0">
                <a:solidFill>
                  <a:srgbClr val="1F3A3D"/>
                </a:solidFill>
                <a:latin typeface="Calibri" pitchFamily="34" charset="0"/>
                <a:ea typeface="Calibri" pitchFamily="34" charset="-122"/>
                <a:cs typeface="Calibri" pitchFamily="34" charset="-120"/>
              </a:rPr>
              <a:t>evidence brief</a:t>
            </a:r>
            <a:endParaRPr lang="en-US" sz="1200" dirty="0"/>
          </a:p>
        </p:txBody>
      </p:sp>
      <p:sp>
        <p:nvSpPr>
          <p:cNvPr id="11" name="Text 9"/>
          <p:cNvSpPr txBox="1"/>
          <p:nvPr/>
        </p:nvSpPr>
        <p:spPr>
          <a:xfrm>
            <a:off x="457200" y="1965960"/>
            <a:ext cx="7772400" cy="274320"/>
          </a:xfrm>
          <a:prstGeom prst="rect">
            <a:avLst/>
          </a:prstGeom>
          <a:noFill/>
          <a:ln/>
        </p:spPr>
        <p:txBody>
          <a:bodyPr wrap="square" lIns="0" tIns="0" rIns="0" bIns="0" rtlCol="0" anchor="t"/>
          <a:lstStyle/>
          <a:p>
            <a:pPr indent="0" marL="0">
              <a:buNone/>
            </a:pPr>
            <a:r>
              <a:rPr lang="en-US" sz="1100" i="1" dirty="0">
                <a:solidFill>
                  <a:srgbClr val="5F6F70"/>
                </a:solidFill>
                <a:latin typeface="Calibri" pitchFamily="34" charset="0"/>
                <a:ea typeface="Calibri" pitchFamily="34" charset="-122"/>
                <a:cs typeface="Calibri" pitchFamily="34" charset="-120"/>
              </a:rPr>
              <a:t>From the Group D design proposal (Group D, 2026)  -  full references in the README and the transcript</a:t>
            </a:r>
            <a:endParaRPr lang="en-US" sz="1100" dirty="0"/>
          </a:p>
        </p:txBody>
      </p:sp>
      <p:sp>
        <p:nvSpPr>
          <p:cNvPr id="12" name="Shape 10"/>
          <p:cNvSpPr/>
          <p:nvPr/>
        </p:nvSpPr>
        <p:spPr>
          <a:xfrm>
            <a:off x="457200" y="2331720"/>
            <a:ext cx="3749040" cy="2377440"/>
          </a:xfrm>
          <a:prstGeom prst="roundRect">
            <a:avLst>
              <a:gd name="adj" fmla="val 3077"/>
            </a:avLst>
          </a:prstGeom>
          <a:solidFill>
            <a:srgbClr val="F7F9F9"/>
          </a:solidFill>
          <a:ln w="9525">
            <a:solidFill>
              <a:srgbClr val="DDE4E3"/>
            </a:solidFill>
            <a:prstDash val="solid"/>
          </a:ln>
        </p:spPr>
        <p:txBody>
          <a:bodyPr/>
          <a:p/>
        </p:txBody>
      </p:sp>
      <p:sp>
        <p:nvSpPr>
          <p:cNvPr id="13" name="Text 11"/>
          <p:cNvSpPr txBox="1"/>
          <p:nvPr/>
        </p:nvSpPr>
        <p:spPr>
          <a:xfrm>
            <a:off x="640080" y="2423160"/>
            <a:ext cx="3474720" cy="274320"/>
          </a:xfrm>
          <a:prstGeom prst="rect">
            <a:avLst/>
          </a:prstGeom>
          <a:noFill/>
          <a:ln/>
        </p:spPr>
        <p:txBody>
          <a:bodyPr wrap="square" lIns="0" tIns="0" rIns="0" bIns="0" rtlCol="0" anchor="t"/>
          <a:lstStyle/>
          <a:p>
            <a:pPr indent="0" marL="0">
              <a:buNone/>
            </a:pPr>
            <a:r>
              <a:rPr lang="en-US" sz="1300" b="1" dirty="0">
                <a:solidFill>
                  <a:srgbClr val="1F3A3D"/>
                </a:solidFill>
                <a:latin typeface="Calibri" pitchFamily="34" charset="0"/>
                <a:ea typeface="Calibri" pitchFamily="34" charset="-122"/>
                <a:cs typeface="Calibri" pitchFamily="34" charset="-120"/>
              </a:rPr>
              <a:t>What the design fixed in advance</a:t>
            </a:r>
            <a:endParaRPr lang="en-US" sz="1300" dirty="0"/>
          </a:p>
        </p:txBody>
      </p:sp>
      <p:sp>
        <p:nvSpPr>
          <p:cNvPr id="14" name="Text 12"/>
          <p:cNvSpPr txBox="1"/>
          <p:nvPr/>
        </p:nvSpPr>
        <p:spPr>
          <a:xfrm>
            <a:off x="640080" y="2724912"/>
            <a:ext cx="3474720" cy="19202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Three specialised agents and a deterministic coordinator (Hong et al., 2024; Kim et al., 2026)</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Two human review points: the plan, then the evidence (Zhu et al., 2026)</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Every DOI checked against Crossref before it can be cited (Walters and Wilder, 2023)</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Bounded autonomy: one query retry per sub-question, one scope revision per run</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The brief must say what it could not cover</a:t>
            </a:r>
            <a:endParaRPr lang="en-US" sz="1100" dirty="0"/>
          </a:p>
        </p:txBody>
      </p:sp>
      <p:sp>
        <p:nvSpPr>
          <p:cNvPr id="15" name="Shape 13"/>
          <p:cNvSpPr/>
          <p:nvPr/>
        </p:nvSpPr>
        <p:spPr>
          <a:xfrm>
            <a:off x="4480560" y="2331720"/>
            <a:ext cx="4206240" cy="2377440"/>
          </a:xfrm>
          <a:prstGeom prst="roundRect">
            <a:avLst>
              <a:gd name="adj" fmla="val 3077"/>
            </a:avLst>
          </a:prstGeom>
          <a:solidFill>
            <a:srgbClr val="F7F9F9"/>
          </a:solidFill>
          <a:ln w="9525">
            <a:solidFill>
              <a:srgbClr val="DDE4E3"/>
            </a:solidFill>
            <a:prstDash val="solid"/>
          </a:ln>
        </p:spPr>
        <p:txBody>
          <a:bodyPr/>
          <a:p/>
        </p:txBody>
      </p:sp>
      <p:sp>
        <p:nvSpPr>
          <p:cNvPr id="16" name="Text 14"/>
          <p:cNvSpPr txBox="1"/>
          <p:nvPr/>
        </p:nvSpPr>
        <p:spPr>
          <a:xfrm>
            <a:off x="4663440" y="2423160"/>
            <a:ext cx="3840480" cy="274320"/>
          </a:xfrm>
          <a:prstGeom prst="rect">
            <a:avLst/>
          </a:prstGeom>
          <a:noFill/>
          <a:ln/>
        </p:spPr>
        <p:txBody>
          <a:bodyPr wrap="square" lIns="0" tIns="0" rIns="0" bIns="0" rtlCol="0" anchor="t"/>
          <a:lstStyle/>
          <a:p>
            <a:pPr indent="0" marL="0">
              <a:buNone/>
            </a:pPr>
            <a:r>
              <a:rPr lang="en-US" sz="1300" b="1" dirty="0">
                <a:solidFill>
                  <a:srgbClr val="1F3A3D"/>
                </a:solidFill>
                <a:latin typeface="Calibri" pitchFamily="34" charset="0"/>
                <a:ea typeface="Calibri" pitchFamily="34" charset="-122"/>
                <a:cs typeface="Calibri" pitchFamily="34" charset="-120"/>
              </a:rPr>
              <a:t>The failure it was designed against</a:t>
            </a:r>
            <a:endParaRPr lang="en-US" sz="1300" dirty="0"/>
          </a:p>
        </p:txBody>
      </p:sp>
      <p:sp>
        <p:nvSpPr>
          <p:cNvPr id="17" name="Text 15"/>
          <p:cNvSpPr txBox="1"/>
          <p:nvPr/>
        </p:nvSpPr>
        <p:spPr>
          <a:xfrm>
            <a:off x="4663440" y="2724912"/>
            <a:ext cx="3840480" cy="1188720"/>
          </a:xfrm>
          <a:prstGeom prst="rect">
            <a:avLst/>
          </a:prstGeom>
          <a:noFill/>
          <a:ln/>
        </p:spPr>
        <p:txBody>
          <a:bodyPr wrap="square" lIns="0" tIns="0" rIns="0" bIns="0" rtlCol="0" anchor="t"/>
          <a:lstStyle/>
          <a:p>
            <a:pPr indent="0" marL="0">
              <a:buNone/>
            </a:pPr>
            <a:r>
              <a:rPr lang="en-US" sz="1150" dirty="0">
                <a:solidFill>
                  <a:srgbClr val="1F3A3D"/>
                </a:solidFill>
                <a:latin typeface="Calibri" pitchFamily="34" charset="0"/>
                <a:ea typeface="Calibri" pitchFamily="34" charset="-122"/>
                <a:cs typeface="Calibri" pitchFamily="34" charset="-120"/>
              </a:rPr>
              <a:t>A language model asked for literature will produce plausible papers that do not exist. So the model never writes a reference: it only plans queries, scores and summarises. Everything with an exact answer - de-duplication, DOI checks, the reference list - is ordinary code.</a:t>
            </a:r>
            <a:pPr indent="0" marL="0">
              <a:buNone/>
            </a:pPr>
            <a:pPr indent="0" marL="0">
              <a:buNone/>
            </a:pPr>
            <a:endParaRPr lang="en-US" sz="1150" dirty="0"/>
          </a:p>
        </p:txBody>
      </p:sp>
      <p:sp>
        <p:nvSpPr>
          <p:cNvPr id="18" name="Text 16"/>
          <p:cNvSpPr txBox="1"/>
          <p:nvPr/>
        </p:nvSpPr>
        <p:spPr>
          <a:xfrm>
            <a:off x="4663440" y="3931920"/>
            <a:ext cx="3840480" cy="685800"/>
          </a:xfrm>
          <a:prstGeom prst="rect">
            <a:avLst/>
          </a:prstGeom>
          <a:noFill/>
          <a:ln/>
        </p:spPr>
        <p:txBody>
          <a:bodyPr wrap="square" lIns="0" tIns="0" rIns="0" bIns="0" rtlCol="0" anchor="t"/>
          <a:lstStyle/>
          <a:p>
            <a:pPr indent="0" marL="0">
              <a:buNone/>
            </a:pPr>
            <a:r>
              <a:rPr lang="en-US" sz="1150" i="1" dirty="0">
                <a:solidFill>
                  <a:srgbClr val="8A5A17"/>
                </a:solidFill>
                <a:latin typeface="Calibri" pitchFamily="34" charset="0"/>
                <a:ea typeface="Calibri" pitchFamily="34" charset="-122"/>
                <a:cs typeface="Calibri" pitchFamily="34" charset="-120"/>
              </a:rPr>
              <a:t>My task: build the proposed system on my own, test it, show it running - and, once the feedback on the design arrived (read 29 Sept), act on its three points.</a:t>
            </a:r>
            <a:endParaRPr lang="en-US" sz="1150" dirty="0"/>
          </a:p>
        </p:txBody>
      </p:sp>
      <p:sp>
        <p:nvSpPr>
          <p:cNvPr id="19" name="Text 17"/>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Architecture: three agents, one coordinator</a:t>
            </a:r>
            <a:endParaRPr lang="en-US" sz="3000" dirty="0"/>
          </a:p>
        </p:txBody>
      </p:sp>
      <p:sp>
        <p:nvSpPr>
          <p:cNvPr id="3" name="Shape 1"/>
          <p:cNvSpPr/>
          <p:nvPr/>
        </p:nvSpPr>
        <p:spPr>
          <a:xfrm>
            <a:off x="457200" y="1234440"/>
            <a:ext cx="2011680" cy="685800"/>
          </a:xfrm>
          <a:prstGeom prst="roundRect">
            <a:avLst>
              <a:gd name="adj" fmla="val 8000"/>
            </a:avLst>
          </a:prstGeom>
          <a:solidFill>
            <a:srgbClr val="3E6366"/>
          </a:solidFill>
          <a:ln w="12700">
            <a:solidFill>
              <a:srgbClr val="3E6366"/>
            </a:solidFill>
            <a:prstDash val="solid"/>
          </a:ln>
        </p:spPr>
        <p:txBody>
          <a:bodyPr/>
          <a:p/>
        </p:txBody>
      </p:sp>
      <p:sp>
        <p:nvSpPr>
          <p:cNvPr id="4" name="Text 2"/>
          <p:cNvSpPr txBox="1"/>
          <p:nvPr/>
        </p:nvSpPr>
        <p:spPr>
          <a:xfrm>
            <a:off x="457200" y="1234440"/>
            <a:ext cx="2011680" cy="68580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Researcher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(boundary: the two reviews)</a:t>
            </a:r>
            <a:endParaRPr lang="en-US" sz="1200" dirty="0"/>
          </a:p>
        </p:txBody>
      </p:sp>
      <p:sp>
        <p:nvSpPr>
          <p:cNvPr id="5" name="Shape 3"/>
          <p:cNvSpPr/>
          <p:nvPr/>
        </p:nvSpPr>
        <p:spPr>
          <a:xfrm>
            <a:off x="2560320" y="1463040"/>
            <a:ext cx="365760" cy="201168"/>
          </a:xfrm>
          <a:prstGeom prst="rightArrow">
            <a:avLst/>
          </a:prstGeom>
          <a:solidFill>
            <a:srgbClr val="B7C4C3"/>
          </a:solidFill>
          <a:ln w="12700">
            <a:solidFill>
              <a:srgbClr val="B7C4C3"/>
            </a:solidFill>
            <a:prstDash val="solid"/>
          </a:ln>
        </p:spPr>
        <p:txBody>
          <a:bodyPr/>
          <a:p/>
        </p:txBody>
      </p:sp>
      <p:sp>
        <p:nvSpPr>
          <p:cNvPr id="6" name="Shape 4"/>
          <p:cNvSpPr/>
          <p:nvPr/>
        </p:nvSpPr>
        <p:spPr>
          <a:xfrm>
            <a:off x="3017520" y="1234440"/>
            <a:ext cx="3108960" cy="685800"/>
          </a:xfrm>
          <a:prstGeom prst="roundRect">
            <a:avLst>
              <a:gd name="adj" fmla="val 8000"/>
            </a:avLst>
          </a:prstGeom>
          <a:solidFill>
            <a:srgbClr val="1F3A3D"/>
          </a:solidFill>
          <a:ln w="12700">
            <a:solidFill>
              <a:srgbClr val="1F3A3D"/>
            </a:solidFill>
            <a:prstDash val="solid"/>
          </a:ln>
        </p:spPr>
        <p:txBody>
          <a:bodyPr/>
          <a:p/>
        </p:txBody>
      </p:sp>
      <p:sp>
        <p:nvSpPr>
          <p:cNvPr id="7" name="Text 5"/>
          <p:cNvSpPr txBox="1"/>
          <p:nvPr/>
        </p:nvSpPr>
        <p:spPr>
          <a:xfrm>
            <a:off x="3017520" y="1234440"/>
            <a:ext cx="3108960" cy="68580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Orchestrator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fixed order, limits, exact work</a:t>
            </a:r>
            <a:endParaRPr lang="en-US" sz="1200" dirty="0"/>
          </a:p>
        </p:txBody>
      </p:sp>
      <p:sp>
        <p:nvSpPr>
          <p:cNvPr id="8" name="Shape 6"/>
          <p:cNvSpPr/>
          <p:nvPr/>
        </p:nvSpPr>
        <p:spPr>
          <a:xfrm>
            <a:off x="457200" y="2377440"/>
            <a:ext cx="1828800" cy="685800"/>
          </a:xfrm>
          <a:prstGeom prst="roundRect">
            <a:avLst>
              <a:gd name="adj" fmla="val 8000"/>
            </a:avLst>
          </a:prstGeom>
          <a:solidFill>
            <a:srgbClr val="D9963A"/>
          </a:solidFill>
          <a:ln w="12700">
            <a:solidFill>
              <a:srgbClr val="D9963A"/>
            </a:solidFill>
            <a:prstDash val="solid"/>
          </a:ln>
        </p:spPr>
        <p:txBody>
          <a:bodyPr/>
          <a:p/>
        </p:txBody>
      </p:sp>
      <p:sp>
        <p:nvSpPr>
          <p:cNvPr id="9" name="Text 7"/>
          <p:cNvSpPr txBox="1"/>
          <p:nvPr/>
        </p:nvSpPr>
        <p:spPr>
          <a:xfrm>
            <a:off x="457200" y="2377440"/>
            <a:ext cx="1828800" cy="685800"/>
          </a:xfrm>
          <a:prstGeom prst="rect">
            <a:avLst/>
          </a:prstGeom>
          <a:noFill/>
          <a:ln/>
        </p:spPr>
        <p:txBody>
          <a:bodyPr wrap="square" lIns="508" tIns="508" rIns="508" bIns="508" rtlCol="0" anchor="ctr"/>
          <a:lstStyle/>
          <a:p>
            <a:pPr algn="ctr" indent="0" marL="0">
              <a:buNone/>
            </a:pPr>
            <a:r>
              <a:rPr lang="en-US" sz="1200" b="1" dirty="0">
                <a:solidFill>
                  <a:srgbClr val="1F3A3D"/>
                </a:solidFill>
                <a:latin typeface="Calibri" pitchFamily="34" charset="0"/>
                <a:ea typeface="Calibri" pitchFamily="34" charset="-122"/>
                <a:cs typeface="Calibri" pitchFamily="34" charset="-120"/>
              </a:rPr>
              <a:t>Planning Agent</a:t>
            </a:r>
            <a:endParaRPr lang="en-US" sz="1200" dirty="0"/>
          </a:p>
          <a:p>
            <a:pPr algn="ctr" indent="0" marL="0">
              <a:buNone/>
            </a:pPr>
            <a:r>
              <a:rPr lang="en-US" sz="1200" b="1" dirty="0">
                <a:solidFill>
                  <a:srgbClr val="1F3A3D"/>
                </a:solidFill>
                <a:latin typeface="Calibri" pitchFamily="34" charset="0"/>
                <a:ea typeface="Calibri" pitchFamily="34" charset="-122"/>
                <a:cs typeface="Calibri" pitchFamily="34" charset="-120"/>
              </a:rPr>
              <a:t>uses the LLM</a:t>
            </a:r>
            <a:endParaRPr lang="en-US" sz="1200" dirty="0"/>
          </a:p>
        </p:txBody>
      </p:sp>
      <p:sp>
        <p:nvSpPr>
          <p:cNvPr id="10" name="Shape 8"/>
          <p:cNvSpPr/>
          <p:nvPr/>
        </p:nvSpPr>
        <p:spPr>
          <a:xfrm>
            <a:off x="2468880" y="2377440"/>
            <a:ext cx="1828800" cy="685800"/>
          </a:xfrm>
          <a:prstGeom prst="roundRect">
            <a:avLst>
              <a:gd name="adj" fmla="val 8000"/>
            </a:avLst>
          </a:prstGeom>
          <a:solidFill>
            <a:srgbClr val="3E6366"/>
          </a:solidFill>
          <a:ln w="12700">
            <a:solidFill>
              <a:srgbClr val="3E6366"/>
            </a:solidFill>
            <a:prstDash val="solid"/>
          </a:ln>
        </p:spPr>
        <p:txBody>
          <a:bodyPr/>
          <a:p/>
        </p:txBody>
      </p:sp>
      <p:sp>
        <p:nvSpPr>
          <p:cNvPr id="11" name="Text 9"/>
          <p:cNvSpPr txBox="1"/>
          <p:nvPr/>
        </p:nvSpPr>
        <p:spPr>
          <a:xfrm>
            <a:off x="2468880" y="2377440"/>
            <a:ext cx="1828800" cy="685800"/>
          </a:xfrm>
          <a:prstGeom prst="rect">
            <a:avLst/>
          </a:prstGeom>
          <a:noFill/>
          <a:ln/>
        </p:spPr>
        <p:txBody>
          <a:bodyPr wrap="square" lIns="508" tIns="508" rIns="508" bIns="508"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Retrieval Agent - no LLM</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OpenAlex + Semantic Scholar</a:t>
            </a:r>
            <a:endParaRPr lang="en-US" sz="1050" dirty="0"/>
          </a:p>
        </p:txBody>
      </p:sp>
      <p:sp>
        <p:nvSpPr>
          <p:cNvPr id="12" name="Shape 10"/>
          <p:cNvSpPr/>
          <p:nvPr/>
        </p:nvSpPr>
        <p:spPr>
          <a:xfrm>
            <a:off x="4480560" y="2377440"/>
            <a:ext cx="2377440" cy="685800"/>
          </a:xfrm>
          <a:prstGeom prst="roundRect">
            <a:avLst>
              <a:gd name="adj" fmla="val 8000"/>
            </a:avLst>
          </a:prstGeom>
          <a:solidFill>
            <a:srgbClr val="D9963A"/>
          </a:solidFill>
          <a:ln w="12700">
            <a:solidFill>
              <a:srgbClr val="D9963A"/>
            </a:solidFill>
            <a:prstDash val="solid"/>
          </a:ln>
        </p:spPr>
        <p:txBody>
          <a:bodyPr/>
          <a:p/>
        </p:txBody>
      </p:sp>
      <p:sp>
        <p:nvSpPr>
          <p:cNvPr id="13" name="Text 11"/>
          <p:cNvSpPr txBox="1"/>
          <p:nvPr/>
        </p:nvSpPr>
        <p:spPr>
          <a:xfrm>
            <a:off x="4480560" y="2377440"/>
            <a:ext cx="2377440" cy="685800"/>
          </a:xfrm>
          <a:prstGeom prst="rect">
            <a:avLst/>
          </a:prstGeom>
          <a:noFill/>
          <a:ln/>
        </p:spPr>
        <p:txBody>
          <a:bodyPr wrap="square" lIns="508" tIns="508" rIns="508" bIns="508" rtlCol="0" anchor="ctr"/>
          <a:lstStyle/>
          <a:p>
            <a:pPr algn="ctr" indent="0" marL="0">
              <a:buNone/>
            </a:pPr>
            <a:r>
              <a:rPr lang="en-US" sz="1200" b="1" dirty="0">
                <a:solidFill>
                  <a:srgbClr val="1F3A3D"/>
                </a:solidFill>
                <a:latin typeface="Calibri" pitchFamily="34" charset="0"/>
                <a:ea typeface="Calibri" pitchFamily="34" charset="-122"/>
                <a:cs typeface="Calibri" pitchFamily="34" charset="-120"/>
              </a:rPr>
              <a:t>Evaluation &amp; Synthesis Agent</a:t>
            </a:r>
            <a:endParaRPr lang="en-US" sz="1200" dirty="0"/>
          </a:p>
          <a:p>
            <a:pPr algn="ctr" indent="0" marL="0">
              <a:buNone/>
            </a:pPr>
            <a:r>
              <a:rPr lang="en-US" sz="1200" b="1" dirty="0">
                <a:solidFill>
                  <a:srgbClr val="1F3A3D"/>
                </a:solidFill>
                <a:latin typeface="Calibri" pitchFamily="34" charset="0"/>
                <a:ea typeface="Calibri" pitchFamily="34" charset="-122"/>
                <a:cs typeface="Calibri" pitchFamily="34" charset="-120"/>
              </a:rPr>
              <a:t>uses the LLM</a:t>
            </a:r>
            <a:endParaRPr lang="en-US" sz="1200" dirty="0"/>
          </a:p>
        </p:txBody>
      </p:sp>
      <p:sp>
        <p:nvSpPr>
          <p:cNvPr id="14" name="Shape 12"/>
          <p:cNvSpPr/>
          <p:nvPr/>
        </p:nvSpPr>
        <p:spPr>
          <a:xfrm>
            <a:off x="4572000" y="1920240"/>
            <a:ext cx="0" cy="228600"/>
          </a:xfrm>
          <a:prstGeom prst="line">
            <a:avLst/>
          </a:prstGeom>
          <a:noFill/>
          <a:ln w="15875">
            <a:solidFill>
              <a:srgbClr val="B7C4C3"/>
            </a:solidFill>
            <a:prstDash val="solid"/>
          </a:ln>
        </p:spPr>
        <p:txBody>
          <a:bodyPr/>
          <a:p/>
        </p:txBody>
      </p:sp>
      <p:sp>
        <p:nvSpPr>
          <p:cNvPr id="15" name="Shape 13"/>
          <p:cNvSpPr/>
          <p:nvPr/>
        </p:nvSpPr>
        <p:spPr>
          <a:xfrm>
            <a:off x="1371600" y="2148840"/>
            <a:ext cx="4297680" cy="0"/>
          </a:xfrm>
          <a:prstGeom prst="line">
            <a:avLst/>
          </a:prstGeom>
          <a:noFill/>
          <a:ln w="15875">
            <a:solidFill>
              <a:srgbClr val="B7C4C3"/>
            </a:solidFill>
            <a:prstDash val="solid"/>
          </a:ln>
        </p:spPr>
        <p:txBody>
          <a:bodyPr/>
          <a:p/>
        </p:txBody>
      </p:sp>
      <p:sp>
        <p:nvSpPr>
          <p:cNvPr id="16" name="Shape 14"/>
          <p:cNvSpPr/>
          <p:nvPr/>
        </p:nvSpPr>
        <p:spPr>
          <a:xfrm>
            <a:off x="1371600" y="2148840"/>
            <a:ext cx="0" cy="228600"/>
          </a:xfrm>
          <a:prstGeom prst="line">
            <a:avLst/>
          </a:prstGeom>
          <a:noFill/>
          <a:ln w="15875">
            <a:solidFill>
              <a:srgbClr val="B7C4C3"/>
            </a:solidFill>
            <a:prstDash val="solid"/>
          </a:ln>
        </p:spPr>
        <p:txBody>
          <a:bodyPr/>
          <a:p/>
        </p:txBody>
      </p:sp>
      <p:sp>
        <p:nvSpPr>
          <p:cNvPr id="17" name="Shape 15"/>
          <p:cNvSpPr/>
          <p:nvPr/>
        </p:nvSpPr>
        <p:spPr>
          <a:xfrm>
            <a:off x="3383280" y="2148840"/>
            <a:ext cx="0" cy="228600"/>
          </a:xfrm>
          <a:prstGeom prst="line">
            <a:avLst/>
          </a:prstGeom>
          <a:noFill/>
          <a:ln w="15875">
            <a:solidFill>
              <a:srgbClr val="B7C4C3"/>
            </a:solidFill>
            <a:prstDash val="solid"/>
          </a:ln>
        </p:spPr>
        <p:txBody>
          <a:bodyPr/>
          <a:p/>
        </p:txBody>
      </p:sp>
      <p:sp>
        <p:nvSpPr>
          <p:cNvPr id="18" name="Shape 16"/>
          <p:cNvSpPr/>
          <p:nvPr/>
        </p:nvSpPr>
        <p:spPr>
          <a:xfrm>
            <a:off x="5669280" y="2148840"/>
            <a:ext cx="0" cy="228600"/>
          </a:xfrm>
          <a:prstGeom prst="line">
            <a:avLst/>
          </a:prstGeom>
          <a:noFill/>
          <a:ln w="15875">
            <a:solidFill>
              <a:srgbClr val="B7C4C3"/>
            </a:solidFill>
            <a:prstDash val="solid"/>
          </a:ln>
        </p:spPr>
        <p:txBody>
          <a:bodyPr/>
          <a:p/>
        </p:txBody>
      </p:sp>
      <p:sp>
        <p:nvSpPr>
          <p:cNvPr id="19" name="Text 17"/>
          <p:cNvSpPr txBox="1"/>
          <p:nvPr/>
        </p:nvSpPr>
        <p:spPr>
          <a:xfrm>
            <a:off x="457200" y="3200400"/>
            <a:ext cx="6583680" cy="365760"/>
          </a:xfrm>
          <a:prstGeom prst="rect">
            <a:avLst/>
          </a:prstGeom>
          <a:noFill/>
          <a:ln/>
        </p:spPr>
        <p:txBody>
          <a:bodyPr wrap="square" lIns="0" tIns="0" rIns="0" bIns="0" rtlCol="0" anchor="t"/>
          <a:lstStyle/>
          <a:p>
            <a:pPr indent="0" marL="0">
              <a:buNone/>
            </a:pPr>
            <a:r>
              <a:rPr lang="en-US" sz="1050" dirty="0">
                <a:solidFill>
                  <a:srgbClr val="5F6F70"/>
                </a:solidFill>
                <a:latin typeface="Calibri" pitchFamily="34" charset="0"/>
                <a:ea typeface="Calibri" pitchFamily="34" charset="-122"/>
                <a:cs typeface="Calibri" pitchFamily="34" charset="-120"/>
              </a:rPr>
              <a:t>Data passed between them: SubQuestion · Paper · Assessment · Brief  (the classes from Diagram 1, as Pydantic models)</a:t>
            </a:r>
            <a:endParaRPr lang="en-US" sz="1050" dirty="0"/>
          </a:p>
        </p:txBody>
      </p:sp>
      <p:sp>
        <p:nvSpPr>
          <p:cNvPr id="20" name="Text 18"/>
          <p:cNvSpPr txBox="1"/>
          <p:nvPr/>
        </p:nvSpPr>
        <p:spPr>
          <a:xfrm>
            <a:off x="457200" y="3611880"/>
            <a:ext cx="658368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Decomposing, scoring and summarising are judgement tasks - the model does those</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Counting, de-duplicating, verifying DOIs, applying cut-offs - plain code does those</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Every model reply is validated against a schema; one repair retry, then the run stops</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Limits, model name and the list of sources live in one configuration file</a:t>
            </a:r>
            <a:endParaRPr lang="en-US" sz="1100" dirty="0"/>
          </a:p>
          <a:p>
            <a:pPr marL="342900" indent="-342900">
              <a:spcAft>
                <a:spcPts val="500"/>
              </a:spcAft>
              <a:buSzPct val="100000"/>
              <a:buChar char="•"/>
            </a:pPr>
            <a:r>
              <a:rPr lang="en-US" sz="1100" dirty="0">
                <a:solidFill>
                  <a:srgbClr val="1F3A3D"/>
                </a:solidFill>
                <a:latin typeface="Calibri" pitchFamily="34" charset="0"/>
                <a:ea typeface="Calibri" pitchFamily="34" charset="-122"/>
                <a:cs typeface="Calibri" pitchFamily="34" charset="-120"/>
              </a:rPr>
              <a:t>Agents by role, each with one goal (Wooldridge and Jennings, 1995; Wooldridge, Jennings and Kinny, 2000); one coordinator, because errors spread without central verification (Kim et al., 2026)</a:t>
            </a:r>
            <a:endParaRPr lang="en-US" sz="1100" dirty="0"/>
          </a:p>
        </p:txBody>
      </p:sp>
      <p:sp>
        <p:nvSpPr>
          <p:cNvPr id="21" name="Shape 19"/>
          <p:cNvSpPr/>
          <p:nvPr/>
        </p:nvSpPr>
        <p:spPr>
          <a:xfrm>
            <a:off x="7223760" y="1234440"/>
            <a:ext cx="1463040" cy="3474720"/>
          </a:xfrm>
          <a:prstGeom prst="roundRect">
            <a:avLst>
              <a:gd name="adj" fmla="val 5000"/>
            </a:avLst>
          </a:prstGeom>
          <a:solidFill>
            <a:srgbClr val="EEF3F2"/>
          </a:solidFill>
          <a:ln w="9525">
            <a:solidFill>
              <a:srgbClr val="DDE4E3"/>
            </a:solidFill>
            <a:prstDash val="solid"/>
          </a:ln>
        </p:spPr>
        <p:txBody>
          <a:bodyPr/>
          <a:p/>
        </p:txBody>
      </p:sp>
      <p:sp>
        <p:nvSpPr>
          <p:cNvPr id="22" name="Text 20"/>
          <p:cNvSpPr txBox="1"/>
          <p:nvPr/>
        </p:nvSpPr>
        <p:spPr>
          <a:xfrm>
            <a:off x="7269480" y="1325880"/>
            <a:ext cx="1371600" cy="411480"/>
          </a:xfrm>
          <a:prstGeom prst="rect">
            <a:avLst/>
          </a:prstGeom>
          <a:noFill/>
          <a:ln/>
        </p:spPr>
        <p:txBody>
          <a:bodyPr wrap="square" lIns="0" tIns="0" rIns="0" bIns="0" rtlCol="0" anchor="ctr"/>
          <a:lstStyle/>
          <a:p>
            <a:pPr algn="ctr" indent="0" marL="0">
              <a:buNone/>
            </a:pPr>
            <a:r>
              <a:rPr lang="en-US" sz="2200" b="1" dirty="0">
                <a:solidFill>
                  <a:srgbClr val="1F3A3D"/>
                </a:solidFill>
                <a:latin typeface="Cambria" pitchFamily="34" charset="0"/>
                <a:ea typeface="Cambria" pitchFamily="34" charset="-122"/>
                <a:cs typeface="Cambria" pitchFamily="34" charset="-120"/>
              </a:rPr>
              <a:t>3-5</a:t>
            </a:r>
            <a:endParaRPr lang="en-US" sz="2200" dirty="0"/>
          </a:p>
        </p:txBody>
      </p:sp>
      <p:sp>
        <p:nvSpPr>
          <p:cNvPr id="23" name="Text 21"/>
          <p:cNvSpPr txBox="1"/>
          <p:nvPr/>
        </p:nvSpPr>
        <p:spPr>
          <a:xfrm>
            <a:off x="7269480" y="1719072"/>
            <a:ext cx="1371600" cy="365760"/>
          </a:xfrm>
          <a:prstGeom prst="rect">
            <a:avLst/>
          </a:prstGeom>
          <a:noFill/>
          <a:ln/>
        </p:spPr>
        <p:txBody>
          <a:bodyPr wrap="square" lIns="0" tIns="0" rIns="0" bIns="0" rtlCol="0" anchor="t"/>
          <a:lstStyle/>
          <a:p>
            <a:pPr algn="ctr" indent="0" marL="0">
              <a:buNone/>
            </a:pPr>
            <a:r>
              <a:rPr lang="en-US" sz="950" dirty="0">
                <a:solidFill>
                  <a:srgbClr val="5F6F70"/>
                </a:solidFill>
                <a:latin typeface="Calibri" pitchFamily="34" charset="0"/>
                <a:ea typeface="Calibri" pitchFamily="34" charset="-122"/>
                <a:cs typeface="Calibri" pitchFamily="34" charset="-120"/>
              </a:rPr>
              <a:t>sub-questions</a:t>
            </a:r>
            <a:endParaRPr lang="en-US" sz="950" dirty="0"/>
          </a:p>
        </p:txBody>
      </p:sp>
      <p:sp>
        <p:nvSpPr>
          <p:cNvPr id="24" name="Text 22"/>
          <p:cNvSpPr txBox="1"/>
          <p:nvPr/>
        </p:nvSpPr>
        <p:spPr>
          <a:xfrm>
            <a:off x="7269480" y="2176272"/>
            <a:ext cx="1371600" cy="411480"/>
          </a:xfrm>
          <a:prstGeom prst="rect">
            <a:avLst/>
          </a:prstGeom>
          <a:noFill/>
          <a:ln/>
        </p:spPr>
        <p:txBody>
          <a:bodyPr wrap="square" lIns="0" tIns="0" rIns="0" bIns="0" rtlCol="0" anchor="ctr"/>
          <a:lstStyle/>
          <a:p>
            <a:pPr algn="ctr" indent="0" marL="0">
              <a:buNone/>
            </a:pPr>
            <a:r>
              <a:rPr lang="en-US" sz="2200" b="1" dirty="0">
                <a:solidFill>
                  <a:srgbClr val="1F3A3D"/>
                </a:solidFill>
                <a:latin typeface="Cambria" pitchFamily="34" charset="0"/>
                <a:ea typeface="Cambria" pitchFamily="34" charset="-122"/>
                <a:cs typeface="Cambria" pitchFamily="34" charset="-120"/>
              </a:rPr>
              <a:t>1</a:t>
            </a:r>
            <a:endParaRPr lang="en-US" sz="2200" dirty="0"/>
          </a:p>
        </p:txBody>
      </p:sp>
      <p:sp>
        <p:nvSpPr>
          <p:cNvPr id="25" name="Text 23"/>
          <p:cNvSpPr txBox="1"/>
          <p:nvPr/>
        </p:nvSpPr>
        <p:spPr>
          <a:xfrm>
            <a:off x="7269480" y="2569464"/>
            <a:ext cx="1371600" cy="365760"/>
          </a:xfrm>
          <a:prstGeom prst="rect">
            <a:avLst/>
          </a:prstGeom>
          <a:noFill/>
          <a:ln/>
        </p:spPr>
        <p:txBody>
          <a:bodyPr wrap="square" lIns="0" tIns="0" rIns="0" bIns="0" rtlCol="0" anchor="t"/>
          <a:lstStyle/>
          <a:p>
            <a:pPr algn="ctr" indent="0" marL="0">
              <a:buNone/>
            </a:pPr>
            <a:r>
              <a:rPr lang="en-US" sz="950" dirty="0">
                <a:solidFill>
                  <a:srgbClr val="5F6F70"/>
                </a:solidFill>
                <a:latin typeface="Calibri" pitchFamily="34" charset="0"/>
                <a:ea typeface="Calibri" pitchFamily="34" charset="-122"/>
                <a:cs typeface="Calibri" pitchFamily="34" charset="-120"/>
              </a:rPr>
              <a:t>query retry per sub-question</a:t>
            </a:r>
            <a:endParaRPr lang="en-US" sz="950" dirty="0"/>
          </a:p>
        </p:txBody>
      </p:sp>
      <p:sp>
        <p:nvSpPr>
          <p:cNvPr id="26" name="Text 24"/>
          <p:cNvSpPr txBox="1"/>
          <p:nvPr/>
        </p:nvSpPr>
        <p:spPr>
          <a:xfrm>
            <a:off x="7269480" y="3026664"/>
            <a:ext cx="1371600" cy="411480"/>
          </a:xfrm>
          <a:prstGeom prst="rect">
            <a:avLst/>
          </a:prstGeom>
          <a:noFill/>
          <a:ln/>
        </p:spPr>
        <p:txBody>
          <a:bodyPr wrap="square" lIns="0" tIns="0" rIns="0" bIns="0" rtlCol="0" anchor="ctr"/>
          <a:lstStyle/>
          <a:p>
            <a:pPr algn="ctr" indent="0" marL="0">
              <a:buNone/>
            </a:pPr>
            <a:r>
              <a:rPr lang="en-US" sz="2200" b="1" dirty="0">
                <a:solidFill>
                  <a:srgbClr val="1F3A3D"/>
                </a:solidFill>
                <a:latin typeface="Cambria" pitchFamily="34" charset="0"/>
                <a:ea typeface="Cambria" pitchFamily="34" charset="-122"/>
                <a:cs typeface="Cambria" pitchFamily="34" charset="-120"/>
              </a:rPr>
              <a:t>1</a:t>
            </a:r>
            <a:endParaRPr lang="en-US" sz="2200" dirty="0"/>
          </a:p>
        </p:txBody>
      </p:sp>
      <p:sp>
        <p:nvSpPr>
          <p:cNvPr id="27" name="Text 25"/>
          <p:cNvSpPr txBox="1"/>
          <p:nvPr/>
        </p:nvSpPr>
        <p:spPr>
          <a:xfrm>
            <a:off x="7269480" y="3419856"/>
            <a:ext cx="1371600" cy="365760"/>
          </a:xfrm>
          <a:prstGeom prst="rect">
            <a:avLst/>
          </a:prstGeom>
          <a:noFill/>
          <a:ln/>
        </p:spPr>
        <p:txBody>
          <a:bodyPr wrap="square" lIns="0" tIns="0" rIns="0" bIns="0" rtlCol="0" anchor="t"/>
          <a:lstStyle/>
          <a:p>
            <a:pPr algn="ctr" indent="0" marL="0">
              <a:buNone/>
            </a:pPr>
            <a:r>
              <a:rPr lang="en-US" sz="950" dirty="0">
                <a:solidFill>
                  <a:srgbClr val="5F6F70"/>
                </a:solidFill>
                <a:latin typeface="Calibri" pitchFamily="34" charset="0"/>
                <a:ea typeface="Calibri" pitchFamily="34" charset="-122"/>
                <a:cs typeface="Calibri" pitchFamily="34" charset="-120"/>
              </a:rPr>
              <a:t>scope revision per run</a:t>
            </a:r>
            <a:endParaRPr lang="en-US" sz="950" dirty="0"/>
          </a:p>
        </p:txBody>
      </p:sp>
      <p:sp>
        <p:nvSpPr>
          <p:cNvPr id="28" name="Text 26"/>
          <p:cNvSpPr txBox="1"/>
          <p:nvPr/>
        </p:nvSpPr>
        <p:spPr>
          <a:xfrm>
            <a:off x="7269480" y="3877056"/>
            <a:ext cx="1371600" cy="411480"/>
          </a:xfrm>
          <a:prstGeom prst="rect">
            <a:avLst/>
          </a:prstGeom>
          <a:noFill/>
          <a:ln/>
        </p:spPr>
        <p:txBody>
          <a:bodyPr wrap="square" lIns="0" tIns="0" rIns="0" bIns="0" rtlCol="0" anchor="ctr"/>
          <a:lstStyle/>
          <a:p>
            <a:pPr algn="ctr" indent="0" marL="0">
              <a:buNone/>
            </a:pPr>
            <a:r>
              <a:rPr lang="en-US" sz="2200" b="1" dirty="0">
                <a:solidFill>
                  <a:srgbClr val="1F3A3D"/>
                </a:solidFill>
                <a:latin typeface="Cambria" pitchFamily="34" charset="0"/>
                <a:ea typeface="Cambria" pitchFamily="34" charset="-122"/>
                <a:cs typeface="Cambria" pitchFamily="34" charset="-120"/>
              </a:rPr>
              <a:t>3 / 5</a:t>
            </a:r>
            <a:endParaRPr lang="en-US" sz="2200" dirty="0"/>
          </a:p>
        </p:txBody>
      </p:sp>
      <p:sp>
        <p:nvSpPr>
          <p:cNvPr id="29" name="Text 27"/>
          <p:cNvSpPr txBox="1"/>
          <p:nvPr/>
        </p:nvSpPr>
        <p:spPr>
          <a:xfrm>
            <a:off x="7269480" y="4270248"/>
            <a:ext cx="1371600" cy="365760"/>
          </a:xfrm>
          <a:prstGeom prst="rect">
            <a:avLst/>
          </a:prstGeom>
          <a:noFill/>
          <a:ln/>
        </p:spPr>
        <p:txBody>
          <a:bodyPr wrap="square" lIns="0" tIns="0" rIns="0" bIns="0" rtlCol="0" anchor="t"/>
          <a:lstStyle/>
          <a:p>
            <a:pPr algn="ctr" indent="0" marL="0">
              <a:buNone/>
            </a:pPr>
            <a:r>
              <a:rPr lang="en-US" sz="950" dirty="0">
                <a:solidFill>
                  <a:srgbClr val="5F6F70"/>
                </a:solidFill>
                <a:latin typeface="Calibri" pitchFamily="34" charset="0"/>
                <a:ea typeface="Calibri" pitchFamily="34" charset="-122"/>
                <a:cs typeface="Calibri" pitchFamily="34" charset="-120"/>
              </a:rPr>
              <a:t>relevance cut-off</a:t>
            </a:r>
            <a:endParaRPr lang="en-US" sz="950" dirty="0"/>
          </a:p>
        </p:txBody>
      </p:sp>
      <p:sp>
        <p:nvSpPr>
          <p:cNvPr id="30" name="Text 28"/>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How one run flows</a:t>
            </a:r>
            <a:endParaRPr lang="en-US" sz="3000" dirty="0"/>
          </a:p>
        </p:txBody>
      </p:sp>
      <p:sp>
        <p:nvSpPr>
          <p:cNvPr id="3" name="Shape 1"/>
          <p:cNvSpPr/>
          <p:nvPr/>
        </p:nvSpPr>
        <p:spPr>
          <a:xfrm>
            <a:off x="457200" y="1371600"/>
            <a:ext cx="1115568" cy="457200"/>
          </a:xfrm>
          <a:prstGeom prst="roundRect">
            <a:avLst>
              <a:gd name="adj" fmla="val 12000"/>
            </a:avLst>
          </a:prstGeom>
          <a:solidFill>
            <a:srgbClr val="1F3A3D"/>
          </a:solidFill>
          <a:ln w="12700">
            <a:solidFill>
              <a:srgbClr val="1F3A3D"/>
            </a:solidFill>
            <a:prstDash val="solid"/>
          </a:ln>
        </p:spPr>
        <p:txBody>
          <a:bodyPr/>
          <a:p/>
        </p:txBody>
      </p:sp>
      <p:sp>
        <p:nvSpPr>
          <p:cNvPr id="4" name="Text 2"/>
          <p:cNvSpPr txBox="1"/>
          <p:nvPr/>
        </p:nvSpPr>
        <p:spPr>
          <a:xfrm>
            <a:off x="457200" y="1371600"/>
            <a:ext cx="1115568" cy="457200"/>
          </a:xfrm>
          <a:prstGeom prst="rect">
            <a:avLst/>
          </a:prstGeom>
          <a:noFill/>
          <a:ln/>
        </p:spPr>
        <p:txBody>
          <a:bodyPr wrap="square" lIns="508" tIns="508" rIns="508" bIns="508"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  Plan</a:t>
            </a:r>
            <a:endParaRPr lang="en-US" sz="1150" dirty="0"/>
          </a:p>
        </p:txBody>
      </p:sp>
      <p:sp>
        <p:nvSpPr>
          <p:cNvPr id="5" name="Text 3"/>
          <p:cNvSpPr txBox="1"/>
          <p:nvPr/>
        </p:nvSpPr>
        <p:spPr>
          <a:xfrm>
            <a:off x="457200" y="1920240"/>
            <a:ext cx="1115568" cy="100584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question → 3-5 sub-questions with search queries</a:t>
            </a:r>
            <a:endParaRPr lang="en-US" sz="950" dirty="0"/>
          </a:p>
        </p:txBody>
      </p:sp>
      <p:sp>
        <p:nvSpPr>
          <p:cNvPr id="6" name="Shape 4"/>
          <p:cNvSpPr/>
          <p:nvPr/>
        </p:nvSpPr>
        <p:spPr>
          <a:xfrm>
            <a:off x="1645920" y="1371600"/>
            <a:ext cx="1115568" cy="457200"/>
          </a:xfrm>
          <a:prstGeom prst="roundRect">
            <a:avLst>
              <a:gd name="adj" fmla="val 12000"/>
            </a:avLst>
          </a:prstGeom>
          <a:solidFill>
            <a:srgbClr val="D9963A"/>
          </a:solidFill>
          <a:ln w="12700">
            <a:solidFill>
              <a:srgbClr val="D9963A"/>
            </a:solidFill>
            <a:prstDash val="solid"/>
          </a:ln>
        </p:spPr>
        <p:txBody>
          <a:bodyPr/>
          <a:p/>
        </p:txBody>
      </p:sp>
      <p:sp>
        <p:nvSpPr>
          <p:cNvPr id="7" name="Text 5"/>
          <p:cNvSpPr txBox="1"/>
          <p:nvPr/>
        </p:nvSpPr>
        <p:spPr>
          <a:xfrm>
            <a:off x="1645920" y="1371600"/>
            <a:ext cx="1115568" cy="457200"/>
          </a:xfrm>
          <a:prstGeom prst="rect">
            <a:avLst/>
          </a:prstGeom>
          <a:noFill/>
          <a:ln/>
        </p:spPr>
        <p:txBody>
          <a:bodyPr wrap="square" lIns="508" tIns="508" rIns="508" bIns="508" rtlCol="0" anchor="ctr"/>
          <a:lstStyle/>
          <a:p>
            <a:pPr algn="ctr" indent="0" marL="0">
              <a:buNone/>
            </a:pPr>
            <a:r>
              <a:rPr lang="en-US" sz="1150" b="1" dirty="0">
                <a:solidFill>
                  <a:srgbClr val="1F3A3D"/>
                </a:solidFill>
                <a:latin typeface="Calibri" pitchFamily="34" charset="0"/>
                <a:ea typeface="Calibri" pitchFamily="34" charset="-122"/>
                <a:cs typeface="Calibri" pitchFamily="34" charset="-120"/>
              </a:rPr>
              <a:t>Review 1</a:t>
            </a:r>
            <a:endParaRPr lang="en-US" sz="1150" dirty="0"/>
          </a:p>
        </p:txBody>
      </p:sp>
      <p:sp>
        <p:nvSpPr>
          <p:cNvPr id="8" name="Text 6"/>
          <p:cNvSpPr txBox="1"/>
          <p:nvPr/>
        </p:nvSpPr>
        <p:spPr>
          <a:xfrm>
            <a:off x="1645920" y="1920240"/>
            <a:ext cx="1115568" cy="100584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approve, or describe the change → re-plan</a:t>
            </a:r>
            <a:endParaRPr lang="en-US" sz="950" dirty="0"/>
          </a:p>
        </p:txBody>
      </p:sp>
      <p:sp>
        <p:nvSpPr>
          <p:cNvPr id="9" name="Shape 7"/>
          <p:cNvSpPr/>
          <p:nvPr/>
        </p:nvSpPr>
        <p:spPr>
          <a:xfrm>
            <a:off x="2834640" y="1371600"/>
            <a:ext cx="1115568" cy="457200"/>
          </a:xfrm>
          <a:prstGeom prst="roundRect">
            <a:avLst>
              <a:gd name="adj" fmla="val 12000"/>
            </a:avLst>
          </a:prstGeom>
          <a:solidFill>
            <a:srgbClr val="1F3A3D"/>
          </a:solidFill>
          <a:ln w="12700">
            <a:solidFill>
              <a:srgbClr val="1F3A3D"/>
            </a:solidFill>
            <a:prstDash val="solid"/>
          </a:ln>
        </p:spPr>
        <p:txBody>
          <a:bodyPr/>
          <a:p/>
        </p:txBody>
      </p:sp>
      <p:sp>
        <p:nvSpPr>
          <p:cNvPr id="10" name="Text 8"/>
          <p:cNvSpPr txBox="1"/>
          <p:nvPr/>
        </p:nvSpPr>
        <p:spPr>
          <a:xfrm>
            <a:off x="2834640" y="1371600"/>
            <a:ext cx="1115568" cy="457200"/>
          </a:xfrm>
          <a:prstGeom prst="rect">
            <a:avLst/>
          </a:prstGeom>
          <a:noFill/>
          <a:ln/>
        </p:spPr>
        <p:txBody>
          <a:bodyPr wrap="square" lIns="508" tIns="508" rIns="508" bIns="508"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  Retrieve</a:t>
            </a:r>
            <a:endParaRPr lang="en-US" sz="1150" dirty="0"/>
          </a:p>
        </p:txBody>
      </p:sp>
      <p:sp>
        <p:nvSpPr>
          <p:cNvPr id="11" name="Text 9"/>
          <p:cNvSpPr txBox="1"/>
          <p:nvPr/>
        </p:nvSpPr>
        <p:spPr>
          <a:xfrm>
            <a:off x="2834640" y="1920240"/>
            <a:ext cx="1115568" cy="100584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OpenAlex + Semantic Scholar, 20 records each; failover</a:t>
            </a:r>
            <a:endParaRPr lang="en-US" sz="950" dirty="0"/>
          </a:p>
        </p:txBody>
      </p:sp>
      <p:sp>
        <p:nvSpPr>
          <p:cNvPr id="12" name="Shape 10"/>
          <p:cNvSpPr/>
          <p:nvPr/>
        </p:nvSpPr>
        <p:spPr>
          <a:xfrm>
            <a:off x="4023360" y="1371600"/>
            <a:ext cx="1115568" cy="457200"/>
          </a:xfrm>
          <a:prstGeom prst="roundRect">
            <a:avLst>
              <a:gd name="adj" fmla="val 12000"/>
            </a:avLst>
          </a:prstGeom>
          <a:solidFill>
            <a:srgbClr val="1F3A3D"/>
          </a:solidFill>
          <a:ln w="12700">
            <a:solidFill>
              <a:srgbClr val="1F3A3D"/>
            </a:solidFill>
            <a:prstDash val="solid"/>
          </a:ln>
        </p:spPr>
        <p:txBody>
          <a:bodyPr/>
          <a:p/>
        </p:txBody>
      </p:sp>
      <p:sp>
        <p:nvSpPr>
          <p:cNvPr id="13" name="Text 11"/>
          <p:cNvSpPr txBox="1"/>
          <p:nvPr/>
        </p:nvSpPr>
        <p:spPr>
          <a:xfrm>
            <a:off x="4023360" y="1371600"/>
            <a:ext cx="1115568" cy="457200"/>
          </a:xfrm>
          <a:prstGeom prst="rect">
            <a:avLst/>
          </a:prstGeom>
          <a:noFill/>
          <a:ln/>
        </p:spPr>
        <p:txBody>
          <a:bodyPr wrap="square" lIns="508" tIns="508" rIns="508" bIns="508"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  Verify</a:t>
            </a:r>
            <a:endParaRPr lang="en-US" sz="1150" dirty="0"/>
          </a:p>
        </p:txBody>
      </p:sp>
      <p:sp>
        <p:nvSpPr>
          <p:cNvPr id="14" name="Text 12"/>
          <p:cNvSpPr txBox="1"/>
          <p:nvPr/>
        </p:nvSpPr>
        <p:spPr>
          <a:xfrm>
            <a:off x="4023360" y="1920240"/>
            <a:ext cx="1115568" cy="100584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de-duplicate by DOI; check each DOI in Crossref</a:t>
            </a:r>
            <a:endParaRPr lang="en-US" sz="950" dirty="0"/>
          </a:p>
        </p:txBody>
      </p:sp>
      <p:sp>
        <p:nvSpPr>
          <p:cNvPr id="15" name="Shape 13"/>
          <p:cNvSpPr/>
          <p:nvPr/>
        </p:nvSpPr>
        <p:spPr>
          <a:xfrm>
            <a:off x="5212080" y="1371600"/>
            <a:ext cx="1115568" cy="457200"/>
          </a:xfrm>
          <a:prstGeom prst="roundRect">
            <a:avLst>
              <a:gd name="adj" fmla="val 12000"/>
            </a:avLst>
          </a:prstGeom>
          <a:solidFill>
            <a:srgbClr val="1F3A3D"/>
          </a:solidFill>
          <a:ln w="12700">
            <a:solidFill>
              <a:srgbClr val="1F3A3D"/>
            </a:solidFill>
            <a:prstDash val="solid"/>
          </a:ln>
        </p:spPr>
        <p:txBody>
          <a:bodyPr/>
          <a:p/>
        </p:txBody>
      </p:sp>
      <p:sp>
        <p:nvSpPr>
          <p:cNvPr id="16" name="Text 14"/>
          <p:cNvSpPr txBox="1"/>
          <p:nvPr/>
        </p:nvSpPr>
        <p:spPr>
          <a:xfrm>
            <a:off x="5212080" y="1371600"/>
            <a:ext cx="1115568" cy="457200"/>
          </a:xfrm>
          <a:prstGeom prst="rect">
            <a:avLst/>
          </a:prstGeom>
          <a:noFill/>
          <a:ln/>
        </p:spPr>
        <p:txBody>
          <a:bodyPr wrap="square" lIns="508" tIns="508" rIns="508" bIns="508"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  Score</a:t>
            </a:r>
            <a:endParaRPr lang="en-US" sz="1150" dirty="0"/>
          </a:p>
        </p:txBody>
      </p:sp>
      <p:sp>
        <p:nvSpPr>
          <p:cNvPr id="17" name="Text 15"/>
          <p:cNvSpPr txBox="1"/>
          <p:nvPr/>
        </p:nvSpPr>
        <p:spPr>
          <a:xfrm>
            <a:off x="5212080" y="1920240"/>
            <a:ext cx="1115568" cy="100584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relevance 1-5 with a reason, from the abstract</a:t>
            </a:r>
            <a:endParaRPr lang="en-US" sz="950" dirty="0"/>
          </a:p>
        </p:txBody>
      </p:sp>
      <p:sp>
        <p:nvSpPr>
          <p:cNvPr id="18" name="Shape 16"/>
          <p:cNvSpPr/>
          <p:nvPr/>
        </p:nvSpPr>
        <p:spPr>
          <a:xfrm>
            <a:off x="6400800" y="1371600"/>
            <a:ext cx="1115568" cy="457200"/>
          </a:xfrm>
          <a:prstGeom prst="roundRect">
            <a:avLst>
              <a:gd name="adj" fmla="val 12000"/>
            </a:avLst>
          </a:prstGeom>
          <a:solidFill>
            <a:srgbClr val="D9963A"/>
          </a:solidFill>
          <a:ln w="12700">
            <a:solidFill>
              <a:srgbClr val="D9963A"/>
            </a:solidFill>
            <a:prstDash val="solid"/>
          </a:ln>
        </p:spPr>
        <p:txBody>
          <a:bodyPr/>
          <a:p/>
        </p:txBody>
      </p:sp>
      <p:sp>
        <p:nvSpPr>
          <p:cNvPr id="19" name="Text 17"/>
          <p:cNvSpPr txBox="1"/>
          <p:nvPr/>
        </p:nvSpPr>
        <p:spPr>
          <a:xfrm>
            <a:off x="6400800" y="1371600"/>
            <a:ext cx="1115568" cy="457200"/>
          </a:xfrm>
          <a:prstGeom prst="rect">
            <a:avLst/>
          </a:prstGeom>
          <a:noFill/>
          <a:ln/>
        </p:spPr>
        <p:txBody>
          <a:bodyPr wrap="square" lIns="508" tIns="508" rIns="508" bIns="508" rtlCol="0" anchor="ctr"/>
          <a:lstStyle/>
          <a:p>
            <a:pPr algn="ctr" indent="0" marL="0">
              <a:buNone/>
            </a:pPr>
            <a:r>
              <a:rPr lang="en-US" sz="1150" b="1" dirty="0">
                <a:solidFill>
                  <a:srgbClr val="1F3A3D"/>
                </a:solidFill>
                <a:latin typeface="Calibri" pitchFamily="34" charset="0"/>
                <a:ea typeface="Calibri" pitchFamily="34" charset="-122"/>
                <a:cs typeface="Calibri" pitchFamily="34" charset="-120"/>
              </a:rPr>
              <a:t>Review 2</a:t>
            </a:r>
            <a:endParaRPr lang="en-US" sz="1150" dirty="0"/>
          </a:p>
        </p:txBody>
      </p:sp>
      <p:sp>
        <p:nvSpPr>
          <p:cNvPr id="20" name="Text 18"/>
          <p:cNvSpPr txBox="1"/>
          <p:nvPr/>
        </p:nvSpPr>
        <p:spPr>
          <a:xfrm>
            <a:off x="6400800" y="1920240"/>
            <a:ext cx="1115568" cy="100584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approve · drop papers · reject scope (once)</a:t>
            </a:r>
            <a:endParaRPr lang="en-US" sz="950" dirty="0"/>
          </a:p>
        </p:txBody>
      </p:sp>
      <p:sp>
        <p:nvSpPr>
          <p:cNvPr id="21" name="Shape 19"/>
          <p:cNvSpPr/>
          <p:nvPr/>
        </p:nvSpPr>
        <p:spPr>
          <a:xfrm>
            <a:off x="7589520" y="1371600"/>
            <a:ext cx="1115568" cy="457200"/>
          </a:xfrm>
          <a:prstGeom prst="roundRect">
            <a:avLst>
              <a:gd name="adj" fmla="val 12000"/>
            </a:avLst>
          </a:prstGeom>
          <a:solidFill>
            <a:srgbClr val="1F3A3D"/>
          </a:solidFill>
          <a:ln w="12700">
            <a:solidFill>
              <a:srgbClr val="1F3A3D"/>
            </a:solidFill>
            <a:prstDash val="solid"/>
          </a:ln>
        </p:spPr>
        <p:txBody>
          <a:bodyPr/>
          <a:p/>
        </p:txBody>
      </p:sp>
      <p:sp>
        <p:nvSpPr>
          <p:cNvPr id="22" name="Text 20"/>
          <p:cNvSpPr txBox="1"/>
          <p:nvPr/>
        </p:nvSpPr>
        <p:spPr>
          <a:xfrm>
            <a:off x="7589520" y="1371600"/>
            <a:ext cx="1115568" cy="457200"/>
          </a:xfrm>
          <a:prstGeom prst="rect">
            <a:avLst/>
          </a:prstGeom>
          <a:noFill/>
          <a:ln/>
        </p:spPr>
        <p:txBody>
          <a:bodyPr wrap="square" lIns="508" tIns="508" rIns="508" bIns="508"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  Synthesise</a:t>
            </a:r>
            <a:endParaRPr lang="en-US" sz="1150" dirty="0"/>
          </a:p>
        </p:txBody>
      </p:sp>
      <p:sp>
        <p:nvSpPr>
          <p:cNvPr id="23" name="Text 21"/>
          <p:cNvSpPr txBox="1"/>
          <p:nvPr/>
        </p:nvSpPr>
        <p:spPr>
          <a:xfrm>
            <a:off x="7589520" y="1920240"/>
            <a:ext cx="1115568" cy="100584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notes, themes with citations, gaps, limitations</a:t>
            </a:r>
            <a:endParaRPr lang="en-US" sz="950" dirty="0"/>
          </a:p>
        </p:txBody>
      </p:sp>
      <p:sp>
        <p:nvSpPr>
          <p:cNvPr id="24" name="Shape 22"/>
          <p:cNvSpPr/>
          <p:nvPr/>
        </p:nvSpPr>
        <p:spPr>
          <a:xfrm>
            <a:off x="457200" y="3063240"/>
            <a:ext cx="3931920" cy="1554480"/>
          </a:xfrm>
          <a:prstGeom prst="roundRect">
            <a:avLst>
              <a:gd name="adj" fmla="val 4706"/>
            </a:avLst>
          </a:prstGeom>
          <a:solidFill>
            <a:srgbClr val="F7F9F9"/>
          </a:solidFill>
          <a:ln w="9525">
            <a:solidFill>
              <a:srgbClr val="DDE4E3"/>
            </a:solidFill>
            <a:prstDash val="solid"/>
          </a:ln>
        </p:spPr>
        <p:txBody>
          <a:bodyPr/>
          <a:p/>
        </p:txBody>
      </p:sp>
      <p:sp>
        <p:nvSpPr>
          <p:cNvPr id="25" name="Text 23"/>
          <p:cNvSpPr txBox="1"/>
          <p:nvPr/>
        </p:nvSpPr>
        <p:spPr>
          <a:xfrm>
            <a:off x="640080" y="3154680"/>
            <a:ext cx="3657600" cy="274320"/>
          </a:xfrm>
          <a:prstGeom prst="rect">
            <a:avLst/>
          </a:prstGeom>
          <a:noFill/>
          <a:ln/>
        </p:spPr>
        <p:txBody>
          <a:bodyPr wrap="square" lIns="0" tIns="0" rIns="0" bIns="0" rtlCol="0" anchor="t"/>
          <a:lstStyle/>
          <a:p>
            <a:pPr indent="0" marL="0">
              <a:buNone/>
            </a:pPr>
            <a:r>
              <a:rPr lang="en-US" sz="1250" b="1" dirty="0">
                <a:solidFill>
                  <a:srgbClr val="1F3A3D"/>
                </a:solidFill>
                <a:latin typeface="Calibri" pitchFamily="34" charset="0"/>
                <a:ea typeface="Calibri" pitchFamily="34" charset="-122"/>
                <a:cs typeface="Calibri" pitchFamily="34" charset="-120"/>
              </a:rPr>
              <a:t>If a search falls short - or a source fails</a:t>
            </a:r>
            <a:endParaRPr lang="en-US" sz="1250" dirty="0"/>
          </a:p>
        </p:txBody>
      </p:sp>
      <p:sp>
        <p:nvSpPr>
          <p:cNvPr id="26" name="Text 24"/>
          <p:cNvSpPr txBox="1"/>
          <p:nvPr/>
        </p:nvSpPr>
        <p:spPr>
          <a:xfrm>
            <a:off x="640080" y="3456432"/>
            <a:ext cx="3657600" cy="11430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F3A3D"/>
                </a:solidFill>
                <a:latin typeface="Calibri" pitchFamily="34" charset="0"/>
                <a:ea typeface="Calibri" pitchFamily="34" charset="-122"/>
                <a:cs typeface="Calibri" pitchFamily="34" charset="-120"/>
              </a:rPr>
              <a:t>Fewer than 5 usable records, or fewer than 5 relevant after scoring: the Planning Agent rewrites the query once, told why the search fell short - never twice</a:t>
            </a:r>
            <a:endParaRPr lang="en-US" sz="1000" dirty="0"/>
          </a:p>
          <a:p>
            <a:pPr marL="342900" indent="-342900">
              <a:spcAft>
                <a:spcPts val="500"/>
              </a:spcAft>
              <a:buSzPct val="100000"/>
              <a:buChar char="•"/>
            </a:pPr>
            <a:r>
              <a:rPr lang="en-US" sz="1000" dirty="0">
                <a:solidFill>
                  <a:srgbClr val="1F3A3D"/>
                </a:solidFill>
                <a:latin typeface="Calibri" pitchFamily="34" charset="0"/>
                <a:ea typeface="Calibri" pitchFamily="34" charset="-122"/>
                <a:cs typeface="Calibri" pitchFamily="34" charset="-120"/>
              </a:rPr>
              <a:t>A source that fails after its retries is skipped for that query and tried again on the next; the brief records it</a:t>
            </a:r>
            <a:endParaRPr lang="en-US" sz="1000" dirty="0"/>
          </a:p>
        </p:txBody>
      </p:sp>
      <p:sp>
        <p:nvSpPr>
          <p:cNvPr id="27" name="Shape 25"/>
          <p:cNvSpPr/>
          <p:nvPr/>
        </p:nvSpPr>
        <p:spPr>
          <a:xfrm>
            <a:off x="4663440" y="3063240"/>
            <a:ext cx="4023360" cy="1554480"/>
          </a:xfrm>
          <a:prstGeom prst="roundRect">
            <a:avLst>
              <a:gd name="adj" fmla="val 4706"/>
            </a:avLst>
          </a:prstGeom>
          <a:solidFill>
            <a:srgbClr val="F7F9F9"/>
          </a:solidFill>
          <a:ln w="9525">
            <a:solidFill>
              <a:srgbClr val="DDE4E3"/>
            </a:solidFill>
            <a:prstDash val="solid"/>
          </a:ln>
        </p:spPr>
        <p:txBody>
          <a:bodyPr/>
          <a:p/>
        </p:txBody>
      </p:sp>
      <p:sp>
        <p:nvSpPr>
          <p:cNvPr id="28" name="Text 26"/>
          <p:cNvSpPr txBox="1"/>
          <p:nvPr/>
        </p:nvSpPr>
        <p:spPr>
          <a:xfrm>
            <a:off x="4846320" y="3154680"/>
            <a:ext cx="3657600" cy="274320"/>
          </a:xfrm>
          <a:prstGeom prst="rect">
            <a:avLst/>
          </a:prstGeom>
          <a:noFill/>
          <a:ln/>
        </p:spPr>
        <p:txBody>
          <a:bodyPr wrap="square" lIns="0" tIns="0" rIns="0" bIns="0" rtlCol="0" anchor="t"/>
          <a:lstStyle/>
          <a:p>
            <a:pPr indent="0" marL="0">
              <a:buNone/>
            </a:pPr>
            <a:r>
              <a:rPr lang="en-US" sz="1250" b="1" dirty="0">
                <a:solidFill>
                  <a:srgbClr val="1F3A3D"/>
                </a:solidFill>
                <a:latin typeface="Calibri" pitchFamily="34" charset="0"/>
                <a:ea typeface="Calibri" pitchFamily="34" charset="-122"/>
                <a:cs typeface="Calibri" pitchFamily="34" charset="-120"/>
              </a:rPr>
              <a:t>Output</a:t>
            </a:r>
            <a:endParaRPr lang="en-US" sz="1250" dirty="0"/>
          </a:p>
        </p:txBody>
      </p:sp>
      <p:sp>
        <p:nvSpPr>
          <p:cNvPr id="29" name="Text 27"/>
          <p:cNvSpPr txBox="1"/>
          <p:nvPr/>
        </p:nvSpPr>
        <p:spPr>
          <a:xfrm>
            <a:off x="4846320" y="3456432"/>
            <a:ext cx="3657600" cy="109728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1F3A3D"/>
                </a:solidFill>
                <a:latin typeface="Calibri" pitchFamily="34" charset="0"/>
                <a:ea typeface="Calibri" pitchFamily="34" charset="-122"/>
                <a:cs typeface="Calibri" pitchFamily="34" charset="-120"/>
              </a:rPr>
              <a:t>brief.md for reading, brief.json for machines</a:t>
            </a:r>
            <a:endParaRPr lang="en-US" sz="1050" dirty="0"/>
          </a:p>
          <a:p>
            <a:pPr marL="342900" indent="-342900">
              <a:spcAft>
                <a:spcPts val="500"/>
              </a:spcAft>
              <a:buSzPct val="100000"/>
              <a:buChar char="•"/>
            </a:pPr>
            <a:r>
              <a:rPr lang="en-US" sz="1050" dirty="0">
                <a:solidFill>
                  <a:srgbClr val="1F3A3D"/>
                </a:solidFill>
                <a:latin typeface="Calibri" pitchFamily="34" charset="0"/>
                <a:ea typeface="Calibri" pitchFamily="34" charset="-122"/>
                <a:cs typeface="Calibri" pitchFamily="34" charset="-120"/>
              </a:rPr>
              <a:t>Numbered papers; notes, themes and references share the numbering</a:t>
            </a:r>
            <a:endParaRPr lang="en-US" sz="1050" dirty="0"/>
          </a:p>
          <a:p>
            <a:pPr marL="342900" indent="-342900">
              <a:spcAft>
                <a:spcPts val="500"/>
              </a:spcAft>
              <a:buSzPct val="100000"/>
              <a:buChar char="•"/>
            </a:pPr>
            <a:r>
              <a:rPr lang="en-US" sz="1050" dirty="0">
                <a:solidFill>
                  <a:srgbClr val="1F3A3D"/>
                </a:solidFill>
                <a:latin typeface="Calibri" pitchFamily="34" charset="0"/>
                <a:ea typeface="Calibri" pitchFamily="34" charset="-122"/>
                <a:cs typeface="Calibri" pitchFamily="34" charset="-120"/>
              </a:rPr>
              <a:t>run.log records every decision the agents made</a:t>
            </a:r>
            <a:endParaRPr lang="en-US" sz="1050" dirty="0"/>
          </a:p>
        </p:txBody>
      </p:sp>
      <p:sp>
        <p:nvSpPr>
          <p:cNvPr id="30" name="Text 28"/>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4 / 10</a:t>
            </a:r>
            <a:endParaRPr lang="en-US" sz="900" dirty="0"/>
          </a:p>
        </p:txBody>
      </p:sp>
      <p:sp>
        <p:nvSpPr>
          <p:cNvPr id="31" name="Run command"/>
          <p:cNvSpPr txBox="1"/>
          <p:nvPr/>
        </p:nvSpPr>
        <p:spPr>
          <a:xfrm>
            <a:off x="457200" y="2578608"/>
            <a:ext cx="8229600" cy="274320"/>
          </a:xfrm>
          <a:prstGeom prst="rect">
            <a:avLst/>
          </a:prstGeom>
          <a:noFill/>
        </p:spPr>
        <p:txBody>
          <a:bodyPr wrap="none">
            <a:spAutoFit/>
          </a:bodyPr>
          <a:lstStyle/>
          <a:p>
            <a:r>
              <a:rPr sz="860">
                <a:solidFill>
                  <a:srgbClr val="1F3A3D"/>
                </a:solidFill>
                <a:latin typeface="Courier New"/>
              </a:rPr>
              <a:t>One command starts it:   python main.py "What approaches reduce hallucination in LLM-based autonomous agents?"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Demo 1 - planning and the first review</a:t>
            </a:r>
            <a:endParaRPr lang="en-US" sz="3000" dirty="0"/>
          </a:p>
        </p:txBody>
      </p:sp>
      <p:pic>
        <p:nvPicPr>
          <p:cNvPr id="14" name="Picture 13" descr="slide5_review1_crop.png"/>
          <p:cNvPicPr>
            <a:picLocks noChangeAspect="1"/>
          </p:cNvPicPr>
          <p:nvPr/>
        </p:nvPicPr>
        <p:blipFill>
          <a:blip r:embed="rId4"/>
          <a:stretch>
            <a:fillRect/>
          </a:stretch>
        </p:blipFill>
        <p:spPr>
          <a:xfrm>
            <a:off x="457200" y="1097280"/>
            <a:ext cx="8229600" cy="1753582"/>
          </a:xfrm>
          <a:prstGeom prst="rect">
            <a:avLst/>
          </a:prstGeom>
        </p:spPr>
      </p:pic>
      <p:sp>
        <p:nvSpPr>
          <p:cNvPr id="4" name="Shape 1"/>
          <p:cNvSpPr/>
          <p:nvPr/>
        </p:nvSpPr>
        <p:spPr>
          <a:xfrm>
            <a:off x="457200" y="3172968"/>
            <a:ext cx="2560320" cy="1444752"/>
          </a:xfrm>
          <a:prstGeom prst="roundRect">
            <a:avLst>
              <a:gd name="adj" fmla="val 4571"/>
            </a:avLst>
          </a:prstGeom>
          <a:solidFill>
            <a:srgbClr val="F7F9F9"/>
          </a:solidFill>
          <a:ln w="9525">
            <a:solidFill>
              <a:srgbClr val="DDE4E3"/>
            </a:solidFill>
            <a:prstDash val="solid"/>
          </a:ln>
        </p:spPr>
      </p:sp>
      <p:sp>
        <p:nvSpPr>
          <p:cNvPr id="5" name="Text 2"/>
          <p:cNvSpPr txBox="1"/>
          <p:nvPr/>
        </p:nvSpPr>
        <p:spPr>
          <a:xfrm>
            <a:off x="594360" y="3264408"/>
            <a:ext cx="2286000" cy="457200"/>
          </a:xfrm>
          <a:prstGeom prst="rect">
            <a:avLst/>
          </a:prstGeom>
          <a:noFill/>
          <a:ln/>
        </p:spPr>
        <p:txBody>
          <a:bodyPr wrap="square" lIns="0" tIns="0" rIns="0" bIns="0" rtlCol="0" anchor="t"/>
          <a:lstStyle/>
          <a:p>
            <a:pPr indent="0" marL="0">
              <a:buNone/>
            </a:pPr>
            <a:r>
              <a:rPr lang="en-US" sz="1150" b="1" dirty="0">
                <a:solidFill>
                  <a:srgbClr val="1F3A3D"/>
                </a:solidFill>
                <a:latin typeface="Calibri" pitchFamily="34" charset="0"/>
                <a:ea typeface="Calibri" pitchFamily="34" charset="-122"/>
                <a:cs typeface="Calibri" pitchFamily="34" charset="-120"/>
              </a:rPr>
              <a:t>The Lite model's plan</a:t>
            </a:r>
            <a:endParaRPr lang="en-US" sz="1150" dirty="0"/>
          </a:p>
        </p:txBody>
      </p:sp>
      <p:sp>
        <p:nvSpPr>
          <p:cNvPr id="6" name="Text 3"/>
          <p:cNvSpPr txBox="1"/>
          <p:nvPr/>
        </p:nvSpPr>
        <p:spPr>
          <a:xfrm>
            <a:off x="594360" y="3721608"/>
            <a:ext cx="2286000" cy="850392"/>
          </a:xfrm>
          <a:prstGeom prst="rect">
            <a:avLst/>
          </a:prstGeom>
          <a:noFill/>
          <a:ln/>
        </p:spPr>
        <p:txBody>
          <a:bodyPr wrap="square" lIns="0" tIns="0" rIns="0" bIns="0" rtlCol="0" anchor="t"/>
          <a:lstStyle/>
          <a:p>
            <a:pPr indent="0" marL="0">
              <a:buNone/>
            </a:pPr>
            <a:r>
              <a:rPr lang="en-US" sz="1000" dirty="0">
                <a:solidFill>
                  <a:srgbClr val="5F6F70"/>
                </a:solidFill>
                <a:latin typeface="Calibri" pitchFamily="34" charset="0"/>
                <a:ea typeface="Calibri" pitchFamily="34" charset="-122"/>
                <a:cs typeface="Calibri" pitchFamily="34" charset="-120"/>
              </a:rPr>
              <a:t>On the Lite model (23 Sept) the four sub-questions became: prompting and reasoning · retrieval and tools · self-correction and memory · evaluation. The 30 Sept run on the next two slides reused that plan.</a:t>
            </a:r>
            <a:endParaRPr lang="en-US" sz="1000" dirty="0"/>
          </a:p>
        </p:txBody>
      </p:sp>
      <p:sp>
        <p:nvSpPr>
          <p:cNvPr id="7" name="Shape 4"/>
          <p:cNvSpPr/>
          <p:nvPr/>
        </p:nvSpPr>
        <p:spPr>
          <a:xfrm>
            <a:off x="3291840" y="3172968"/>
            <a:ext cx="2560320" cy="1444752"/>
          </a:xfrm>
          <a:prstGeom prst="roundRect">
            <a:avLst>
              <a:gd name="adj" fmla="val 4571"/>
            </a:avLst>
          </a:prstGeom>
          <a:solidFill>
            <a:srgbClr val="F7F9F9"/>
          </a:solidFill>
          <a:ln w="9525">
            <a:solidFill>
              <a:srgbClr val="DDE4E3"/>
            </a:solidFill>
            <a:prstDash val="solid"/>
          </a:ln>
        </p:spPr>
      </p:sp>
      <p:sp>
        <p:nvSpPr>
          <p:cNvPr id="8" name="Text 5"/>
          <p:cNvSpPr txBox="1"/>
          <p:nvPr/>
        </p:nvSpPr>
        <p:spPr>
          <a:xfrm>
            <a:off x="3429000" y="3264408"/>
            <a:ext cx="2286000" cy="457200"/>
          </a:xfrm>
          <a:prstGeom prst="rect">
            <a:avLst/>
          </a:prstGeom>
          <a:noFill/>
          <a:ln/>
        </p:spPr>
        <p:txBody>
          <a:bodyPr wrap="square" lIns="0" tIns="0" rIns="0" bIns="0" rtlCol="0" anchor="t"/>
          <a:lstStyle/>
          <a:p>
            <a:pPr indent="0" marL="0">
              <a:buNone/>
            </a:pPr>
            <a:r>
              <a:rPr lang="en-US" sz="1150" b="1" dirty="0">
                <a:solidFill>
                  <a:srgbClr val="1F3A3D"/>
                </a:solidFill>
                <a:latin typeface="Calibri" pitchFamily="34" charset="0"/>
                <a:ea typeface="Calibri" pitchFamily="34" charset="-122"/>
                <a:cs typeface="Calibri" pitchFamily="34" charset="-120"/>
              </a:rPr>
              <a:t>Shown before anything is searched</a:t>
            </a:r>
            <a:endParaRPr lang="en-US" sz="1150" dirty="0"/>
          </a:p>
        </p:txBody>
      </p:sp>
      <p:sp>
        <p:nvSpPr>
          <p:cNvPr id="9" name="Text 6"/>
          <p:cNvSpPr txBox="1"/>
          <p:nvPr/>
        </p:nvSpPr>
        <p:spPr>
          <a:xfrm>
            <a:off x="3429000" y="3721608"/>
            <a:ext cx="2286000" cy="850392"/>
          </a:xfrm>
          <a:prstGeom prst="rect">
            <a:avLst/>
          </a:prstGeom>
          <a:noFill/>
          <a:ln/>
        </p:spPr>
        <p:txBody>
          <a:bodyPr wrap="square" lIns="0" tIns="0" rIns="0" bIns="0" rtlCol="0" anchor="t"/>
          <a:lstStyle/>
          <a:p>
            <a:pPr indent="0" marL="0">
              <a:buNone/>
            </a:pPr>
            <a:r>
              <a:rPr lang="en-US" sz="1000" dirty="0">
                <a:solidFill>
                  <a:srgbClr val="5F6F70"/>
                </a:solidFill>
                <a:latin typeface="Calibri" pitchFamily="34" charset="0"/>
                <a:ea typeface="Calibri" pitchFamily="34" charset="-122"/>
                <a:cs typeface="Calibri" pitchFamily="34" charset="-120"/>
              </a:rPr>
              <a:t>The researcher sees exactly what will be searched. Nothing has been searched yet, so the review loop is unlimited; each revision costs one model request and produces a new plan.</a:t>
            </a:r>
            <a:endParaRPr lang="en-US" sz="1000" dirty="0"/>
          </a:p>
        </p:txBody>
      </p:sp>
      <p:sp>
        <p:nvSpPr>
          <p:cNvPr id="10" name="Shape 7"/>
          <p:cNvSpPr/>
          <p:nvPr/>
        </p:nvSpPr>
        <p:spPr>
          <a:xfrm>
            <a:off x="6126480" y="3172968"/>
            <a:ext cx="2560320" cy="1444752"/>
          </a:xfrm>
          <a:prstGeom prst="roundRect">
            <a:avLst>
              <a:gd name="adj" fmla="val 4571"/>
            </a:avLst>
          </a:prstGeom>
          <a:solidFill>
            <a:srgbClr val="F7F9F9"/>
          </a:solidFill>
          <a:ln w="9525">
            <a:solidFill>
              <a:srgbClr val="DDE4E3"/>
            </a:solidFill>
            <a:prstDash val="solid"/>
          </a:ln>
        </p:spPr>
      </p:sp>
      <p:sp>
        <p:nvSpPr>
          <p:cNvPr id="11" name="Text 8"/>
          <p:cNvSpPr txBox="1"/>
          <p:nvPr/>
        </p:nvSpPr>
        <p:spPr>
          <a:xfrm>
            <a:off x="6263640" y="3264408"/>
            <a:ext cx="2286000" cy="457200"/>
          </a:xfrm>
          <a:prstGeom prst="rect">
            <a:avLst/>
          </a:prstGeom>
          <a:noFill/>
          <a:ln/>
        </p:spPr>
        <p:txBody>
          <a:bodyPr wrap="square" lIns="0" tIns="0" rIns="0" bIns="0" rtlCol="0" anchor="t"/>
          <a:lstStyle/>
          <a:p>
            <a:pPr indent="0" marL="0">
              <a:buNone/>
            </a:pPr>
            <a:r>
              <a:rPr lang="en-US" sz="1150" b="1" dirty="0">
                <a:solidFill>
                  <a:srgbClr val="1F3A3D"/>
                </a:solidFill>
                <a:latin typeface="Calibri" pitchFamily="34" charset="0"/>
                <a:ea typeface="Calibri" pitchFamily="34" charset="-122"/>
                <a:cs typeface="Calibri" pitchFamily="34" charset="-120"/>
              </a:rPr>
              <a:t>Read again on 1 Oct</a:t>
            </a:r>
            <a:endParaRPr lang="en-US" sz="1150" dirty="0"/>
          </a:p>
        </p:txBody>
      </p:sp>
      <p:sp>
        <p:nvSpPr>
          <p:cNvPr id="12" name="Text 9"/>
          <p:cNvSpPr txBox="1"/>
          <p:nvPr/>
        </p:nvSpPr>
        <p:spPr>
          <a:xfrm>
            <a:off x="6263640" y="3721608"/>
            <a:ext cx="2286000" cy="850392"/>
          </a:xfrm>
          <a:prstGeom prst="rect">
            <a:avLst/>
          </a:prstGeom>
          <a:noFill/>
          <a:ln/>
        </p:spPr>
        <p:txBody>
          <a:bodyPr wrap="square" lIns="0" tIns="0" rIns="0" bIns="0" rtlCol="0" anchor="t"/>
          <a:lstStyle/>
          <a:p>
            <a:pPr indent="0" marL="0">
              <a:buNone/>
            </a:pPr>
            <a:r>
              <a:rPr lang="en-US" sz="1000" dirty="0">
                <a:solidFill>
                  <a:srgbClr val="5F6F70"/>
                </a:solidFill>
                <a:latin typeface="Calibri" pitchFamily="34" charset="0"/>
                <a:ea typeface="Calibri" pitchFamily="34" charset="-122"/>
                <a:cs typeface="Calibri" pitchFamily="34" charset="-120"/>
              </a:rPr>
              <a:t>The revision prompt lacked the plan under review, so 'merge 3 and 4' just dropped the old third sub-question. Fixed: on 2 Oct (FT-12) 1 and 2 stayed word for word; 3 and 4 were combined, minus 'memory'.</a:t>
            </a:r>
            <a:endParaRPr lang="en-US" sz="1000" dirty="0"/>
          </a:p>
        </p:txBody>
      </p:sp>
      <p:sp>
        <p:nvSpPr>
          <p:cNvPr id="13" name="Text 10"/>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5 / 10</a:t>
            </a:r>
            <a:endParaRPr lang="en-US" sz="900" dirty="0"/>
          </a:p>
        </p:txBody>
      </p:sp>
      <p:sp>
        <p:nvSpPr>
          <p:cNvPr id="6" name="Text 3"/>
          <p:cNvSpPr txBox="1"/>
          <p:nvPr/>
        </p:nvSpPr>
        <p:spPr>
          <a:xfrm>
            <a:off x="457200" y="2935224"/>
            <a:ext cx="8229600" cy="219456"/>
          </a:xfrm>
          <a:prstGeom prst="rect">
            <a:avLst/>
          </a:prstGeom>
          <a:noFill/>
          <a:ln/>
        </p:spPr>
        <p:txBody>
          <a:bodyPr wrap="square" lIns="0" tIns="0" rIns="0" bIns="0" rtlCol="0" anchor="t"/>
          <a:lstStyle/>
          <a:p>
            <a:pPr indent="0" marL="0">
              <a:buNone/>
            </a:pPr>
            <a:r>
              <a:rPr lang="en-US" sz="950" i="1" dirty="0">
                <a:solidFill>
                  <a:srgbClr val="5F6F70"/>
                </a:solidFill>
                <a:latin typeface="Calibri" pitchFamily="34" charset="0"/>
                <a:ea typeface="Calibri" pitchFamily="34" charset="-122"/>
                <a:cs typeface="Calibri" pitchFamily="34" charset="-120"/>
              </a:rPr>
              <a:t>Screenshot: Review 1 on 15 Sept, on gemini-3.6-flash. The Lite model later planned the same question differently (first box).</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Demo 2 - two sources, verify, score, retry once</a:t>
            </a:r>
            <a:endParaRPr lang="en-US" sz="3000" dirty="0"/>
          </a:p>
        </p:txBody>
      </p:sp>
      <p:sp>
        <p:nvSpPr>
          <p:cNvPr id="4" name="Code panel"/>
          <p:cNvSpPr/>
          <p:nvPr/>
        </p:nvSpPr>
        <p:spPr>
          <a:xfrm>
            <a:off x="457200" y="1051560"/>
            <a:ext cx="5669280" cy="1682496"/>
          </a:xfrm>
          <a:prstGeom prst="roundRect">
            <a:avLst>
              <a:gd name="adj" fmla="val 3704"/>
            </a:avLst>
          </a:prstGeom>
          <a:solidFill>
            <a:srgbClr val="17292B"/>
          </a:solidFill>
          <a:ln w="12700">
            <a:solidFill>
              <a:srgbClr val="17292B"/>
            </a:solidFill>
            <a:prstDash val="solid"/>
          </a:ln>
        </p:spPr>
        <p:txBody>
          <a:bodyPr/>
          <a:p/>
        </p:txBody>
      </p:sp>
      <p:sp>
        <p:nvSpPr>
          <p:cNvPr id="5" name="Code text"/>
          <p:cNvSpPr txBox="1"/>
          <p:nvPr/>
        </p:nvSpPr>
        <p:spPr>
          <a:xfrm>
            <a:off x="566928" y="1106424"/>
            <a:ext cx="5449824" cy="1572768"/>
          </a:xfrm>
          <a:prstGeom prst="rect">
            <a:avLst/>
          </a:prstGeom>
          <a:noFill/>
          <a:ln/>
        </p:spPr>
        <p:txBody>
          <a:bodyPr wrap="square" lIns="0" tIns="0" rIns="0" bIns="0" rtlCol="0" anchor="t"/>
          <a:lstStyle/>
          <a:p>
            <a:pPr indent="0" marL="0">
              <a:buNone/>
            </a:pPr>
            <a:r>
              <a:rPr lang="en-US" sz="760" dirty="0">
                <a:solidFill>
                  <a:srgbClr val="8FB3AE"/>
                </a:solidFill>
                <a:latin typeface="Courier New" pitchFamily="34" charset="0"/>
                <a:ea typeface="Courier New" pitchFamily="34" charset="-122"/>
                <a:cs typeface="Courier New" pitchFamily="34" charset="-120"/>
              </a:rPr>
              <a:t># agents/orchestrator.py, _gather_evidence() - excerpt, comments as in the file</a:t>
            </a:r>
            <a:endParaRPr lang="en-US" sz="720" dirty="0"/>
          </a:p>
          <a:p>
            <a:pPr indent="0" marL="0">
              <a:buNone/>
            </a:pPr>
            <a:r>
              <a:rPr lang="en-US" sz="760" dirty="0">
                <a:solidFill>
                  <a:srgbClr val="8FB3AE"/>
                </a:solidFill>
                <a:latin typeface="Courier New" pitchFamily="34" charset="0"/>
                <a:ea typeface="Courier New" pitchFamily="34" charset="-122"/>
                <a:cs typeface="Courier New" pitchFamily="34" charset="-120"/>
              </a:rPr>
              <a:t># Trigger 1 - the Retrieval Agent's own goal check: enough usable records?</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if not self.retriever.assess_threshold(found) and self._may_reformulate(sq):</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    sq = self._reformulate(plan, idx, self.retriever.reformulation_reason(found), question)</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    found += self.retriever.retrieve_evidence(sq)</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new = validation.validate_dois_and_metadata(self._novel(found, seen))</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assessed = self.evaluator.evaluate_evidence(question, [sq], new)</a:t>
            </a:r>
            <a:endParaRPr lang="en-US" sz="720" dirty="0"/>
          </a:p>
          <a:p>
            <a:pPr indent="0" marL="0">
              <a:buNone/>
            </a:pPr>
            <a:r>
              <a:rPr lang="en-US" sz="760" dirty="0">
                <a:solidFill>
                  <a:srgbClr val="8FB3AE"/>
                </a:solidFill>
                <a:latin typeface="Courier New" pitchFamily="34" charset="0"/>
                <a:ea typeface="Courier New" pitchFamily="34" charset="-122"/>
                <a:cs typeface="Courier New" pitchFamily="34" charset="-120"/>
              </a:rPr>
              <a:t># Trigger 2 - the orchestrator's check after screening: enough *relevant* records?</a:t>
            </a:r>
            <a:endParaRPr lang="en-US" sz="720" dirty="0"/>
          </a:p>
          <a:p>
            <a:pPr indent="0" marL="0">
              <a:buNone/>
            </a:pPr>
            <a:r>
              <a:rPr lang="en-US" sz="760" dirty="0">
                <a:solidFill>
                  <a:srgbClr val="8FB3AE"/>
                </a:solidFill>
                <a:latin typeface="Courier New" pitchFamily="34" charset="0"/>
                <a:ea typeface="Courier New" pitchFamily="34" charset="-122"/>
                <a:cs typeface="Courier New" pitchFamily="34" charset="-120"/>
              </a:rPr>
              <a:t># Stage 4's live run showed why this matters: sub-question 4's search returned 20</a:t>
            </a:r>
            <a:endParaRPr lang="en-US" sz="720" dirty="0"/>
          </a:p>
          <a:p>
            <a:pPr indent="0" marL="0">
              <a:buNone/>
            </a:pPr>
            <a:r>
              <a:rPr lang="en-US" sz="760" dirty="0">
                <a:solidFill>
                  <a:srgbClr val="8FB3AE"/>
                </a:solidFill>
                <a:latin typeface="Courier New" pitchFamily="34" charset="0"/>
                <a:ea typeface="Courier New" pitchFamily="34" charset="-122"/>
                <a:cs typeface="Courier New" pitchFamily="34" charset="-120"/>
              </a:rPr>
              <a:t># abstracts, 12 of them new, and only one answered it. Same single-retry budget.</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relevant = sum(1 for a in assessed if a.selected)</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if relevant &lt; config.RETRIEVAL_THRESHOLD and self._may_reformulate(sq):</a:t>
            </a:r>
            <a:endParaRPr lang="en-US" sz="720" dirty="0"/>
          </a:p>
          <a:p>
            <a:pPr indent="0" marL="0">
              <a:buNone/>
            </a:pPr>
            <a:r>
              <a:rPr lang="en-US" sz="760" dirty="0">
                <a:solidFill>
                  <a:srgbClr val="E6EFEE"/>
                </a:solidFill>
                <a:latin typeface="Courier New" pitchFamily="34" charset="0"/>
                <a:ea typeface="Courier New" pitchFamily="34" charset="-122"/>
                <a:cs typeface="Courier New" pitchFamily="34" charset="-120"/>
              </a:rPr>
              <a:t>    ...   # same rewrite, then search and score the new query</a:t>
            </a:r>
            <a:endParaRPr lang="en-US" sz="720" dirty="0"/>
          </a:p>
        </p:txBody>
      </p:sp>
      <p:sp>
        <p:nvSpPr>
          <p:cNvPr id="4" name="Shape 1"/>
          <p:cNvSpPr/>
          <p:nvPr/>
        </p:nvSpPr>
        <p:spPr>
          <a:xfrm>
            <a:off x="457200" y="2788920"/>
            <a:ext cx="5669280" cy="1481328"/>
          </a:xfrm>
          <a:prstGeom prst="roundRect">
            <a:avLst>
              <a:gd name="adj" fmla="val 3704"/>
            </a:avLst>
          </a:prstGeom>
          <a:solidFill>
            <a:srgbClr val="17292B"/>
          </a:solidFill>
          <a:ln w="12700">
            <a:solidFill>
              <a:srgbClr val="17292B"/>
            </a:solidFill>
            <a:prstDash val="solid"/>
          </a:ln>
        </p:spPr>
        <p:txBody>
          <a:bodyPr/>
          <a:p/>
        </p:txBody>
      </p:sp>
      <p:sp>
        <p:nvSpPr>
          <p:cNvPr id="5" name="Text 2"/>
          <p:cNvSpPr txBox="1"/>
          <p:nvPr/>
        </p:nvSpPr>
        <p:spPr>
          <a:xfrm>
            <a:off x="566928" y="2862072"/>
            <a:ext cx="5449824" cy="1335024"/>
          </a:xfrm>
          <a:prstGeom prst="rect">
            <a:avLst/>
          </a:prstGeom>
          <a:noFill/>
          <a:ln/>
        </p:spPr>
        <p:txBody>
          <a:bodyPr wrap="square" lIns="0" tIns="0" rIns="0" bIns="0" rtlCol="0" anchor="t"/>
          <a:lstStyle/>
          <a:p>
            <a:pPr indent="0" marL="0">
              <a:buNone/>
            </a:pPr>
            <a:r>
              <a:rPr lang="en-US" sz="720" dirty="0">
                <a:solidFill>
                  <a:srgbClr val="8FB3AE"/>
                </a:solidFill>
                <a:latin typeface="Courier New" pitchFamily="34" charset="0"/>
                <a:ea typeface="Courier New" pitchFamily="34" charset="-122"/>
                <a:cs typeface="Courier New" pitchFamily="34" charset="-120"/>
              </a:rPr>
              <a:t># run.log, 30 Sept 10:11-10:15 (abridged: no timestamps, ... marks a cut)</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retrieval | retrieving | subquestion=1 | ... | sources=openalex,semanticscholar</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retrieval | retrieved  | subquestion=1 | source=openalex | records=20 | with_abstract=20</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http      | semanticscholar | HTTP 429 (transient) - retry 4/4 in 24s</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retrieval | subquestion=1 | source=semanticscholar failed (... after 4 retries</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            (last problem: HTTP 429)) - continuing with remaining sources</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orchestr. | threshold | subquestion=4 | the query returned 8 records but only 2 were relevant</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            (minimum 5); ... | reformulating (1 of 1 allowed)</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retrieval | retrieved | subquestion=4 | sources_answered=openalex,semanticscholar | records=40 ...</a:t>
            </a:r>
            <a:endParaRPr lang="en-US" sz="720" dirty="0"/>
          </a:p>
          <a:p>
            <a:pPr indent="0" marL="0">
              <a:buNone/>
            </a:pPr>
            <a:r>
              <a:rPr lang="en-US" sz="720" dirty="0">
                <a:solidFill>
                  <a:srgbClr val="E6EFEE"/>
                </a:solidFill>
                <a:latin typeface="Courier New" pitchFamily="34" charset="0"/>
                <a:ea typeface="Courier New" pitchFamily="34" charset="-122"/>
                <a:cs typeface="Courier New" pitchFamily="34" charset="-120"/>
              </a:rPr>
              <a:t>orchestr. | threshold | subquestion=4 | after reformulation: 33 new records, 20 relevant</a:t>
            </a:r>
            <a:endParaRPr lang="en-US" sz="720" dirty="0"/>
          </a:p>
        </p:txBody>
      </p:sp>
      <p:sp>
        <p:nvSpPr>
          <p:cNvPr id="6" name="Text 3"/>
          <p:cNvSpPr txBox="1"/>
          <p:nvPr/>
        </p:nvSpPr>
        <p:spPr>
          <a:xfrm>
            <a:off x="457200" y="4315968"/>
            <a:ext cx="5669280" cy="365760"/>
          </a:xfrm>
          <a:prstGeom prst="rect">
            <a:avLst/>
          </a:prstGeom>
          <a:noFill/>
          <a:ln/>
        </p:spPr>
        <p:txBody>
          <a:bodyPr wrap="square" lIns="0" tIns="0" rIns="0" bIns="0" rtlCol="0" anchor="t"/>
          <a:lstStyle/>
          <a:p>
            <a:pPr indent="0" marL="0">
              <a:buNone/>
            </a:pPr>
            <a:r>
              <a:rPr lang="en-US" sz="950" i="1" dirty="0">
                <a:solidFill>
                  <a:srgbClr val="5F6F70"/>
                </a:solidFill>
                <a:latin typeface="Calibri" pitchFamily="34" charset="0"/>
                <a:ea typeface="Calibri" pitchFamily="34" charset="-122"/>
                <a:cs typeface="Calibri" pitchFamily="34" charset="-120"/>
              </a:rPr>
              <a:t>Above: the code that decides on the one query rewrite, as submitted.  Below: run.log, 30 Sept - a source failing over, and that rewrite with both sources answering.</a:t>
            </a:r>
            <a:endParaRPr lang="en-US" sz="950" dirty="0"/>
          </a:p>
        </p:txBody>
      </p:sp>
      <p:sp>
        <p:nvSpPr>
          <p:cNvPr id="7" name="Shape 4"/>
          <p:cNvSpPr/>
          <p:nvPr/>
        </p:nvSpPr>
        <p:spPr>
          <a:xfrm>
            <a:off x="6400800" y="1097280"/>
            <a:ext cx="2286000" cy="3520440"/>
          </a:xfrm>
          <a:prstGeom prst="roundRect">
            <a:avLst>
              <a:gd name="adj" fmla="val 3200"/>
            </a:avLst>
          </a:prstGeom>
          <a:solidFill>
            <a:srgbClr val="EEF3F2"/>
          </a:solidFill>
          <a:ln w="9525">
            <a:solidFill>
              <a:srgbClr val="DDE4E3"/>
            </a:solidFill>
            <a:prstDash val="solid"/>
          </a:ln>
        </p:spPr>
        <p:txBody>
          <a:bodyPr/>
          <a:p/>
        </p:txBody>
      </p:sp>
      <p:sp>
        <p:nvSpPr>
          <p:cNvPr id="8" name="Text 5"/>
          <p:cNvSpPr txBox="1"/>
          <p:nvPr/>
        </p:nvSpPr>
        <p:spPr>
          <a:xfrm>
            <a:off x="6492240" y="1188720"/>
            <a:ext cx="2103120" cy="365760"/>
          </a:xfrm>
          <a:prstGeom prst="rect">
            <a:avLst/>
          </a:prstGeom>
          <a:noFill/>
          <a:ln/>
        </p:spPr>
        <p:txBody>
          <a:bodyPr wrap="square" lIns="0" tIns="0" rIns="0" bIns="0" rtlCol="0" anchor="ctr"/>
          <a:lstStyle/>
          <a:p>
            <a:pPr indent="0" marL="0">
              <a:buNone/>
            </a:pPr>
            <a:r>
              <a:rPr lang="en-US" sz="1900" b="1" dirty="0">
                <a:solidFill>
                  <a:srgbClr val="1F3A3D"/>
                </a:solidFill>
                <a:latin typeface="Cambria" pitchFamily="34" charset="0"/>
                <a:ea typeface="Cambria" pitchFamily="34" charset="-122"/>
                <a:cs typeface="Cambria" pitchFamily="34" charset="-120"/>
              </a:rPr>
              <a:t>140 → 117</a:t>
            </a:r>
            <a:endParaRPr lang="en-US" sz="1900" dirty="0"/>
          </a:p>
        </p:txBody>
      </p:sp>
      <p:sp>
        <p:nvSpPr>
          <p:cNvPr id="9" name="Text 6"/>
          <p:cNvSpPr txBox="1"/>
          <p:nvPr/>
        </p:nvSpPr>
        <p:spPr>
          <a:xfrm>
            <a:off x="6492240" y="1554480"/>
            <a:ext cx="2103120" cy="50292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records from 2 sources → unique papers</a:t>
            </a:r>
            <a:endParaRPr lang="en-US" sz="950" dirty="0"/>
          </a:p>
        </p:txBody>
      </p:sp>
      <p:sp>
        <p:nvSpPr>
          <p:cNvPr id="10" name="Text 7"/>
          <p:cNvSpPr txBox="1"/>
          <p:nvPr/>
        </p:nvSpPr>
        <p:spPr>
          <a:xfrm>
            <a:off x="6492240" y="2057400"/>
            <a:ext cx="2103120" cy="365760"/>
          </a:xfrm>
          <a:prstGeom prst="rect">
            <a:avLst/>
          </a:prstGeom>
          <a:noFill/>
          <a:ln/>
        </p:spPr>
        <p:txBody>
          <a:bodyPr wrap="square" lIns="0" tIns="0" rIns="0" bIns="0" rtlCol="0" anchor="ctr"/>
          <a:lstStyle/>
          <a:p>
            <a:pPr indent="0" marL="0">
              <a:buNone/>
            </a:pPr>
            <a:r>
              <a:rPr lang="en-US" sz="1900" b="1" dirty="0">
                <a:solidFill>
                  <a:srgbClr val="1F3A3D"/>
                </a:solidFill>
                <a:latin typeface="Cambria" pitchFamily="34" charset="0"/>
                <a:ea typeface="Cambria" pitchFamily="34" charset="-122"/>
                <a:cs typeface="Cambria" pitchFamily="34" charset="-120"/>
              </a:rPr>
              <a:t>78 / 117</a:t>
            </a:r>
            <a:endParaRPr lang="en-US" sz="1900" dirty="0"/>
          </a:p>
        </p:txBody>
      </p:sp>
      <p:sp>
        <p:nvSpPr>
          <p:cNvPr id="11" name="Text 8"/>
          <p:cNvSpPr txBox="1"/>
          <p:nvPr/>
        </p:nvSpPr>
        <p:spPr>
          <a:xfrm>
            <a:off x="6492240" y="2423160"/>
            <a:ext cx="2103120" cy="50292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papers with a DOI verified in Crossref; the rest flagged, never dropped</a:t>
            </a:r>
            <a:endParaRPr lang="en-US" sz="950" dirty="0"/>
          </a:p>
        </p:txBody>
      </p:sp>
      <p:sp>
        <p:nvSpPr>
          <p:cNvPr id="12" name="Text 9"/>
          <p:cNvSpPr txBox="1"/>
          <p:nvPr/>
        </p:nvSpPr>
        <p:spPr>
          <a:xfrm>
            <a:off x="6492240" y="2926080"/>
            <a:ext cx="2103120" cy="365760"/>
          </a:xfrm>
          <a:prstGeom prst="rect">
            <a:avLst/>
          </a:prstGeom>
          <a:noFill/>
          <a:ln/>
        </p:spPr>
        <p:txBody>
          <a:bodyPr wrap="square" lIns="0" tIns="0" rIns="0" bIns="0" rtlCol="0" anchor="ctr"/>
          <a:lstStyle/>
          <a:p>
            <a:pPr indent="0" marL="0">
              <a:buNone/>
            </a:pPr>
            <a:r>
              <a:rPr lang="en-US" sz="1900" b="1" dirty="0">
                <a:solidFill>
                  <a:srgbClr val="1F3A3D"/>
                </a:solidFill>
                <a:latin typeface="Cambria" pitchFamily="34" charset="0"/>
                <a:ea typeface="Cambria" pitchFamily="34" charset="-122"/>
                <a:cs typeface="Cambria" pitchFamily="34" charset="-120"/>
              </a:rPr>
              <a:t>77 kept</a:t>
            </a:r>
            <a:endParaRPr lang="en-US" sz="1900" dirty="0"/>
          </a:p>
        </p:txBody>
      </p:sp>
      <p:sp>
        <p:nvSpPr>
          <p:cNvPr id="13" name="Text 10"/>
          <p:cNvSpPr txBox="1"/>
          <p:nvPr/>
        </p:nvSpPr>
        <p:spPr>
          <a:xfrm>
            <a:off x="6492240" y="3291840"/>
            <a:ext cx="2103120" cy="50292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of 117 at cut-off 3/5, each with a reason</a:t>
            </a:r>
            <a:endParaRPr lang="en-US" sz="950" dirty="0"/>
          </a:p>
        </p:txBody>
      </p:sp>
      <p:sp>
        <p:nvSpPr>
          <p:cNvPr id="14" name="Text 11"/>
          <p:cNvSpPr txBox="1"/>
          <p:nvPr/>
        </p:nvSpPr>
        <p:spPr>
          <a:xfrm>
            <a:off x="6492240" y="3794760"/>
            <a:ext cx="2103120" cy="365760"/>
          </a:xfrm>
          <a:prstGeom prst="rect">
            <a:avLst/>
          </a:prstGeom>
          <a:noFill/>
          <a:ln/>
        </p:spPr>
        <p:txBody>
          <a:bodyPr wrap="square" lIns="0" tIns="0" rIns="0" bIns="0" rtlCol="0" anchor="ctr"/>
          <a:lstStyle/>
          <a:p>
            <a:pPr indent="0" marL="0">
              <a:buNone/>
            </a:pPr>
            <a:r>
              <a:rPr lang="en-US" sz="1900" b="1" dirty="0">
                <a:solidFill>
                  <a:srgbClr val="1F3A3D"/>
                </a:solidFill>
                <a:latin typeface="Cambria" pitchFamily="34" charset="0"/>
                <a:ea typeface="Cambria" pitchFamily="34" charset="-122"/>
                <a:cs typeface="Cambria" pitchFamily="34" charset="-120"/>
              </a:rPr>
              <a:t>2 → 22</a:t>
            </a:r>
            <a:endParaRPr lang="en-US" sz="1900" dirty="0"/>
          </a:p>
        </p:txBody>
      </p:sp>
      <p:sp>
        <p:nvSpPr>
          <p:cNvPr id="15" name="Text 12"/>
          <p:cNvSpPr txBox="1"/>
          <p:nvPr/>
        </p:nvSpPr>
        <p:spPr>
          <a:xfrm>
            <a:off x="6492240" y="4160520"/>
            <a:ext cx="2103120" cy="502920"/>
          </a:xfrm>
          <a:prstGeom prst="rect">
            <a:avLst/>
          </a:prstGeom>
          <a:noFill/>
          <a:ln/>
        </p:spPr>
        <p:txBody>
          <a:bodyPr wrap="square" lIns="0" tIns="0" rIns="0" bIns="0" rtlCol="0" anchor="t"/>
          <a:lstStyle/>
          <a:p>
            <a:pPr indent="0" marL="0">
              <a:buNone/>
            </a:pPr>
            <a:r>
              <a:rPr lang="en-US" sz="950" dirty="0">
                <a:solidFill>
                  <a:srgbClr val="5F6F70"/>
                </a:solidFill>
                <a:latin typeface="Calibri" pitchFamily="34" charset="0"/>
                <a:ea typeface="Calibri" pitchFamily="34" charset="-122"/>
                <a:cs typeface="Calibri" pitchFamily="34" charset="-120"/>
              </a:rPr>
              <a:t>relevant papers for sub-question 4 after the one retry (2 → 6 with one source)</a:t>
            </a:r>
            <a:endParaRPr lang="en-US" sz="950" dirty="0"/>
          </a:p>
        </p:txBody>
      </p:sp>
      <p:sp>
        <p:nvSpPr>
          <p:cNvPr id="16" name="Text 13"/>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Demo 3 - the second review and the brief</a:t>
            </a:r>
            <a:endParaRPr lang="en-US" sz="3000" dirty="0"/>
          </a:p>
        </p:txBody>
      </p:sp>
      <p:sp>
        <p:nvSpPr>
          <p:cNvPr id="3" name="Shape 1"/>
          <p:cNvSpPr/>
          <p:nvPr/>
        </p:nvSpPr>
        <p:spPr>
          <a:xfrm>
            <a:off x="457200" y="1097280"/>
            <a:ext cx="4937760" cy="2286000"/>
          </a:xfrm>
          <a:prstGeom prst="roundRect">
            <a:avLst>
              <a:gd name="adj" fmla="val 2400"/>
            </a:avLst>
          </a:prstGeom>
          <a:solidFill>
            <a:srgbClr val="17292B"/>
          </a:solidFill>
          <a:ln w="12700">
            <a:solidFill>
              <a:srgbClr val="17292B"/>
            </a:solidFill>
            <a:prstDash val="solid"/>
          </a:ln>
        </p:spPr>
        <p:txBody>
          <a:bodyPr/>
          <a:p/>
        </p:txBody>
      </p:sp>
      <p:sp>
        <p:nvSpPr>
          <p:cNvPr id="4" name="Text 2"/>
          <p:cNvSpPr txBox="1"/>
          <p:nvPr/>
        </p:nvSpPr>
        <p:spPr>
          <a:xfrm>
            <a:off x="566928" y="1170432"/>
            <a:ext cx="4718304" cy="2139696"/>
          </a:xfrm>
          <a:prstGeom prst="rect">
            <a:avLst/>
          </a:prstGeom>
          <a:noFill/>
          <a:ln/>
        </p:spPr>
        <p:txBody>
          <a:bodyPr wrap="square" lIns="0" tIns="0" rIns="0" bIns="0" rtlCol="0" anchor="t"/>
          <a:lstStyle/>
          <a:p>
            <a:pPr indent="0" marL="0">
              <a:buNone/>
            </a:pPr>
            <a:r>
              <a:rPr lang="en-US" sz="700" dirty="0">
                <a:solidFill>
                  <a:srgbClr val="8FB3AE"/>
                </a:solidFill>
                <a:latin typeface="Courier New" pitchFamily="34" charset="0"/>
                <a:ea typeface="Courier New" pitchFamily="34" charset="-122"/>
                <a:cs typeface="Courier New" pitchFamily="34" charset="-120"/>
              </a:rPr>
              <a:t># terminal, 30 Sept 10:15-10:18 (abridged; ... marks a cut)</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Review 2: selected evidence ===</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Sub-question 4: How are hallucination rates and factual accuracy evaluated</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in multi-step agent workflows? (query reformulated once: ... )</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65. [5/5] AgentHallu: Benchmarking Automated Hallucination Attribution of</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LLM-based Agents (2026) - DOI UNVERIFIED</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76. [5/5] From Output Errors to Workflow Harm: A Practitioner-Audit Method</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for LLM-Mediated Research (2026) - DOI verified</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77 papers selected; 40 screened out (reasons are recorded in the brief).</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Type 'approve' to write the brief, or 'drop 3, 7' ..., or 'reject' ...</a:t>
            </a:r>
            <a:endParaRPr lang="en-US" sz="700" dirty="0"/>
          </a:p>
          <a:p>
            <a:pPr indent="0" marL="0">
              <a:buNone/>
            </a:pPr>
            <a:r>
              <a:rPr lang="en-US" sz="700" dirty="0">
                <a:solidFill>
                  <a:srgbClr val="F2C572"/>
                </a:solidFill>
                <a:latin typeface="Courier New" pitchFamily="34" charset="0"/>
                <a:ea typeface="Courier New" pitchFamily="34" charset="-122"/>
                <a:cs typeface="Courier New" pitchFamily="34" charset="-120"/>
              </a:rPr>
              <a:t>&gt; approve</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evaluation   | summarising | subquestion=4 | batch=1/3 | papers=10</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evaluation   | summarised | papers=77</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evaluation   | synthesised | themes=4 | gaps=3</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117 unique papers across 4 sub-questions | 78 DOIs verified</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 77 approved, 40 excluded | 4 themes, 3 gaps</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  | reformulations: 1, scope revisions: 0</a:t>
            </a:r>
            <a:endParaRPr lang="en-US" sz="700" dirty="0"/>
          </a:p>
          <a:p>
            <a:pPr indent="0" marL="0">
              <a:buNone/>
            </a:pPr>
            <a:r>
              <a:rPr lang="en-US" sz="700" dirty="0">
                <a:solidFill>
                  <a:srgbClr val="E6EFEE"/>
                </a:solidFill>
                <a:latin typeface="Courier New" pitchFamily="34" charset="0"/>
                <a:ea typeface="Courier New" pitchFamily="34" charset="-122"/>
                <a:cs typeface="Courier New" pitchFamily="34" charset="-120"/>
              </a:rPr>
              <a:t>Saved: output/brief-20260930-101857-what-approaches-...md</a:t>
            </a:r>
            <a:endParaRPr lang="en-US" sz="700" dirty="0"/>
          </a:p>
        </p:txBody>
      </p:sp>
      <p:sp>
        <p:nvSpPr>
          <p:cNvPr id="5" name="Shape 3"/>
          <p:cNvSpPr/>
          <p:nvPr/>
        </p:nvSpPr>
        <p:spPr>
          <a:xfrm>
            <a:off x="5669280" y="1097280"/>
            <a:ext cx="3017520" cy="3520440"/>
          </a:xfrm>
          <a:prstGeom prst="roundRect">
            <a:avLst>
              <a:gd name="adj" fmla="val 2424"/>
            </a:avLst>
          </a:prstGeom>
          <a:solidFill>
            <a:srgbClr val="F7F9F9"/>
          </a:solidFill>
          <a:ln w="9525">
            <a:solidFill>
              <a:srgbClr val="DDE4E3"/>
            </a:solidFill>
            <a:prstDash val="solid"/>
          </a:ln>
        </p:spPr>
        <p:txBody>
          <a:bodyPr/>
          <a:p/>
        </p:txBody>
      </p:sp>
      <p:sp>
        <p:nvSpPr>
          <p:cNvPr id="6" name="Text 4"/>
          <p:cNvSpPr txBox="1"/>
          <p:nvPr/>
        </p:nvSpPr>
        <p:spPr>
          <a:xfrm>
            <a:off x="5806440" y="1170432"/>
            <a:ext cx="2743200" cy="274320"/>
          </a:xfrm>
          <a:prstGeom prst="rect">
            <a:avLst/>
          </a:prstGeom>
          <a:noFill/>
          <a:ln/>
        </p:spPr>
        <p:txBody>
          <a:bodyPr wrap="square" lIns="0" tIns="0" rIns="0" bIns="0" rtlCol="0" anchor="t"/>
          <a:lstStyle/>
          <a:p>
            <a:pPr indent="0" marL="0">
              <a:buNone/>
            </a:pPr>
            <a:r>
              <a:rPr lang="en-US" sz="1150" b="1" dirty="0">
                <a:solidFill>
                  <a:srgbClr val="1F3A3D"/>
                </a:solidFill>
                <a:latin typeface="Calibri" pitchFamily="34" charset="0"/>
                <a:ea typeface="Calibri" pitchFamily="34" charset="-122"/>
                <a:cs typeface="Calibri" pitchFamily="34" charset="-120"/>
              </a:rPr>
              <a:t>From the brief of 30 Sept (... marks a cut)</a:t>
            </a:r>
            <a:endParaRPr lang="en-US" sz="1150" dirty="0"/>
          </a:p>
        </p:txBody>
      </p:sp>
      <p:sp>
        <p:nvSpPr>
          <p:cNvPr id="7" name="Text 5"/>
          <p:cNvSpPr txBox="1"/>
          <p:nvPr/>
        </p:nvSpPr>
        <p:spPr>
          <a:xfrm>
            <a:off x="5806440" y="1463040"/>
            <a:ext cx="2743200" cy="3108960"/>
          </a:xfrm>
          <a:prstGeom prst="rect">
            <a:avLst/>
          </a:prstGeom>
          <a:noFill/>
          <a:ln/>
        </p:spPr>
        <p:txBody>
          <a:bodyPr wrap="square" lIns="0" tIns="0" rIns="0" bIns="0" rtlCol="0" anchor="t"/>
          <a:lstStyle/>
          <a:p>
            <a:pPr indent="0" marL="0">
              <a:buNone/>
            </a:pPr>
            <a:r>
              <a:rPr lang="en-US" sz="900" b="1" dirty="0">
                <a:solidFill>
                  <a:srgbClr val="8A5A17"/>
                </a:solidFill>
                <a:latin typeface="Calibri" pitchFamily="34" charset="0"/>
                <a:ea typeface="Calibri" pitchFamily="34" charset="-122"/>
                <a:cs typeface="Calibri" pitchFamily="34" charset="-120"/>
              </a:rPr>
              <a:t>Evidence note [76]  </a:t>
            </a:r>
            <a:pPr indent="0" marL="0">
              <a:buNone/>
            </a:pPr>
            <a:r>
              <a:rPr lang="en-US" sz="900" dirty="0">
                <a:solidFill>
                  <a:srgbClr val="1F3A3D"/>
                </a:solidFill>
                <a:latin typeface="Calibri" pitchFamily="34" charset="0"/>
                <a:ea typeface="Calibri" pitchFamily="34" charset="-122"/>
                <a:cs typeface="Calibri" pitchFamily="34" charset="-120"/>
              </a:rPr>
              <a:t>The paper presents TRACE, a practitioner-audit framework ... demonstrated through an empirical analysis of 45 documentation-positive incidents recorded by a clinician-informatician. ...</a:t>
            </a:r>
            <a:pPr indent="0" marL="0">
              <a:buNone/>
            </a:pPr>
            <a:endParaRPr lang="en-US" sz="900" dirty="0"/>
          </a:p>
          <a:p>
            <a:pPr indent="0" marL="0">
              <a:buNone/>
            </a:pPr>
            <a:r>
              <a:rPr lang="en-US" sz="900" dirty="0" i="1">
                <a:solidFill>
                  <a:srgbClr val="5F6F70"/>
                </a:solidFill>
                <a:latin typeface="Calibri" pitchFamily="34" charset="0"/>
                <a:ea typeface="Calibri" pitchFamily="34" charset="-122"/>
                <a:cs typeface="Calibri" pitchFamily="34" charset="-120"/>
              </a:rPr>
              <a:t>Checked: the figure 45 is in the paper's abstract. The paper came from Semantic Scholar only.</a:t>
            </a:r>
            <a:pPr indent="0" marL="0">
              <a:buNone/>
            </a:pPr>
            <a:pPr indent="0" marL="0">
              <a:buNone/>
            </a:pPr>
            <a:endParaRPr lang="en-US" sz="900" dirty="0"/>
          </a:p>
          <a:p>
            <a:pPr indent="0" marL="0">
              <a:buNone/>
            </a:pPr>
            <a:endParaRPr lang="en-US" sz="900" dirty="0"/>
          </a:p>
          <a:p>
            <a:pPr indent="0" marL="0">
              <a:buNone/>
            </a:pPr>
            <a:r>
              <a:rPr lang="en-US" sz="900" b="1" dirty="0">
                <a:solidFill>
                  <a:srgbClr val="8A5A17"/>
                </a:solidFill>
                <a:latin typeface="Calibri" pitchFamily="34" charset="0"/>
                <a:ea typeface="Calibri" pitchFamily="34" charset="-122"/>
                <a:cs typeface="Calibri" pitchFamily="34" charset="-120"/>
              </a:rPr>
              <a:t>Theme  </a:t>
            </a:r>
            <a:endParaRPr lang="en-US" sz="900" dirty="0"/>
          </a:p>
          <a:p>
            <a:pPr indent="0" marL="0">
              <a:buNone/>
            </a:pPr>
            <a:r>
              <a:rPr lang="en-US" sz="900" dirty="0">
                <a:solidFill>
                  <a:srgbClr val="1F3A3D"/>
                </a:solidFill>
                <a:latin typeface="Calibri" pitchFamily="34" charset="0"/>
                <a:ea typeface="Calibri" pitchFamily="34" charset="-122"/>
                <a:cs typeface="Calibri" pitchFamily="34" charset="-120"/>
              </a:rPr>
              <a:t>Evaluation of multi-step agent workflows involves specialized benchmarks, automated hallucination attribution frameworks, multi-agent audits, and domain-aware metrics to track trajectory-level and cross-source errors. [63, 64, 65, 67, 73, 74, 76, 77]</a:t>
            </a:r>
            <a:pPr indent="0" marL="0">
              <a:buNone/>
            </a:pPr>
            <a:endParaRPr lang="en-US" sz="900" dirty="0"/>
          </a:p>
          <a:p>
            <a:pPr indent="0" marL="0">
              <a:buNone/>
            </a:pPr>
            <a:endParaRPr lang="en-US" sz="900" dirty="0"/>
          </a:p>
          <a:p>
            <a:pPr indent="0" marL="0">
              <a:buNone/>
            </a:pPr>
            <a:r>
              <a:rPr lang="en-US" sz="900" b="1" dirty="0">
                <a:solidFill>
                  <a:srgbClr val="8A5A17"/>
                </a:solidFill>
                <a:latin typeface="Calibri" pitchFamily="34" charset="0"/>
                <a:ea typeface="Calibri" pitchFamily="34" charset="-122"/>
                <a:cs typeface="Calibri" pitchFamily="34" charset="-120"/>
              </a:rPr>
              <a:t>Gap  </a:t>
            </a:r>
            <a:endParaRPr lang="en-US" sz="900" dirty="0"/>
          </a:p>
          <a:p>
            <a:pPr indent="0" marL="0">
              <a:buNone/>
            </a:pPr>
            <a:r>
              <a:rPr lang="en-US" sz="900" dirty="0">
                <a:solidFill>
                  <a:srgbClr val="1F3A3D"/>
                </a:solidFill>
                <a:latin typeface="Calibri" pitchFamily="34" charset="0"/>
                <a:ea typeface="Calibri" pitchFamily="34" charset="-122"/>
                <a:cs typeface="Calibri" pitchFamily="34" charset="-120"/>
              </a:rPr>
              <a:t>Few papers address the computational overhead and latency introduced by continuous self-correction loops ...</a:t>
            </a:r>
            <a:pPr indent="0" marL="0">
              <a:buNone/>
            </a:pPr>
            <a:endParaRPr lang="en-US" sz="900" dirty="0"/>
          </a:p>
          <a:p>
            <a:pPr indent="0" marL="0">
              <a:buNone/>
            </a:pPr>
            <a:endParaRPr lang="en-US" sz="900" dirty="0"/>
          </a:p>
          <a:p>
            <a:pPr indent="0" marL="0">
              <a:buNone/>
            </a:pPr>
            <a:r>
              <a:rPr lang="en-US" sz="900" b="1" dirty="0">
                <a:solidFill>
                  <a:srgbClr val="8A5A17"/>
                </a:solidFill>
                <a:latin typeface="Calibri" pitchFamily="34" charset="0"/>
                <a:ea typeface="Calibri" pitchFamily="34" charset="-122"/>
                <a:cs typeface="Calibri" pitchFamily="34" charset="-120"/>
              </a:rPr>
              <a:t>Limitation  </a:t>
            </a:r>
            <a:endParaRPr lang="en-US" sz="900" dirty="0"/>
          </a:p>
          <a:p>
            <a:pPr indent="0" marL="0">
              <a:buNone/>
            </a:pPr>
            <a:r>
              <a:rPr lang="en-US" sz="900" dirty="0">
                <a:solidFill>
                  <a:srgbClr val="1F3A3D"/>
                </a:solidFill>
                <a:latin typeface="Calibri" pitchFamily="34" charset="0"/>
                <a:ea typeface="Calibri" pitchFamily="34" charset="-122"/>
                <a:cs typeface="Calibri" pitchFamily="34" charset="-120"/>
              </a:rPr>
              <a:t>... semanticscholar: 2 of 5 searches answered, 40 records. ... Automatic failover was used: semanticscholar failed for 3 search(es) ...</a:t>
            </a:r>
            <a:endParaRPr lang="en-US" sz="900" dirty="0"/>
          </a:p>
        </p:txBody>
      </p:sp>
      <p:sp>
        <p:nvSpPr>
          <p:cNvPr id="8" name="Text 6"/>
          <p:cNvSpPr txBox="1"/>
          <p:nvPr/>
        </p:nvSpPr>
        <p:spPr>
          <a:xfrm>
            <a:off x="457200" y="3566160"/>
            <a:ext cx="4937760" cy="640080"/>
          </a:xfrm>
          <a:prstGeom prst="rect">
            <a:avLst/>
          </a:prstGeom>
          <a:noFill/>
          <a:ln/>
        </p:spPr>
        <p:txBody>
          <a:bodyPr wrap="square" lIns="0" tIns="0" rIns="0" bIns="0" rtlCol="0" anchor="t"/>
          <a:lstStyle/>
          <a:p>
            <a:pPr indent="0" marL="0">
              <a:buNone/>
            </a:pPr>
            <a:r>
              <a:rPr lang="en-US" sz="1100" b="1" dirty="0">
                <a:solidFill>
                  <a:srgbClr val="1F3A3D"/>
                </a:solidFill>
                <a:latin typeface="Calibri" pitchFamily="34" charset="0"/>
                <a:ea typeface="Calibri" pitchFamily="34" charset="-122"/>
                <a:cs typeface="Calibri" pitchFamily="34" charset="-120"/>
              </a:rPr>
              <a:t>The reference list is built from the records' own metadata - the model cites papers by number and never writes a reference.</a:t>
            </a:r>
            <a:endParaRPr lang="en-US" sz="1100" dirty="0"/>
          </a:p>
        </p:txBody>
      </p:sp>
      <p:sp>
        <p:nvSpPr>
          <p:cNvPr id="9" name="Text 7"/>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Testing: three layers of evidence</a:t>
            </a:r>
            <a:endParaRPr lang="en-US" sz="3000" dirty="0"/>
          </a:p>
        </p:txBody>
      </p:sp>
      <p:sp>
        <p:nvSpPr>
          <p:cNvPr id="3" name="Shape 1"/>
          <p:cNvSpPr/>
          <p:nvPr/>
        </p:nvSpPr>
        <p:spPr>
          <a:xfrm>
            <a:off x="457200" y="1188720"/>
            <a:ext cx="2651760" cy="2697480"/>
          </a:xfrm>
          <a:prstGeom prst="roundRect">
            <a:avLst>
              <a:gd name="adj" fmla="val 2759"/>
            </a:avLst>
          </a:prstGeom>
          <a:solidFill>
            <a:srgbClr val="F7F9F9"/>
          </a:solidFill>
          <a:ln w="9525">
            <a:solidFill>
              <a:srgbClr val="DDE4E3"/>
            </a:solidFill>
            <a:prstDash val="solid"/>
          </a:ln>
        </p:spPr>
      </p:sp>
      <p:sp>
        <p:nvSpPr>
          <p:cNvPr id="4" name="Text 2"/>
          <p:cNvSpPr txBox="1"/>
          <p:nvPr/>
        </p:nvSpPr>
        <p:spPr>
          <a:xfrm>
            <a:off x="594360" y="1280160"/>
            <a:ext cx="2377440" cy="685800"/>
          </a:xfrm>
          <a:prstGeom prst="rect">
            <a:avLst/>
          </a:prstGeom>
          <a:noFill/>
          <a:ln/>
        </p:spPr>
        <p:txBody>
          <a:bodyPr wrap="square" lIns="0" tIns="0" rIns="0" bIns="0" rtlCol="0" anchor="ctr"/>
          <a:lstStyle/>
          <a:p>
            <a:pPr indent="0" marL="0">
              <a:buNone/>
            </a:pPr>
            <a:r>
              <a:rPr lang="en-US" sz="4400" b="1" dirty="0">
                <a:solidFill>
                  <a:srgbClr val="1F3A3D"/>
                </a:solidFill>
                <a:latin typeface="Cambria" pitchFamily="34" charset="0"/>
                <a:ea typeface="Cambria" pitchFamily="34" charset="-122"/>
                <a:cs typeface="Cambria" pitchFamily="34" charset="-120"/>
              </a:rPr>
              <a:t>113</a:t>
            </a:r>
            <a:endParaRPr lang="en-US" sz="4400" dirty="0"/>
          </a:p>
        </p:txBody>
      </p:sp>
      <p:sp>
        <p:nvSpPr>
          <p:cNvPr id="5" name="Text 3"/>
          <p:cNvSpPr txBox="1"/>
          <p:nvPr/>
        </p:nvSpPr>
        <p:spPr>
          <a:xfrm>
            <a:off x="594360" y="1938528"/>
            <a:ext cx="2377440" cy="320040"/>
          </a:xfrm>
          <a:prstGeom prst="rect">
            <a:avLst/>
          </a:prstGeom>
          <a:noFill/>
          <a:ln/>
        </p:spPr>
        <p:txBody>
          <a:bodyPr wrap="square" lIns="0" tIns="0" rIns="0" bIns="0" rtlCol="0" anchor="ctr"/>
          <a:lstStyle/>
          <a:p>
            <a:pPr indent="0" marL="0">
              <a:buNone/>
            </a:pPr>
            <a:r>
              <a:rPr lang="en-US" sz="1300" b="1" dirty="0">
                <a:solidFill>
                  <a:srgbClr val="8A5A17"/>
                </a:solidFill>
                <a:latin typeface="Calibri" pitchFamily="34" charset="0"/>
                <a:ea typeface="Calibri" pitchFamily="34" charset="-122"/>
                <a:cs typeface="Calibri" pitchFamily="34" charset="-120"/>
              </a:rPr>
              <a:t>unit tests</a:t>
            </a:r>
            <a:endParaRPr lang="en-US" sz="1300" dirty="0"/>
          </a:p>
        </p:txBody>
      </p:sp>
      <p:sp>
        <p:nvSpPr>
          <p:cNvPr id="6" name="Text 4"/>
          <p:cNvSpPr txBox="1"/>
          <p:nvPr/>
        </p:nvSpPr>
        <p:spPr>
          <a:xfrm>
            <a:off x="594360" y="2286000"/>
            <a:ext cx="2377440" cy="1554480"/>
          </a:xfrm>
          <a:prstGeom prst="rect">
            <a:avLst/>
          </a:prstGeom>
          <a:noFill/>
          <a:ln/>
        </p:spPr>
        <p:txBody>
          <a:bodyPr wrap="square" lIns="0" tIns="0" rIns="0" bIns="0" rtlCol="0" anchor="t"/>
          <a:lstStyle/>
          <a:p>
            <a:pPr indent="0" marL="0">
              <a:buNone/>
            </a:pPr>
            <a:r>
              <a:rPr lang="en-US" sz="950" dirty="0">
                <a:solidFill>
                  <a:srgbClr val="1F3A3D"/>
                </a:solidFill>
                <a:latin typeface="Calibri" pitchFamily="34" charset="0"/>
                <a:ea typeface="Calibri" pitchFamily="34" charset="-122"/>
                <a:cs typeface="Calibri" pitchFamily="34" charset="-120"/>
              </a:rPr>
              <a:t>pytest, no network. Recorded API replies in tests/fixtures. Data models, abstract reconstruction, de-duplication and DOI checks, the 3-5 rule, schema validation and repair, review loops, threshold and retry caps, cut-off, batching, themes citing non-existent papers, retry policies, brief layout; the second source and failover; the cache, logging, error messages and how a run ends.</a:t>
            </a:r>
            <a:endParaRPr lang="en-US" sz="950" dirty="0"/>
          </a:p>
        </p:txBody>
      </p:sp>
      <p:sp>
        <p:nvSpPr>
          <p:cNvPr id="7" name="Shape 5"/>
          <p:cNvSpPr/>
          <p:nvPr/>
        </p:nvSpPr>
        <p:spPr>
          <a:xfrm>
            <a:off x="3246120" y="1188720"/>
            <a:ext cx="2651760" cy="2697480"/>
          </a:xfrm>
          <a:prstGeom prst="roundRect">
            <a:avLst>
              <a:gd name="adj" fmla="val 2759"/>
            </a:avLst>
          </a:prstGeom>
          <a:solidFill>
            <a:srgbClr val="EEF3F2"/>
          </a:solidFill>
          <a:ln w="9525">
            <a:solidFill>
              <a:srgbClr val="DDE4E3"/>
            </a:solidFill>
            <a:prstDash val="solid"/>
          </a:ln>
        </p:spPr>
      </p:sp>
      <p:sp>
        <p:nvSpPr>
          <p:cNvPr id="8" name="Text 6"/>
          <p:cNvSpPr txBox="1"/>
          <p:nvPr/>
        </p:nvSpPr>
        <p:spPr>
          <a:xfrm>
            <a:off x="3383280" y="1280160"/>
            <a:ext cx="2377440" cy="685800"/>
          </a:xfrm>
          <a:prstGeom prst="rect">
            <a:avLst/>
          </a:prstGeom>
          <a:noFill/>
          <a:ln/>
        </p:spPr>
        <p:txBody>
          <a:bodyPr wrap="square" lIns="0" tIns="0" rIns="0" bIns="0" rtlCol="0" anchor="ctr"/>
          <a:lstStyle/>
          <a:p>
            <a:pPr indent="0" marL="0">
              <a:buNone/>
            </a:pPr>
            <a:r>
              <a:rPr lang="en-US" sz="4400" b="1" dirty="0">
                <a:solidFill>
                  <a:srgbClr val="1F3A3D"/>
                </a:solidFill>
                <a:latin typeface="Cambria" pitchFamily="34" charset="0"/>
                <a:ea typeface="Cambria" pitchFamily="34" charset="-122"/>
                <a:cs typeface="Cambria" pitchFamily="34" charset="-120"/>
              </a:rPr>
              <a:t>16</a:t>
            </a:r>
            <a:endParaRPr lang="en-US" sz="4400" dirty="0"/>
          </a:p>
        </p:txBody>
      </p:sp>
      <p:sp>
        <p:nvSpPr>
          <p:cNvPr id="9" name="Text 7"/>
          <p:cNvSpPr txBox="1"/>
          <p:nvPr/>
        </p:nvSpPr>
        <p:spPr>
          <a:xfrm>
            <a:off x="3383280" y="1938528"/>
            <a:ext cx="2377440" cy="320040"/>
          </a:xfrm>
          <a:prstGeom prst="rect">
            <a:avLst/>
          </a:prstGeom>
          <a:noFill/>
          <a:ln/>
        </p:spPr>
        <p:txBody>
          <a:bodyPr wrap="square" lIns="0" tIns="0" rIns="0" bIns="0" rtlCol="0" anchor="ctr"/>
          <a:lstStyle/>
          <a:p>
            <a:pPr indent="0" marL="0">
              <a:buNone/>
            </a:pPr>
            <a:r>
              <a:rPr lang="en-US" sz="1300" b="1" dirty="0">
                <a:solidFill>
                  <a:srgbClr val="8A5A17"/>
                </a:solidFill>
                <a:latin typeface="Calibri" pitchFamily="34" charset="0"/>
                <a:ea typeface="Calibri" pitchFamily="34" charset="-122"/>
                <a:cs typeface="Calibri" pitchFamily="34" charset="-120"/>
              </a:rPr>
              <a:t>functional tests</a:t>
            </a:r>
            <a:endParaRPr lang="en-US" sz="1300" dirty="0"/>
          </a:p>
        </p:txBody>
      </p:sp>
      <p:sp>
        <p:nvSpPr>
          <p:cNvPr id="10" name="Text 8"/>
          <p:cNvSpPr txBox="1"/>
          <p:nvPr/>
        </p:nvSpPr>
        <p:spPr>
          <a:xfrm>
            <a:off x="3383280" y="2286000"/>
            <a:ext cx="2377440" cy="1554480"/>
          </a:xfrm>
          <a:prstGeom prst="rect">
            <a:avLst/>
          </a:prstGeom>
          <a:noFill/>
          <a:ln/>
        </p:spPr>
        <p:txBody>
          <a:bodyPr wrap="square" lIns="0" tIns="0" rIns="0" bIns="0" rtlCol="0" anchor="t"/>
          <a:lstStyle/>
          <a:p>
            <a:pPr indent="0" marL="0">
              <a:buNone/>
            </a:pPr>
            <a:r>
              <a:rPr lang="en-US" sz="950" dirty="0">
                <a:solidFill>
                  <a:srgbClr val="1F3A3D"/>
                </a:solidFill>
                <a:latin typeface="Calibri" pitchFamily="34" charset="0"/>
                <a:ea typeface="Calibri" pitchFamily="34" charset="-122"/>
                <a:cs typeface="Calibri" pitchFamily="34" charset="-120"/>
              </a:rPr>
              <a:t>Live, against the real services, with steps, expected and observed result. FT-01 to FT-11, 17-30 Sept: missing key, drop, revise, reject scope, full run, threshold retry, transient errors, quota stop, JSON repair, two sources with failover. FT-12 to FT-16, 2 Oct, on the submitted code: revise with the fix, three other questions, stop messages. All pass, two with a qualification (FT-03, FT-14). Plus an offline replay of the 30 Sept run.</a:t>
            </a:r>
            <a:endParaRPr lang="en-US" sz="950" dirty="0"/>
          </a:p>
        </p:txBody>
      </p:sp>
      <p:sp>
        <p:nvSpPr>
          <p:cNvPr id="11" name="Shape 9"/>
          <p:cNvSpPr/>
          <p:nvPr/>
        </p:nvSpPr>
        <p:spPr>
          <a:xfrm>
            <a:off x="6035040" y="1188720"/>
            <a:ext cx="2651760" cy="2697480"/>
          </a:xfrm>
          <a:prstGeom prst="roundRect">
            <a:avLst>
              <a:gd name="adj" fmla="val 2759"/>
            </a:avLst>
          </a:prstGeom>
          <a:solidFill>
            <a:srgbClr val="F7F9F9"/>
          </a:solidFill>
          <a:ln w="9525">
            <a:solidFill>
              <a:srgbClr val="DDE4E3"/>
            </a:solidFill>
            <a:prstDash val="solid"/>
          </a:ln>
        </p:spPr>
      </p:sp>
      <p:sp>
        <p:nvSpPr>
          <p:cNvPr id="12" name="Text 10"/>
          <p:cNvSpPr txBox="1"/>
          <p:nvPr/>
        </p:nvSpPr>
        <p:spPr>
          <a:xfrm>
            <a:off x="6172200" y="1280160"/>
            <a:ext cx="2377440" cy="685800"/>
          </a:xfrm>
          <a:prstGeom prst="rect">
            <a:avLst/>
          </a:prstGeom>
          <a:noFill/>
          <a:ln/>
        </p:spPr>
        <p:txBody>
          <a:bodyPr wrap="square" lIns="0" tIns="0" rIns="0" bIns="0" rtlCol="0" anchor="ctr"/>
          <a:lstStyle/>
          <a:p>
            <a:pPr indent="0" marL="0">
              <a:buNone/>
            </a:pPr>
            <a:r>
              <a:rPr lang="en-US" sz="4400" b="1" dirty="0">
                <a:solidFill>
                  <a:srgbClr val="1F3A3D"/>
                </a:solidFill>
                <a:latin typeface="Cambria" pitchFamily="34" charset="0"/>
                <a:ea typeface="Cambria" pitchFamily="34" charset="-122"/>
                <a:cs typeface="Cambria" pitchFamily="34" charset="-120"/>
              </a:rPr>
              <a:t>21</a:t>
            </a:r>
            <a:endParaRPr lang="en-US" sz="4400" dirty="0"/>
          </a:p>
        </p:txBody>
      </p:sp>
      <p:sp>
        <p:nvSpPr>
          <p:cNvPr id="13" name="Text 11"/>
          <p:cNvSpPr txBox="1"/>
          <p:nvPr/>
        </p:nvSpPr>
        <p:spPr>
          <a:xfrm>
            <a:off x="6172200" y="1938528"/>
            <a:ext cx="2377440" cy="320040"/>
          </a:xfrm>
          <a:prstGeom prst="rect">
            <a:avLst/>
          </a:prstGeom>
          <a:noFill/>
          <a:ln/>
        </p:spPr>
        <p:txBody>
          <a:bodyPr wrap="square" lIns="0" tIns="0" rIns="0" bIns="0" rtlCol="0" anchor="ctr"/>
          <a:lstStyle/>
          <a:p>
            <a:pPr indent="0" marL="0">
              <a:buNone/>
            </a:pPr>
            <a:r>
              <a:rPr lang="en-US" sz="1300" b="1" dirty="0">
                <a:solidFill>
                  <a:srgbClr val="8A5A17"/>
                </a:solidFill>
                <a:latin typeface="Calibri" pitchFamily="34" charset="0"/>
                <a:ea typeface="Calibri" pitchFamily="34" charset="-122"/>
                <a:cs typeface="Calibri" pitchFamily="34" charset="-120"/>
              </a:rPr>
              <a:t>remediation entries</a:t>
            </a:r>
            <a:endParaRPr lang="en-US" sz="1300" dirty="0"/>
          </a:p>
        </p:txBody>
      </p:sp>
      <p:sp>
        <p:nvSpPr>
          <p:cNvPr id="14" name="Text 12"/>
          <p:cNvSpPr txBox="1"/>
          <p:nvPr/>
        </p:nvSpPr>
        <p:spPr>
          <a:xfrm>
            <a:off x="6172200" y="2286000"/>
            <a:ext cx="2377440" cy="1554480"/>
          </a:xfrm>
          <a:prstGeom prst="rect">
            <a:avLst/>
          </a:prstGeom>
          <a:noFill/>
          <a:ln/>
        </p:spPr>
        <p:txBody>
          <a:bodyPr wrap="square" lIns="0" tIns="0" rIns="0" bIns="0" rtlCol="0" anchor="t"/>
          <a:lstStyle/>
          <a:p>
            <a:pPr indent="0" marL="0">
              <a:buNone/>
            </a:pPr>
            <a:r>
              <a:rPr lang="en-US" sz="950" dirty="0">
                <a:solidFill>
                  <a:srgbClr val="1F3A3D"/>
                </a:solidFill>
                <a:latin typeface="Calibri" pitchFamily="34" charset="0"/>
                <a:ea typeface="Calibri" pitchFamily="34" charset="-122"/>
                <a:cs typeface="Calibri" pitchFamily="34" charset="-120"/>
              </a:rPr>
              <a:t>Every problem met during development, its cause, the change made, and how the fix was verified - the model retirement, 503s, timeouts, quotas, OpenAlex's policy change, a typo that re-planned; and ten found on 1 Oct by reading the code and the documents against each other.</a:t>
            </a:r>
            <a:endParaRPr lang="en-US" sz="950" dirty="0"/>
          </a:p>
        </p:txBody>
      </p:sp>
      <p:sp>
        <p:nvSpPr>
          <p:cNvPr id="15" name="Shape 13"/>
          <p:cNvSpPr/>
          <p:nvPr/>
        </p:nvSpPr>
        <p:spPr>
          <a:xfrm>
            <a:off x="457200" y="4023360"/>
            <a:ext cx="8229600" cy="640080"/>
          </a:xfrm>
          <a:prstGeom prst="roundRect">
            <a:avLst>
              <a:gd name="adj" fmla="val 8571"/>
            </a:avLst>
          </a:prstGeom>
          <a:solidFill>
            <a:srgbClr val="17292B"/>
          </a:solidFill>
          <a:ln w="12700">
            <a:solidFill>
              <a:srgbClr val="17292B"/>
            </a:solidFill>
            <a:prstDash val="solid"/>
          </a:ln>
        </p:spPr>
      </p:sp>
      <p:sp>
        <p:nvSpPr>
          <p:cNvPr id="16" name="Text 14"/>
          <p:cNvSpPr txBox="1"/>
          <p:nvPr/>
        </p:nvSpPr>
        <p:spPr>
          <a:xfrm>
            <a:off x="566928" y="4096512"/>
            <a:ext cx="8010144" cy="493776"/>
          </a:xfrm>
          <a:prstGeom prst="rect">
            <a:avLst/>
          </a:prstGeom>
          <a:noFill/>
          <a:ln/>
        </p:spPr>
        <p:txBody>
          <a:bodyPr wrap="square" lIns="0" tIns="0" rIns="0" bIns="0" rtlCol="0" anchor="t"/>
          <a:lstStyle/>
          <a:p>
            <a:pPr indent="0" marL="0">
              <a:buNone/>
            </a:pPr>
            <a:r>
              <a:rPr lang="en-US" sz="800" dirty="0">
                <a:solidFill>
                  <a:srgbClr val="E6EFEE"/>
                </a:solidFill>
                <a:latin typeface="Courier New" pitchFamily="34" charset="0"/>
                <a:ea typeface="Courier New" pitchFamily="34" charset="-122"/>
                <a:cs typeface="Courier New" pitchFamily="34" charset="-120"/>
              </a:rPr>
              <a:t>pytest -&gt; 113 passed     (full output: evidence/pytest_113_passed.txt)</a:t>
            </a:r>
            <a:endParaRPr lang="en-US" sz="800" dirty="0"/>
          </a:p>
          <a:p>
            <a:pPr indent="0" marL="0">
              <a:buNone/>
            </a:pPr>
            <a:r>
              <a:rPr lang="en-US" sz="800" dirty="0">
                <a:solidFill>
                  <a:srgbClr val="E6EFEE"/>
                </a:solidFill>
                <a:latin typeface="Courier New" pitchFamily="34" charset="0"/>
                <a:ea typeface="Courier New" pitchFamily="34" charset="-122"/>
                <a:cs typeface="Courier New" pitchFamily="34" charset="-120"/>
              </a:rPr>
              <a:t>per file:  cache 6 · evaluation 13 · http 9 · llm_client 5 · logging_setup 2 · main 12 · models 5 · planning 10 · retrieval 7 · s2_client 5 · search_client 6 · stage5 14 · storage 2 · synthesis 9 · validation 8</a:t>
            </a:r>
            <a:endParaRPr lang="en-US" sz="800" dirty="0"/>
          </a:p>
          <a:p>
            <a:pPr indent="0" marL="0">
              <a:buNone/>
            </a:pPr>
            <a:r>
              <a:rPr lang="en-US" sz="800" dirty="0">
                <a:solidFill>
                  <a:srgbClr val="E6EFEE"/>
                </a:solidFill>
                <a:latin typeface="Courier New" pitchFamily="34" charset="0"/>
                <a:ea typeface="Courier New" pitchFamily="34" charset="-122"/>
                <a:cs typeface="Courier New" pitchFamily="34" charset="-120"/>
              </a:rPr>
              <a:t>second model on FT-13 -&gt; would keep 27 of 35 kept (clear answers) · κ 0.65 · agreement, not precision  (evidence/model_judge_*)</a:t>
            </a:r>
            <a:endParaRPr lang="en-US" sz="800" dirty="0"/>
          </a:p>
        </p:txBody>
      </p:sp>
      <p:sp>
        <p:nvSpPr>
          <p:cNvPr id="17" name="Text 15"/>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F3A3D"/>
                </a:solidFill>
                <a:latin typeface="Cambria" pitchFamily="34" charset="0"/>
                <a:ea typeface="Cambria" pitchFamily="34" charset="-122"/>
                <a:cs typeface="Cambria" pitchFamily="34" charset="-120"/>
              </a:rPr>
              <a:t>What went wrong, and what changed</a:t>
            </a:r>
            <a:endParaRPr lang="en-US" sz="3000" dirty="0"/>
          </a:p>
        </p:txBody>
      </p:sp>
      <p:sp>
        <p:nvSpPr>
          <p:cNvPr id="3" name="Text 1"/>
          <p:cNvSpPr txBox="1"/>
          <p:nvPr/>
        </p:nvSpPr>
        <p:spPr>
          <a:xfrm>
            <a:off x="457200" y="1188720"/>
            <a:ext cx="914400" cy="274320"/>
          </a:xfrm>
          <a:prstGeom prst="rect">
            <a:avLst/>
          </a:prstGeom>
          <a:noFill/>
          <a:ln/>
        </p:spPr>
        <p:txBody>
          <a:bodyPr wrap="square" lIns="0" tIns="0" rIns="0" bIns="0" rtlCol="0" anchor="t"/>
          <a:lstStyle/>
          <a:p>
            <a:pPr indent="0" marL="0">
              <a:buNone/>
            </a:pPr>
            <a:r>
              <a:rPr lang="en-US" sz="1050" b="1" dirty="0">
                <a:solidFill>
                  <a:srgbClr val="5F6F70"/>
                </a:solidFill>
                <a:latin typeface="Calibri" pitchFamily="34" charset="0"/>
                <a:ea typeface="Calibri" pitchFamily="34" charset="-122"/>
                <a:cs typeface="Calibri" pitchFamily="34" charset="-120"/>
              </a:rPr>
              <a:t>When</a:t>
            </a:r>
            <a:endParaRPr lang="en-US" sz="1050" dirty="0"/>
          </a:p>
        </p:txBody>
      </p:sp>
      <p:sp>
        <p:nvSpPr>
          <p:cNvPr id="4" name="Text 2"/>
          <p:cNvSpPr txBox="1"/>
          <p:nvPr/>
        </p:nvSpPr>
        <p:spPr>
          <a:xfrm>
            <a:off x="1417320" y="1188720"/>
            <a:ext cx="3566160" cy="274320"/>
          </a:xfrm>
          <a:prstGeom prst="rect">
            <a:avLst/>
          </a:prstGeom>
          <a:noFill/>
          <a:ln/>
        </p:spPr>
        <p:txBody>
          <a:bodyPr wrap="square" lIns="0" tIns="0" rIns="0" bIns="0" rtlCol="0" anchor="t"/>
          <a:lstStyle/>
          <a:p>
            <a:pPr indent="0" marL="0">
              <a:buNone/>
            </a:pPr>
            <a:r>
              <a:rPr lang="en-US" sz="1050" b="1" dirty="0">
                <a:solidFill>
                  <a:srgbClr val="5F6F70"/>
                </a:solidFill>
                <a:latin typeface="Calibri" pitchFamily="34" charset="0"/>
                <a:ea typeface="Calibri" pitchFamily="34" charset="-122"/>
                <a:cs typeface="Calibri" pitchFamily="34" charset="-120"/>
              </a:rPr>
              <a:t>What happened</a:t>
            </a:r>
            <a:endParaRPr lang="en-US" sz="1050" dirty="0"/>
          </a:p>
        </p:txBody>
      </p:sp>
      <p:sp>
        <p:nvSpPr>
          <p:cNvPr id="5" name="Text 3"/>
          <p:cNvSpPr txBox="1"/>
          <p:nvPr/>
        </p:nvSpPr>
        <p:spPr>
          <a:xfrm>
            <a:off x="5120640" y="1188720"/>
            <a:ext cx="3566160" cy="274320"/>
          </a:xfrm>
          <a:prstGeom prst="rect">
            <a:avLst/>
          </a:prstGeom>
          <a:noFill/>
          <a:ln/>
        </p:spPr>
        <p:txBody>
          <a:bodyPr wrap="square" lIns="0" tIns="0" rIns="0" bIns="0" rtlCol="0" anchor="t"/>
          <a:lstStyle/>
          <a:p>
            <a:pPr indent="0" marL="0">
              <a:buNone/>
            </a:pPr>
            <a:r>
              <a:rPr lang="en-US" sz="1050" b="1" dirty="0">
                <a:solidFill>
                  <a:srgbClr val="5F6F70"/>
                </a:solidFill>
                <a:latin typeface="Calibri" pitchFamily="34" charset="0"/>
                <a:ea typeface="Calibri" pitchFamily="34" charset="-122"/>
                <a:cs typeface="Calibri" pitchFamily="34" charset="-120"/>
              </a:rPr>
              <a:t>What changed</a:t>
            </a:r>
            <a:endParaRPr lang="en-US" sz="1050" dirty="0"/>
          </a:p>
        </p:txBody>
      </p:sp>
      <p:sp>
        <p:nvSpPr>
          <p:cNvPr id="6" name="Shape 4"/>
          <p:cNvSpPr/>
          <p:nvPr/>
        </p:nvSpPr>
        <p:spPr>
          <a:xfrm>
            <a:off x="457200" y="1463040"/>
            <a:ext cx="8229600" cy="548640"/>
          </a:xfrm>
          <a:prstGeom prst="rect">
            <a:avLst/>
          </a:prstGeom>
          <a:solidFill>
            <a:srgbClr val="F7F9F9"/>
          </a:solidFill>
          <a:ln w="12700">
            <a:solidFill>
              <a:srgbClr val="F7F9F9"/>
            </a:solidFill>
            <a:prstDash val="solid"/>
          </a:ln>
        </p:spPr>
      </p:sp>
      <p:sp>
        <p:nvSpPr>
          <p:cNvPr id="7" name="Text 5"/>
          <p:cNvSpPr txBox="1"/>
          <p:nvPr/>
        </p:nvSpPr>
        <p:spPr>
          <a:xfrm>
            <a:off x="502920" y="1490472"/>
            <a:ext cx="914400" cy="493776"/>
          </a:xfrm>
          <a:prstGeom prst="rect">
            <a:avLst/>
          </a:prstGeom>
          <a:noFill/>
          <a:ln/>
        </p:spPr>
        <p:txBody>
          <a:bodyPr wrap="square" lIns="0" tIns="0" rIns="0" bIns="0" rtlCol="0" anchor="t"/>
          <a:lstStyle/>
          <a:p>
            <a:pPr indent="0" marL="0">
              <a:buNone/>
            </a:pPr>
            <a:r>
              <a:rPr lang="en-US" sz="1000" b="1" dirty="0">
                <a:solidFill>
                  <a:srgbClr val="1F3A3D"/>
                </a:solidFill>
                <a:latin typeface="Calibri" pitchFamily="34" charset="0"/>
                <a:ea typeface="Calibri" pitchFamily="34" charset="-122"/>
                <a:cs typeface="Calibri" pitchFamily="34" charset="-120"/>
              </a:rPr>
              <a:t>14 Sept</a:t>
            </a:r>
            <a:endParaRPr lang="en-US" sz="1000" dirty="0"/>
          </a:p>
        </p:txBody>
      </p:sp>
      <p:sp>
        <p:nvSpPr>
          <p:cNvPr id="8" name="Text 6"/>
          <p:cNvSpPr txBox="1"/>
          <p:nvPr/>
        </p:nvSpPr>
        <p:spPr>
          <a:xfrm>
            <a:off x="1417320" y="1490472"/>
            <a:ext cx="3566160" cy="493776"/>
          </a:xfrm>
          <a:prstGeom prst="rect">
            <a:avLst/>
          </a:prstGeom>
          <a:noFill/>
          <a:ln/>
        </p:spPr>
        <p:txBody>
          <a:bodyPr wrap="square" lIns="0" tIns="0" rIns="0" bIns="0" rtlCol="0" anchor="t"/>
          <a:lstStyle/>
          <a:p>
            <a:pPr indent="0" marL="0">
              <a:buNone/>
            </a:pPr>
            <a:r>
              <a:rPr lang="en-US" sz="1000" dirty="0">
                <a:solidFill>
                  <a:srgbClr val="1F3A3D"/>
                </a:solidFill>
                <a:latin typeface="Calibri" pitchFamily="34" charset="0"/>
                <a:ea typeface="Calibri" pitchFamily="34" charset="-122"/>
                <a:cs typeface="Calibri" pitchFamily="34" charset="-120"/>
              </a:rPr>
              <a:t>First Gemini call: HTTP 404 - the model the build was first configured for had been retired by the provider</a:t>
            </a:r>
            <a:endParaRPr lang="en-US" sz="1000" dirty="0"/>
          </a:p>
        </p:txBody>
      </p:sp>
      <p:sp>
        <p:nvSpPr>
          <p:cNvPr id="9" name="Text 7"/>
          <p:cNvSpPr txBox="1"/>
          <p:nvPr/>
        </p:nvSpPr>
        <p:spPr>
          <a:xfrm>
            <a:off x="5120640" y="1490472"/>
            <a:ext cx="3520440" cy="493776"/>
          </a:xfrm>
          <a:prstGeom prst="rect">
            <a:avLst/>
          </a:prstGeom>
          <a:noFill/>
          <a:ln/>
        </p:spPr>
        <p:txBody>
          <a:bodyPr wrap="square" lIns="0" tIns="0" rIns="0" bIns="0" rtlCol="0" anchor="t"/>
          <a:lstStyle/>
          <a:p>
            <a:pPr indent="0" marL="0">
              <a:buNone/>
            </a:pPr>
            <a:r>
              <a:rPr lang="en-US" sz="1000" dirty="0">
                <a:solidFill>
                  <a:srgbClr val="8A5A17"/>
                </a:solidFill>
                <a:latin typeface="Calibri" pitchFamily="34" charset="0"/>
                <a:ea typeface="Calibri" pitchFamily="34" charset="-122"/>
                <a:cs typeface="Calibri" pitchFamily="34" charset="-120"/>
              </a:rPr>
              <a:t>Model name was already in configuration: a change of setting, no change to the logic</a:t>
            </a:r>
            <a:endParaRPr lang="en-US" sz="1000" dirty="0"/>
          </a:p>
        </p:txBody>
      </p:sp>
      <p:sp>
        <p:nvSpPr>
          <p:cNvPr id="10" name="Text 8"/>
          <p:cNvSpPr txBox="1"/>
          <p:nvPr/>
        </p:nvSpPr>
        <p:spPr>
          <a:xfrm>
            <a:off x="502920" y="2039112"/>
            <a:ext cx="914400" cy="493776"/>
          </a:xfrm>
          <a:prstGeom prst="rect">
            <a:avLst/>
          </a:prstGeom>
          <a:noFill/>
          <a:ln/>
        </p:spPr>
        <p:txBody>
          <a:bodyPr wrap="square" lIns="0" tIns="0" rIns="0" bIns="0" rtlCol="0" anchor="t"/>
          <a:lstStyle/>
          <a:p>
            <a:pPr indent="0" marL="0">
              <a:buNone/>
            </a:pPr>
            <a:r>
              <a:rPr lang="en-US" sz="1000" b="1" dirty="0">
                <a:solidFill>
                  <a:srgbClr val="1F3A3D"/>
                </a:solidFill>
                <a:latin typeface="Calibri" pitchFamily="34" charset="0"/>
                <a:ea typeface="Calibri" pitchFamily="34" charset="-122"/>
                <a:cs typeface="Calibri" pitchFamily="34" charset="-120"/>
              </a:rPr>
              <a:t>17 Sept</a:t>
            </a:r>
            <a:endParaRPr lang="en-US" sz="1000" dirty="0"/>
          </a:p>
        </p:txBody>
      </p:sp>
      <p:sp>
        <p:nvSpPr>
          <p:cNvPr id="11" name="Text 9"/>
          <p:cNvSpPr txBox="1"/>
          <p:nvPr/>
        </p:nvSpPr>
        <p:spPr>
          <a:xfrm>
            <a:off x="1417320" y="2039112"/>
            <a:ext cx="3566160" cy="493776"/>
          </a:xfrm>
          <a:prstGeom prst="rect">
            <a:avLst/>
          </a:prstGeom>
          <a:noFill/>
          <a:ln/>
        </p:spPr>
        <p:txBody>
          <a:bodyPr wrap="square" lIns="0" tIns="0" rIns="0" bIns="0" rtlCol="0" anchor="t"/>
          <a:lstStyle/>
          <a:p>
            <a:pPr indent="0" marL="0">
              <a:buNone/>
            </a:pPr>
            <a:r>
              <a:rPr lang="en-US" sz="1000" dirty="0">
                <a:solidFill>
                  <a:srgbClr val="1F3A3D"/>
                </a:solidFill>
                <a:latin typeface="Calibri" pitchFamily="34" charset="0"/>
                <a:ea typeface="Calibri" pitchFamily="34" charset="-122"/>
                <a:cs typeface="Calibri" pitchFamily="34" charset="-120"/>
              </a:rPr>
              <a:t>Run died mid-scoring on 503, then on a read timeout</a:t>
            </a:r>
            <a:endParaRPr lang="en-US" sz="1000" dirty="0"/>
          </a:p>
        </p:txBody>
      </p:sp>
      <p:sp>
        <p:nvSpPr>
          <p:cNvPr id="12" name="Text 10"/>
          <p:cNvSpPr txBox="1"/>
          <p:nvPr/>
        </p:nvSpPr>
        <p:spPr>
          <a:xfrm>
            <a:off x="5120640" y="2039112"/>
            <a:ext cx="3520440" cy="493776"/>
          </a:xfrm>
          <a:prstGeom prst="rect">
            <a:avLst/>
          </a:prstGeom>
          <a:noFill/>
          <a:ln/>
        </p:spPr>
        <p:txBody>
          <a:bodyPr wrap="square" lIns="0" tIns="0" rIns="0" bIns="0" rtlCol="0" anchor="t"/>
          <a:lstStyle/>
          <a:p>
            <a:pPr indent="0" marL="0">
              <a:buNone/>
            </a:pPr>
            <a:r>
              <a:rPr lang="en-US" sz="1000" dirty="0">
                <a:solidFill>
                  <a:srgbClr val="8A5A17"/>
                </a:solidFill>
                <a:latin typeface="Calibri" pitchFamily="34" charset="0"/>
                <a:ea typeface="Calibri" pitchFamily="34" charset="-122"/>
                <a:cs typeface="Calibri" pitchFamily="34" charset="-120"/>
              </a:rPr>
              <a:t>Transient-error retry with back-off; 'busy' and 'wrong' errors treated differently</a:t>
            </a:r>
            <a:endParaRPr lang="en-US" sz="1000" dirty="0"/>
          </a:p>
        </p:txBody>
      </p:sp>
      <p:sp>
        <p:nvSpPr>
          <p:cNvPr id="13" name="Shape 11"/>
          <p:cNvSpPr/>
          <p:nvPr/>
        </p:nvSpPr>
        <p:spPr>
          <a:xfrm>
            <a:off x="457200" y="2560320"/>
            <a:ext cx="8229600" cy="548640"/>
          </a:xfrm>
          <a:prstGeom prst="rect">
            <a:avLst/>
          </a:prstGeom>
          <a:solidFill>
            <a:srgbClr val="F7F9F9"/>
          </a:solidFill>
          <a:ln w="12700">
            <a:solidFill>
              <a:srgbClr val="F7F9F9"/>
            </a:solidFill>
            <a:prstDash val="solid"/>
          </a:ln>
        </p:spPr>
      </p:sp>
      <p:sp>
        <p:nvSpPr>
          <p:cNvPr id="14" name="Text 12"/>
          <p:cNvSpPr txBox="1"/>
          <p:nvPr/>
        </p:nvSpPr>
        <p:spPr>
          <a:xfrm>
            <a:off x="502920" y="2587752"/>
            <a:ext cx="914400" cy="493776"/>
          </a:xfrm>
          <a:prstGeom prst="rect">
            <a:avLst/>
          </a:prstGeom>
          <a:noFill/>
          <a:ln/>
        </p:spPr>
        <p:txBody>
          <a:bodyPr wrap="square" lIns="0" tIns="0" rIns="0" bIns="0" rtlCol="0" anchor="t"/>
          <a:lstStyle/>
          <a:p>
            <a:pPr indent="0" marL="0">
              <a:buNone/>
            </a:pPr>
            <a:r>
              <a:rPr lang="en-US" sz="1000" b="1" dirty="0">
                <a:solidFill>
                  <a:srgbClr val="1F3A3D"/>
                </a:solidFill>
                <a:latin typeface="Calibri" pitchFamily="34" charset="0"/>
                <a:ea typeface="Calibri" pitchFamily="34" charset="-122"/>
                <a:cs typeface="Calibri" pitchFamily="34" charset="-120"/>
              </a:rPr>
              <a:t>17-23 Sept</a:t>
            </a:r>
            <a:endParaRPr lang="en-US" sz="1000" dirty="0"/>
          </a:p>
        </p:txBody>
      </p:sp>
      <p:sp>
        <p:nvSpPr>
          <p:cNvPr id="15" name="Text 13"/>
          <p:cNvSpPr txBox="1"/>
          <p:nvPr/>
        </p:nvSpPr>
        <p:spPr>
          <a:xfrm>
            <a:off x="1417320" y="2587752"/>
            <a:ext cx="3566160" cy="493776"/>
          </a:xfrm>
          <a:prstGeom prst="rect">
            <a:avLst/>
          </a:prstGeom>
          <a:noFill/>
          <a:ln/>
        </p:spPr>
        <p:txBody>
          <a:bodyPr wrap="square" lIns="0" tIns="0" rIns="0" bIns="0" rtlCol="0" anchor="t"/>
          <a:lstStyle/>
          <a:p>
            <a:pPr indent="0" marL="0">
              <a:buNone/>
            </a:pPr>
            <a:r>
              <a:rPr lang="en-US" sz="1000" dirty="0">
                <a:solidFill>
                  <a:srgbClr val="1F3A3D"/>
                </a:solidFill>
                <a:latin typeface="Calibri" pitchFamily="34" charset="0"/>
                <a:ea typeface="Calibri" pitchFamily="34" charset="-122"/>
                <a:cs typeface="Calibri" pitchFamily="34" charset="-120"/>
              </a:rPr>
              <a:t>429 - a 20-requests-a-day free quota, burned by retries</a:t>
            </a:r>
            <a:endParaRPr lang="en-US" sz="1000" dirty="0"/>
          </a:p>
        </p:txBody>
      </p:sp>
      <p:sp>
        <p:nvSpPr>
          <p:cNvPr id="16" name="Text 14"/>
          <p:cNvSpPr txBox="1"/>
          <p:nvPr/>
        </p:nvSpPr>
        <p:spPr>
          <a:xfrm>
            <a:off x="5120640" y="2587752"/>
            <a:ext cx="3520440" cy="493776"/>
          </a:xfrm>
          <a:prstGeom prst="rect">
            <a:avLst/>
          </a:prstGeom>
          <a:noFill/>
          <a:ln/>
        </p:spPr>
        <p:txBody>
          <a:bodyPr wrap="square" lIns="0" tIns="0" rIns="0" bIns="0" rtlCol="0" anchor="t"/>
          <a:lstStyle/>
          <a:p>
            <a:pPr indent="0" marL="0">
              <a:buNone/>
            </a:pPr>
            <a:r>
              <a:rPr lang="en-US" sz="1000" dirty="0">
                <a:solidFill>
                  <a:srgbClr val="8A5A17"/>
                </a:solidFill>
                <a:latin typeface="Calibri" pitchFamily="34" charset="0"/>
                <a:ea typeface="Calibri" pitchFamily="34" charset="-122"/>
                <a:cs typeface="Calibri" pitchFamily="34" charset="-120"/>
              </a:rPr>
              <a:t>Quota id logged; per-day limit stops at once; switched to a 500-a-day model</a:t>
            </a:r>
            <a:endParaRPr lang="en-US" sz="1000" dirty="0"/>
          </a:p>
        </p:txBody>
      </p:sp>
      <p:sp>
        <p:nvSpPr>
          <p:cNvPr id="17" name="Text 15"/>
          <p:cNvSpPr txBox="1"/>
          <p:nvPr/>
        </p:nvSpPr>
        <p:spPr>
          <a:xfrm>
            <a:off x="502920" y="3136392"/>
            <a:ext cx="914400" cy="493776"/>
          </a:xfrm>
          <a:prstGeom prst="rect">
            <a:avLst/>
          </a:prstGeom>
          <a:noFill/>
          <a:ln/>
        </p:spPr>
        <p:txBody>
          <a:bodyPr wrap="square" lIns="0" tIns="0" rIns="0" bIns="0" rtlCol="0" anchor="t"/>
          <a:lstStyle/>
          <a:p>
            <a:pPr indent="0" marL="0">
              <a:buNone/>
            </a:pPr>
            <a:r>
              <a:rPr lang="en-US" sz="1000" b="1" dirty="0">
                <a:solidFill>
                  <a:srgbClr val="1F3A3D"/>
                </a:solidFill>
                <a:latin typeface="Calibri" pitchFamily="34" charset="0"/>
                <a:ea typeface="Calibri" pitchFamily="34" charset="-122"/>
                <a:cs typeface="Calibri" pitchFamily="34" charset="-120"/>
              </a:rPr>
              <a:t>23 Sept</a:t>
            </a:r>
            <a:endParaRPr lang="en-US" sz="1000" dirty="0"/>
          </a:p>
        </p:txBody>
      </p:sp>
      <p:sp>
        <p:nvSpPr>
          <p:cNvPr id="18" name="Text 16"/>
          <p:cNvSpPr txBox="1"/>
          <p:nvPr/>
        </p:nvSpPr>
        <p:spPr>
          <a:xfrm>
            <a:off x="1417320" y="3136392"/>
            <a:ext cx="3566160" cy="493776"/>
          </a:xfrm>
          <a:prstGeom prst="rect">
            <a:avLst/>
          </a:prstGeom>
          <a:noFill/>
          <a:ln/>
        </p:spPr>
        <p:txBody>
          <a:bodyPr wrap="square" lIns="0" tIns="0" rIns="0" bIns="0" rtlCol="0" anchor="t"/>
          <a:lstStyle/>
          <a:p>
            <a:pPr indent="0" marL="0">
              <a:buNone/>
            </a:pPr>
            <a:r>
              <a:rPr lang="en-US" sz="1000" dirty="0">
                <a:solidFill>
                  <a:srgbClr val="1F3A3D"/>
                </a:solidFill>
                <a:latin typeface="Calibri" pitchFamily="34" charset="0"/>
                <a:ea typeface="Calibri" pitchFamily="34" charset="-122"/>
                <a:cs typeface="Calibri" pitchFamily="34" charset="-120"/>
              </a:rPr>
              <a:t>OpenAlex 429: keyless access now capped at $0.10/day</a:t>
            </a:r>
            <a:endParaRPr lang="en-US" sz="1000" dirty="0"/>
          </a:p>
        </p:txBody>
      </p:sp>
      <p:sp>
        <p:nvSpPr>
          <p:cNvPr id="19" name="Text 17"/>
          <p:cNvSpPr txBox="1"/>
          <p:nvPr/>
        </p:nvSpPr>
        <p:spPr>
          <a:xfrm>
            <a:off x="5120640" y="3136392"/>
            <a:ext cx="3520440" cy="493776"/>
          </a:xfrm>
          <a:prstGeom prst="rect">
            <a:avLst/>
          </a:prstGeom>
          <a:noFill/>
          <a:ln/>
        </p:spPr>
        <p:txBody>
          <a:bodyPr wrap="square" lIns="0" tIns="0" rIns="0" bIns="0" rtlCol="0" anchor="t"/>
          <a:lstStyle/>
          <a:p>
            <a:pPr indent="0" marL="0">
              <a:buNone/>
            </a:pPr>
            <a:r>
              <a:rPr lang="en-US" sz="1000" dirty="0">
                <a:solidFill>
                  <a:srgbClr val="8A5A17"/>
                </a:solidFill>
                <a:latin typeface="Calibri" pitchFamily="34" charset="0"/>
                <a:ea typeface="Calibri" pitchFamily="34" charset="-122"/>
                <a:cs typeface="Calibri" pitchFamily="34" charset="-120"/>
              </a:rPr>
              <a:t>Free API key added to configuration; one shared retry policy for OpenAlex and Crossref</a:t>
            </a:r>
            <a:endParaRPr lang="en-US" sz="1000" dirty="0"/>
          </a:p>
        </p:txBody>
      </p:sp>
      <p:sp>
        <p:nvSpPr>
          <p:cNvPr id="20" name="Shape 18"/>
          <p:cNvSpPr/>
          <p:nvPr/>
        </p:nvSpPr>
        <p:spPr>
          <a:xfrm>
            <a:off x="457200" y="3657600"/>
            <a:ext cx="8229600" cy="548640"/>
          </a:xfrm>
          <a:prstGeom prst="rect">
            <a:avLst/>
          </a:prstGeom>
          <a:solidFill>
            <a:srgbClr val="F7F9F9"/>
          </a:solidFill>
          <a:ln w="12700">
            <a:solidFill>
              <a:srgbClr val="F7F9F9"/>
            </a:solidFill>
            <a:prstDash val="solid"/>
          </a:ln>
        </p:spPr>
      </p:sp>
      <p:sp>
        <p:nvSpPr>
          <p:cNvPr id="21" name="Text 19"/>
          <p:cNvSpPr txBox="1"/>
          <p:nvPr/>
        </p:nvSpPr>
        <p:spPr>
          <a:xfrm>
            <a:off x="502920" y="3685032"/>
            <a:ext cx="914400" cy="493776"/>
          </a:xfrm>
          <a:prstGeom prst="rect">
            <a:avLst/>
          </a:prstGeom>
          <a:noFill/>
          <a:ln/>
        </p:spPr>
        <p:txBody>
          <a:bodyPr wrap="square" lIns="0" tIns="0" rIns="0" bIns="0" rtlCol="0" anchor="t"/>
          <a:lstStyle/>
          <a:p>
            <a:pPr indent="0" marL="0">
              <a:buNone/>
            </a:pPr>
            <a:r>
              <a:rPr lang="en-US" sz="1000" b="1" dirty="0">
                <a:solidFill>
                  <a:srgbClr val="1F3A3D"/>
                </a:solidFill>
                <a:latin typeface="Calibri" pitchFamily="34" charset="0"/>
                <a:ea typeface="Calibri" pitchFamily="34" charset="-122"/>
                <a:cs typeface="Calibri" pitchFamily="34" charset="-120"/>
              </a:rPr>
              <a:t>23 Sept</a:t>
            </a:r>
            <a:endParaRPr lang="en-US" sz="1000" dirty="0"/>
          </a:p>
        </p:txBody>
      </p:sp>
      <p:sp>
        <p:nvSpPr>
          <p:cNvPr id="22" name="Text 20"/>
          <p:cNvSpPr txBox="1"/>
          <p:nvPr/>
        </p:nvSpPr>
        <p:spPr>
          <a:xfrm>
            <a:off x="1417320" y="3685032"/>
            <a:ext cx="3566160" cy="493776"/>
          </a:xfrm>
          <a:prstGeom prst="rect">
            <a:avLst/>
          </a:prstGeom>
          <a:noFill/>
          <a:ln/>
        </p:spPr>
        <p:txBody>
          <a:bodyPr wrap="square" lIns="0" tIns="0" rIns="0" bIns="0" rtlCol="0" anchor="t"/>
          <a:lstStyle/>
          <a:p>
            <a:pPr indent="0" marL="0">
              <a:buNone/>
            </a:pPr>
            <a:r>
              <a:rPr lang="en-US" sz="1000" dirty="0">
                <a:solidFill>
                  <a:srgbClr val="1F3A3D"/>
                </a:solidFill>
                <a:latin typeface="Calibri" pitchFamily="34" charset="0"/>
                <a:ea typeface="Calibri" pitchFamily="34" charset="-122"/>
                <a:cs typeface="Calibri" pitchFamily="34" charset="-120"/>
              </a:rPr>
              <a:t>The typo 'approv' was taken as feedback and re-planned</a:t>
            </a:r>
            <a:endParaRPr lang="en-US" sz="1000" dirty="0"/>
          </a:p>
        </p:txBody>
      </p:sp>
      <p:sp>
        <p:nvSpPr>
          <p:cNvPr id="23" name="Text 21"/>
          <p:cNvSpPr txBox="1"/>
          <p:nvPr/>
        </p:nvSpPr>
        <p:spPr>
          <a:xfrm>
            <a:off x="5120640" y="3685032"/>
            <a:ext cx="3520440" cy="493776"/>
          </a:xfrm>
          <a:prstGeom prst="rect">
            <a:avLst/>
          </a:prstGeom>
          <a:noFill/>
          <a:ln/>
        </p:spPr>
        <p:txBody>
          <a:bodyPr wrap="square" lIns="0" tIns="0" rIns="0" bIns="0" rtlCol="0" anchor="t"/>
          <a:lstStyle/>
          <a:p>
            <a:pPr indent="0" marL="0">
              <a:buNone/>
            </a:pPr>
            <a:r>
              <a:rPr lang="en-US" sz="1000" dirty="0">
                <a:solidFill>
                  <a:srgbClr val="8A5A17"/>
                </a:solidFill>
                <a:latin typeface="Calibri" pitchFamily="34" charset="0"/>
                <a:ea typeface="Calibri" pitchFamily="34" charset="-122"/>
                <a:cs typeface="Calibri" pitchFamily="34" charset="-120"/>
              </a:rPr>
              <a:t>Short unrecognised input is re-asked instead of sent to the planner</a:t>
            </a:r>
            <a:endParaRPr lang="en-US" sz="1000" dirty="0"/>
          </a:p>
        </p:txBody>
      </p:sp>
      <p:sp>
        <p:nvSpPr>
          <p:cNvPr id="24" name="Text 22"/>
          <p:cNvSpPr txBox="1"/>
          <p:nvPr/>
        </p:nvSpPr>
        <p:spPr>
          <a:xfrm>
            <a:off x="457200" y="4279392"/>
            <a:ext cx="8229600" cy="457200"/>
          </a:xfrm>
          <a:prstGeom prst="rect">
            <a:avLst/>
          </a:prstGeom>
          <a:noFill/>
          <a:ln/>
        </p:spPr>
        <p:txBody>
          <a:bodyPr wrap="square" lIns="0" tIns="0" rIns="0" bIns="0" rtlCol="0" anchor="t"/>
          <a:lstStyle/>
          <a:p>
            <a:pPr indent="0" marL="0">
              <a:buNone/>
            </a:pPr>
            <a:r>
              <a:rPr lang="en-US" sz="1050" i="1" dirty="0">
                <a:solidFill>
                  <a:srgbClr val="1F3A3D"/>
                </a:solidFill>
                <a:latin typeface="Calibri" pitchFamily="34" charset="0"/>
                <a:ea typeface="Calibri" pitchFamily="34" charset="-122"/>
                <a:cs typeface="Calibri" pitchFamily="34" charset="-120"/>
              </a:rPr>
              <a:t>None of these needed a rewrite: settings in one module and each service behind one small client kept the fixes small, and the second source was one new module. Commits start on 9 Sept, about one per stage, the tests growing from 5 to 68; a read-through on 1 Oct added ten more entries (remediation log #12-#21) and took the tests to 113; five live tests on 2 Oct ran the corrected code.</a:t>
            </a:r>
            <a:endParaRPr lang="en-US" sz="1050" dirty="0"/>
          </a:p>
        </p:txBody>
      </p:sp>
      <p:sp>
        <p:nvSpPr>
          <p:cNvPr id="25" name="Text 23"/>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5F6F70"/>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A3D"/>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Against the design, and honestly</a:t>
            </a:r>
            <a:endParaRPr lang="en-US" sz="3000" dirty="0"/>
          </a:p>
        </p:txBody>
      </p:sp>
      <p:sp>
        <p:nvSpPr>
          <p:cNvPr id="3" name="Text 1"/>
          <p:cNvSpPr txBox="1"/>
          <p:nvPr/>
        </p:nvSpPr>
        <p:spPr>
          <a:xfrm>
            <a:off x="457200" y="1143000"/>
            <a:ext cx="2651760" cy="365760"/>
          </a:xfrm>
          <a:prstGeom prst="rect">
            <a:avLst/>
          </a:prstGeom>
          <a:noFill/>
          <a:ln/>
        </p:spPr>
        <p:txBody>
          <a:bodyPr wrap="square" lIns="0" tIns="0" rIns="0" bIns="0" rtlCol="0" anchor="ctr"/>
          <a:lstStyle/>
          <a:p>
            <a:pPr indent="0" marL="0">
              <a:buNone/>
            </a:pPr>
            <a:r>
              <a:rPr lang="en-US" sz="1300" b="1" dirty="0">
                <a:solidFill>
                  <a:srgbClr val="D9963A"/>
                </a:solidFill>
                <a:latin typeface="Calibri" pitchFamily="34" charset="0"/>
                <a:ea typeface="Calibri" pitchFamily="34" charset="-122"/>
                <a:cs typeface="Calibri" pitchFamily="34" charset="-120"/>
              </a:rPr>
              <a:t>Matches the design</a:t>
            </a:r>
            <a:endParaRPr lang="en-US" sz="1300" dirty="0"/>
          </a:p>
        </p:txBody>
      </p:sp>
      <p:sp>
        <p:nvSpPr>
          <p:cNvPr id="4" name="Text 2"/>
          <p:cNvSpPr txBox="1"/>
          <p:nvPr/>
        </p:nvSpPr>
        <p:spPr>
          <a:xfrm>
            <a:off x="457200" y="1554480"/>
            <a:ext cx="2651760" cy="27432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Three agents, orchestrator, the data classes and Decision enum of Diagram 1 (field changes listed in the README)</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Both review points, both autonomy caps</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Crossref verification; flagged, never dropped</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Brief with notes, themes, gaps, limitations, references</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Departures: OpenAlex first, not Semantic Scholar; checks run per sub-question, with a second retry trigger after scoring; Crossref compares titles only; a second scope rejection is refused, not a stop; one test question until the last day, not a varied set used throughout</a:t>
            </a:r>
            <a:endParaRPr lang="en-US" sz="1000" dirty="0"/>
          </a:p>
        </p:txBody>
      </p:sp>
      <p:sp>
        <p:nvSpPr>
          <p:cNvPr id="5" name="Text 3"/>
          <p:cNvSpPr txBox="1"/>
          <p:nvPr/>
        </p:nvSpPr>
        <p:spPr>
          <a:xfrm>
            <a:off x="3246120" y="1143000"/>
            <a:ext cx="2651760" cy="365760"/>
          </a:xfrm>
          <a:prstGeom prst="rect">
            <a:avLst/>
          </a:prstGeom>
          <a:noFill/>
          <a:ln/>
        </p:spPr>
        <p:txBody>
          <a:bodyPr wrap="square" lIns="0" tIns="0" rIns="0" bIns="0" rtlCol="0" anchor="ctr"/>
          <a:lstStyle/>
          <a:p>
            <a:pPr indent="0" marL="0">
              <a:buNone/>
            </a:pPr>
            <a:r>
              <a:rPr lang="en-US" sz="1300" b="1" dirty="0">
                <a:solidFill>
                  <a:srgbClr val="D9963A"/>
                </a:solidFill>
                <a:latin typeface="Calibri" pitchFamily="34" charset="0"/>
                <a:ea typeface="Calibri" pitchFamily="34" charset="-122"/>
                <a:cs typeface="Calibri" pitchFamily="34" charset="-120"/>
              </a:rPr>
              <a:t>Changed after the feedback</a:t>
            </a:r>
            <a:endParaRPr lang="en-US" sz="1300" dirty="0"/>
          </a:p>
        </p:txBody>
      </p:sp>
      <p:sp>
        <p:nvSpPr>
          <p:cNvPr id="6" name="Text 4"/>
          <p:cNvSpPr txBox="1"/>
          <p:nvPr/>
        </p:nvSpPr>
        <p:spPr>
          <a:xfrm>
            <a:off x="3246120" y="1554480"/>
            <a:ext cx="2651760" cy="27432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Model choice justified from the provider's figures (Google, 2026b, 2026c, 2026d; Google DeepMind, 2026a): 1M-token context vs prompts of at most ~12k tokens, structured output (function calling is not used), 500 requests/day free, $0.30 per M input tokens, benchmarks - none of which measures abstract screening</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Targets and datasets stated: precision ≥ 0.8 on a gold set, recall ≥ 0.6 against a published review's list - neither built yet, so not measured; de-duplication missed (4 pairs in 77); one run checked by a second model: κ 0.65, agreement, not precision</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Built: two sources for every search, automatic failover; 77 → 117 unique papers on the same plan and model</a:t>
            </a:r>
            <a:endParaRPr lang="en-US" sz="1000" dirty="0"/>
          </a:p>
        </p:txBody>
      </p:sp>
      <p:sp>
        <p:nvSpPr>
          <p:cNvPr id="7" name="Text 5"/>
          <p:cNvSpPr txBox="1"/>
          <p:nvPr/>
        </p:nvSpPr>
        <p:spPr>
          <a:xfrm>
            <a:off x="6035040" y="1143000"/>
            <a:ext cx="2651760" cy="365760"/>
          </a:xfrm>
          <a:prstGeom prst="rect">
            <a:avLst/>
          </a:prstGeom>
          <a:noFill/>
          <a:ln/>
        </p:spPr>
        <p:txBody>
          <a:bodyPr wrap="square" lIns="0" tIns="0" rIns="0" bIns="0" rtlCol="0" anchor="ctr"/>
          <a:lstStyle/>
          <a:p>
            <a:pPr indent="0" marL="0">
              <a:buNone/>
            </a:pPr>
            <a:r>
              <a:rPr lang="en-US" sz="1300" b="1" dirty="0">
                <a:solidFill>
                  <a:srgbClr val="D9963A"/>
                </a:solidFill>
                <a:latin typeface="Calibri" pitchFamily="34" charset="0"/>
                <a:ea typeface="Calibri" pitchFamily="34" charset="-122"/>
                <a:cs typeface="Calibri" pitchFamily="34" charset="-120"/>
              </a:rPr>
              <a:t>Limits and next steps</a:t>
            </a:r>
            <a:endParaRPr lang="en-US" sz="1300" dirty="0"/>
          </a:p>
        </p:txBody>
      </p:sp>
      <p:sp>
        <p:nvSpPr>
          <p:cNvPr id="8" name="Text 6"/>
          <p:cNvSpPr txBox="1"/>
          <p:nvPr/>
        </p:nvSpPr>
        <p:spPr>
          <a:xfrm>
            <a:off x="6035040" y="1554480"/>
            <a:ext cx="2651760" cy="2743200"/>
          </a:xfrm>
          <a:prstGeom prst="rect">
            <a:avLst/>
          </a:prstGeom>
          <a:noFill/>
          <a:ln/>
        </p:spPr>
        <p:txBody>
          <a:bodyPr wrap="square" lIns="0" tIns="0" rIns="0" bIns="0" rtlCol="0" anchor="t"/>
          <a:lstStyle/>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Abstracts only, 20 per query per source</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Lite kept 42 of 77 papers, Flash 26 of 78 (each on its own plan) - calibrate the cut-off per model</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A paper under two DOIs is not merged; Semantic Scholar's keyless pool refused 3 of 5 searches on 30 Sept and all 16 live ones on 2 Oct</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One research question during development; three more run once each on 2 Oct, their briefs not judged</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Free-tier prompts may be used by the provider: a confidential question needs a paid key</a:t>
            </a:r>
            <a:endParaRPr lang="en-US" sz="1000" dirty="0"/>
          </a:p>
          <a:p>
            <a:pPr marL="342900" indent="-342900">
              <a:spcAft>
                <a:spcPts val="600"/>
              </a:spcAft>
              <a:buSzPct val="100000"/>
              <a:buChar char="•"/>
            </a:pPr>
            <a:r>
              <a:rPr lang="en-US" sz="1000" dirty="0">
                <a:solidFill>
                  <a:srgbClr val="FFFFFF"/>
                </a:solidFill>
                <a:latin typeface="Calibri" pitchFamily="34" charset="0"/>
                <a:ea typeface="Calibri" pitchFamily="34" charset="-122"/>
                <a:cs typeface="Calibri" pitchFamily="34" charset="-120"/>
              </a:rPr>
              <a:t>Next: DataCite lookup, the gold set, full text where open</a:t>
            </a:r>
            <a:endParaRPr lang="en-US" sz="1000" dirty="0"/>
          </a:p>
        </p:txBody>
      </p:sp>
      <p:sp>
        <p:nvSpPr>
          <p:cNvPr id="9" name="Text 7"/>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100" dirty="0">
                <a:solidFill>
                  <a:srgbClr val="CFE0DD"/>
                </a:solidFill>
                <a:latin typeface="Courier New" pitchFamily="34" charset="0"/>
                <a:ea typeface="Courier New" pitchFamily="34" charset="-122"/>
                <a:cs typeface="Courier New" pitchFamily="34" charset="-120"/>
              </a:rPr>
              <a:t>github.com/sergio88mi/research-agent  ·  README: setup, keys, how to run, references</a:t>
            </a:r>
            <a:endParaRPr lang="en-US" sz="1100" dirty="0"/>
          </a:p>
        </p:txBody>
      </p:sp>
      <p:sp>
        <p:nvSpPr>
          <p:cNvPr id="10" name="Text 8"/>
          <p:cNvSpPr txBox="1"/>
          <p:nvPr/>
        </p:nvSpPr>
        <p:spPr>
          <a:xfrm>
            <a:off x="8138160" y="4754880"/>
            <a:ext cx="640080" cy="274320"/>
          </a:xfrm>
          <a:prstGeom prst="rect">
            <a:avLst/>
          </a:prstGeom>
          <a:noFill/>
          <a:ln/>
        </p:spPr>
        <p:txBody>
          <a:bodyPr wrap="square" lIns="0" tIns="0" rIns="0" bIns="0" rtlCol="0" anchor="ctr"/>
          <a:lstStyle/>
          <a:p>
            <a:pPr algn="r" indent="0" marL="0">
              <a:buNone/>
            </a:pPr>
            <a:r>
              <a:rPr lang="en-US" sz="900" dirty="0">
                <a:solidFill>
                  <a:srgbClr val="CFE0DD"/>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Agent - an LLM-powered planning agent for academic literature search</dc:title>
  <dc:subject>PptxGenJS Presentation</dc:subject>
  <dc:creator>Sergei Misjura</dc:creator>
  <cp:lastModifiedBy>Sergei Misjura</cp:lastModifiedBy>
  <cp:revision>1</cp:revision>
  <dcterms:created xsi:type="dcterms:W3CDTF">2026-09-30T09:20:16Z</dcterms:created>
  <dcterms:modified xsi:type="dcterms:W3CDTF">2026-09-30T09:20:16Z</dcterms:modified>
</cp:coreProperties>
</file>